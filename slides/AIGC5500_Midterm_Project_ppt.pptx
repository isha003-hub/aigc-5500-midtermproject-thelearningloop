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42" d="100"/>
          <a:sy n="42" d="100"/>
        </p:scale>
        <p:origin x="78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4873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Isha opens. We compared three modern optimizers — Adam, AdamW and RMSprop — on the same fixed network and the KMNIST dataset. Introduce the four of us and who owns which optimizer.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Isha. The motivation: leaving an optimizer at its defaults is one of the most common causes of poor model performance. We hold the data and the network fixed so every difference we see is the optimizer's doing.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Isha. KMNIST is Kuzushiji-MNIST: 70,000 grayscale images of 10 cursive Japanese hiragana. It's a drop-in for MNIST but harder — the cursive class boundaries overlap, so it's a more honest test of an optimizer.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Isha. One fixed feedforward network for all three optimizers — 784 inputs, two ReLU hidden layers of 128 and 64, ten outputs, cross-entropy loss. We never touch the architecture, so every difference in results is attributable to the optimizer and its hyperparameters.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Isha hands off to the team. Here are the three contenders and what each of us investigated. All three adapt the learning rate per parameter, but they differ in how — and AdamW adds decoupled weight decay on top.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Ruchi. Adam keeps a running estimate of both the gradient's momentum and its variance, giving every parameter its own adaptive step. I varied learning rate and beta-1. Training was stable; moderate learning rates worked best and 0.01 got shaky. My best config landed at 88.69% test accuracy — a strong, reliable baseline, though the train accuracy of 99.5% shows some overfitting.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Krutik. RMSprop scales each step by a running average of squared gradients, set by the decay factor alpha, so updates can't blow up. I varied alpha and learning rate. It converged the fastest of the three and was very stable — but sensitive to learning rate: my best result, 89.76%, came at lr 0.001, well below the 0.01 default.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Dilkhush. AdamW decouples weight decay from the adaptive step, so regularization isn't distorted by the per-parameter scaling the way Adam's L2 is. I varied weight decay and learning rate. With weight decay 0.01 and lr 0.001 it reached 90.15% — the best test accuracy and the smallest train-test gap. A very high learning rate of 0.1 fails outright.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Isha. To keep the comparison fair, every optimizer ran the same protocol: at least four hyperparameter configurations with learning rate spanning two orders of magnitude, 5-fold cross-validation to pick the best config by mean validation accuracy, then a final 20-epoch run on the full training set evaluated on the held-out test set. Same seed, same batch size, same network throughout.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Isha. Here is the head-to-head on the best configuration of each optimizer. AdamW takes the top test accuracy at 90.15% and the smallest generalization gap. RMSprop is a close second and the fastest to converge. Adam is the reliable baseline. Notice the best learning rate is 0.001 for all three.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Krutik. Final test accuracy side by side. All three cluster near 90%, which tells us the optimizer choice matters at the margin here — but that margin is real: AdamW's 90.15% beats Adam's 88.69% by almost a point and a half. Note the vertical axis starts at 80% so you can actually see the spread.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Krutik. Per-epoch curves on the best configuration of each optimizer. On the left, test accuracy: RMSprop and AdamW climb fastest, AdamW finishing highest. On the right, test loss: Adam and RMSprop bottom out then creep back up — that upturn is overfitting — while AdamW stays flat, which is exactly what its weight decay is designed to do.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Dilkhush. The generalization gap is train accuracy minus test accuracy — how much the model memorized rather than learned. Adam has the widest gap at almost 11 points; AdamW the narrowest at 8. That's the decoupled weight decay doing its job: it penalizes large weights cleanly, so AdamW leans less on memorizing the training set. The other lesson cuts across all three — learning rate was the single biggest lever, far more than any default.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Dilkhush. Beyond KMNIST: reach for Adam as a fast, low-fuss default and for prototyping. Use RMSprop when training speed matters or for noisy, non-stationary problems like RNNs. Choose AdamW when generalization is the priority — it's the modern default for large models and fine-tuning, and it was our pick here.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Isha. We're honest about the limits. One dataset, one simple feedforward network with no convolution — so accuracy is capped — a small four-config search, a single seed, and no learning-rate scheduler. Future work would move to CIFAR and convolutional networks, widen the search, add schedules, and average over multiple seeds to measure variance.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Isha. To wrap up: all three optimizers trained the network successfully. AdamW won on KMNIST with 90.15% and the smallest gap, thanks to decoupled weight decay. RMSprop was fastest, Adam the most robust baseline. And the headline lesson — learning rate, tuned by cross-validation, mattered more than any optimizer's defaults.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states their contribution. Isha merged the three optimizer sections into one shared pipeline and wrote the documentation and comparison. References follow APA, as required.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we're happy to take questions. Reproducibility: seed 42, 20 epochs, 5-fold cross-validation; full code and the report are in the GitHub repository.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6824961" y="0"/>
            <a:ext cx="796290" cy="10325101"/>
          </a:xfrm>
          <a:prstGeom prst="rect">
            <a:avLst/>
          </a:prstGeom>
          <a:noFill/>
          <a:ln/>
        </p:spPr>
        <p:txBody>
          <a:bodyPr vert="eaVert" wrap="square" lIns="25400" tIns="25400" rIns="25400" bIns="25400" rtlCol="0" anchor="ctr">
            <a:normAutofit/>
          </a:bodyPr>
          <a:lstStyle/>
          <a:p>
            <a:pPr marL="0" indent="0" algn="l">
              <a:lnSpc>
                <a:spcPct val="108000"/>
              </a:lnSpc>
              <a:buNone/>
            </a:pPr>
            <a:r>
              <a:rPr lang="en-US" sz="5250" kern="0" spc="210" dirty="0">
                <a:solidFill>
                  <a:srgbClr val="201D18">
                    <a:alpha val="5000"/>
                  </a:srgbClr>
                </a:solidFill>
                <a:latin typeface="Georgia" pitchFamily="34" charset="0"/>
                <a:ea typeface="Georgia" pitchFamily="34" charset="-122"/>
                <a:cs typeface="Georgia" pitchFamily="34" charset="-120"/>
              </a:rPr>
              <a:t>おきすつなはまやれを</a:t>
            </a:r>
            <a:endParaRPr lang="en-US" sz="5250" dirty="0"/>
          </a:p>
        </p:txBody>
      </p:sp>
      <p:sp>
        <p:nvSpPr>
          <p:cNvPr id="3" name="Text 1"/>
          <p:cNvSpPr/>
          <p:nvPr/>
        </p:nvSpPr>
        <p:spPr>
          <a:xfrm>
            <a:off x="1028700" y="800100"/>
            <a:ext cx="6839713"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AIGC 5500 · ADVANCED DEEP LEARNING</a:t>
            </a:r>
            <a:endParaRPr lang="en-US" sz="1800" dirty="0"/>
          </a:p>
        </p:txBody>
      </p:sp>
      <p:sp>
        <p:nvSpPr>
          <p:cNvPr id="4" name="Shape 2"/>
          <p:cNvSpPr/>
          <p:nvPr/>
        </p:nvSpPr>
        <p:spPr>
          <a:xfrm>
            <a:off x="16230601" y="800100"/>
            <a:ext cx="1028700" cy="1028700"/>
          </a:xfrm>
          <a:prstGeom prst="roundRect">
            <a:avLst>
              <a:gd name="adj" fmla="val 4630"/>
            </a:avLst>
          </a:prstGeom>
          <a:solidFill>
            <a:srgbClr val="BD3B25"/>
          </a:solidFill>
          <a:ln/>
        </p:spPr>
        <p:txBody>
          <a:bodyPr/>
          <a:lstStyle/>
          <a:p>
            <a:endParaRPr lang="en-CA"/>
          </a:p>
        </p:txBody>
      </p:sp>
      <p:sp>
        <p:nvSpPr>
          <p:cNvPr id="5" name="Text 3"/>
          <p:cNvSpPr/>
          <p:nvPr/>
        </p:nvSpPr>
        <p:spPr>
          <a:xfrm>
            <a:off x="16192501" y="800100"/>
            <a:ext cx="1104900" cy="1066800"/>
          </a:xfrm>
          <a:prstGeom prst="rect">
            <a:avLst/>
          </a:prstGeom>
          <a:noFill/>
          <a:ln/>
        </p:spPr>
        <p:txBody>
          <a:bodyPr vert="eaVert" wrap="square" lIns="25400" tIns="25400" rIns="25400" bIns="25400" rtlCol="0" anchor="ctr">
            <a:normAutofit/>
          </a:bodyPr>
          <a:lstStyle/>
          <a:p>
            <a:pPr marL="0" indent="0" algn="ctr">
              <a:buNone/>
            </a:pPr>
            <a:r>
              <a:rPr lang="en-US" sz="2475" b="1" kern="0" spc="297" dirty="0">
                <a:solidFill>
                  <a:srgbClr val="F4F1EA"/>
                </a:solidFill>
                <a:latin typeface="Georgia" pitchFamily="34" charset="0"/>
                <a:ea typeface="Georgia" pitchFamily="34" charset="-122"/>
                <a:cs typeface="Georgia" pitchFamily="34" charset="-120"/>
              </a:rPr>
              <a:t>最適化</a:t>
            </a:r>
            <a:endParaRPr lang="en-US" sz="2475" dirty="0"/>
          </a:p>
        </p:txBody>
      </p:sp>
      <p:sp>
        <p:nvSpPr>
          <p:cNvPr id="6" name="Text 4"/>
          <p:cNvSpPr/>
          <p:nvPr/>
        </p:nvSpPr>
        <p:spPr>
          <a:xfrm>
            <a:off x="1028700" y="2997476"/>
            <a:ext cx="13830301" cy="332298"/>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9A9183"/>
                </a:solidFill>
                <a:latin typeface="Courier New" pitchFamily="34" charset="0"/>
                <a:ea typeface="Courier New" pitchFamily="34" charset="-122"/>
                <a:cs typeface="Courier New" pitchFamily="34" charset="-120"/>
              </a:rPr>
              <a:t>MIDTERM PROJECT</a:t>
            </a:r>
            <a:endParaRPr lang="en-US" sz="1800" dirty="0"/>
          </a:p>
        </p:txBody>
      </p:sp>
      <p:sp>
        <p:nvSpPr>
          <p:cNvPr id="7" name="Text 5"/>
          <p:cNvSpPr/>
          <p:nvPr/>
        </p:nvSpPr>
        <p:spPr>
          <a:xfrm>
            <a:off x="1028700" y="3539283"/>
            <a:ext cx="12950191" cy="1903426"/>
          </a:xfrm>
          <a:prstGeom prst="rect">
            <a:avLst/>
          </a:prstGeom>
          <a:noFill/>
          <a:ln/>
        </p:spPr>
        <p:txBody>
          <a:bodyPr wrap="square" lIns="25400" tIns="25400" rIns="25400" bIns="25400" rtlCol="0" anchor="t">
            <a:normAutofit/>
          </a:bodyPr>
          <a:lstStyle/>
          <a:p>
            <a:pPr marL="0" indent="0" algn="l">
              <a:lnSpc>
                <a:spcPct val="102000"/>
              </a:lnSpc>
              <a:buNone/>
            </a:pPr>
            <a:r>
              <a:rPr lang="en-US" sz="7200" b="1" kern="0" spc="-108" dirty="0">
                <a:solidFill>
                  <a:srgbClr val="201D18"/>
                </a:solidFill>
                <a:latin typeface="Georgia" pitchFamily="34" charset="0"/>
                <a:ea typeface="Georgia" pitchFamily="34" charset="-122"/>
                <a:cs typeface="Georgia" pitchFamily="34" charset="-120"/>
              </a:rPr>
              <a:t>Deep Learning Optimizers</a:t>
            </a:r>
            <a:endParaRPr lang="en-US" sz="7200" dirty="0"/>
          </a:p>
        </p:txBody>
      </p:sp>
      <p:sp>
        <p:nvSpPr>
          <p:cNvPr id="8" name="Shape 6"/>
          <p:cNvSpPr/>
          <p:nvPr/>
        </p:nvSpPr>
        <p:spPr>
          <a:xfrm>
            <a:off x="1028700" y="5766518"/>
            <a:ext cx="914400" cy="47584"/>
          </a:xfrm>
          <a:prstGeom prst="rect">
            <a:avLst/>
          </a:prstGeom>
          <a:solidFill>
            <a:srgbClr val="BD3B25"/>
          </a:solidFill>
          <a:ln/>
        </p:spPr>
        <p:txBody>
          <a:bodyPr/>
          <a:lstStyle/>
          <a:p>
            <a:endParaRPr lang="en-CA"/>
          </a:p>
        </p:txBody>
      </p:sp>
      <p:sp>
        <p:nvSpPr>
          <p:cNvPr id="9" name="Text 7"/>
          <p:cNvSpPr/>
          <p:nvPr/>
        </p:nvSpPr>
        <p:spPr>
          <a:xfrm>
            <a:off x="1028700" y="6099852"/>
            <a:ext cx="13830301" cy="533441"/>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3000" dirty="0">
                <a:solidFill>
                  <a:srgbClr val="5C564C"/>
                </a:solidFill>
                <a:latin typeface="Georgia" pitchFamily="34" charset="0"/>
                <a:ea typeface="Georgia" pitchFamily="34" charset="-122"/>
                <a:cs typeface="Georgia" pitchFamily="34" charset="-120"/>
              </a:rPr>
              <a:t>Comparing </a:t>
            </a:r>
            <a:r>
              <a:rPr lang="en-US" sz="3000" dirty="0">
                <a:solidFill>
                  <a:srgbClr val="2F5FA8"/>
                </a:solidFill>
                <a:latin typeface="Georgia" pitchFamily="34" charset="0"/>
                <a:ea typeface="Georgia" pitchFamily="34" charset="-122"/>
                <a:cs typeface="Georgia" pitchFamily="34" charset="-120"/>
              </a:rPr>
              <a:t>Adam</a:t>
            </a:r>
            <a:r>
              <a:rPr lang="en-US" sz="3000" dirty="0">
                <a:solidFill>
                  <a:srgbClr val="5C564C"/>
                </a:solidFill>
                <a:latin typeface="Georgia" pitchFamily="34" charset="0"/>
                <a:ea typeface="Georgia" pitchFamily="34" charset="-122"/>
                <a:cs typeface="Georgia" pitchFamily="34" charset="-120"/>
              </a:rPr>
              <a:t>, </a:t>
            </a:r>
            <a:r>
              <a:rPr lang="en-US" sz="3000" dirty="0">
                <a:solidFill>
                  <a:srgbClr val="BD3B25"/>
                </a:solidFill>
                <a:latin typeface="Georgia" pitchFamily="34" charset="0"/>
                <a:ea typeface="Georgia" pitchFamily="34" charset="-122"/>
                <a:cs typeface="Georgia" pitchFamily="34" charset="-120"/>
              </a:rPr>
              <a:t>AdamW </a:t>
            </a:r>
            <a:r>
              <a:rPr lang="en-US" sz="3000" dirty="0">
                <a:solidFill>
                  <a:srgbClr val="5C564C"/>
                </a:solidFill>
                <a:latin typeface="Georgia" pitchFamily="34" charset="0"/>
                <a:ea typeface="Georgia" pitchFamily="34" charset="-122"/>
                <a:cs typeface="Georgia" pitchFamily="34" charset="-120"/>
              </a:rPr>
              <a:t>&amp; </a:t>
            </a:r>
            <a:r>
              <a:rPr lang="en-US" sz="3000" dirty="0">
                <a:solidFill>
                  <a:srgbClr val="1F7A5C"/>
                </a:solidFill>
                <a:latin typeface="Georgia" pitchFamily="34" charset="0"/>
                <a:ea typeface="Georgia" pitchFamily="34" charset="-122"/>
                <a:cs typeface="Georgia" pitchFamily="34" charset="-120"/>
              </a:rPr>
              <a:t>RMSprop </a:t>
            </a:r>
            <a:r>
              <a:rPr lang="en-US" sz="3000" dirty="0">
                <a:solidFill>
                  <a:srgbClr val="5C564C"/>
                </a:solidFill>
                <a:latin typeface="Georgia" pitchFamily="34" charset="0"/>
                <a:ea typeface="Georgia" pitchFamily="34" charset="-122"/>
                <a:cs typeface="Georgia" pitchFamily="34" charset="-120"/>
              </a:rPr>
              <a:t>on the KMNIST dataset</a:t>
            </a:r>
            <a:endParaRPr lang="en-US" sz="3000" dirty="0"/>
          </a:p>
        </p:txBody>
      </p:sp>
      <p:sp>
        <p:nvSpPr>
          <p:cNvPr id="10" name="Shape 8"/>
          <p:cNvSpPr/>
          <p:nvPr/>
        </p:nvSpPr>
        <p:spPr>
          <a:xfrm>
            <a:off x="1028700" y="9013425"/>
            <a:ext cx="16230601" cy="9525"/>
          </a:xfrm>
          <a:prstGeom prst="rect">
            <a:avLst/>
          </a:prstGeom>
          <a:solidFill>
            <a:srgbClr val="201D18">
              <a:alpha val="16000"/>
            </a:srgbClr>
          </a:solidFill>
          <a:ln/>
        </p:spPr>
        <p:txBody>
          <a:bodyPr/>
          <a:lstStyle/>
          <a:p>
            <a:endParaRPr lang="en-CA"/>
          </a:p>
        </p:txBody>
      </p:sp>
      <p:sp>
        <p:nvSpPr>
          <p:cNvPr id="11" name="Text 9"/>
          <p:cNvSpPr/>
          <p:nvPr/>
        </p:nvSpPr>
        <p:spPr>
          <a:xfrm>
            <a:off x="1028700" y="9268985"/>
            <a:ext cx="1504523" cy="332298"/>
          </a:xfrm>
          <a:prstGeom prst="rect">
            <a:avLst/>
          </a:prstGeom>
          <a:noFill/>
          <a:ln/>
        </p:spPr>
        <p:txBody>
          <a:bodyPr wrap="square" lIns="25400" tIns="25400" rIns="25400" bIns="25400" rtlCol="0" anchor="t">
            <a:normAutofit/>
          </a:bodyPr>
          <a:lstStyle/>
          <a:p>
            <a:pPr marL="0" indent="0" algn="l">
              <a:buNone/>
            </a:pPr>
            <a:r>
              <a:rPr lang="en-US" sz="1800" b="1" dirty="0">
                <a:solidFill>
                  <a:srgbClr val="201D18"/>
                </a:solidFill>
                <a:latin typeface="Arial" pitchFamily="34" charset="0"/>
                <a:ea typeface="Arial" pitchFamily="34" charset="-122"/>
                <a:cs typeface="Arial" pitchFamily="34" charset="-120"/>
              </a:rPr>
              <a:t>Ruchi </a:t>
            </a:r>
            <a:r>
              <a:rPr lang="en-US" sz="1800" dirty="0">
                <a:solidFill>
                  <a:srgbClr val="5C564C"/>
                </a:solidFill>
                <a:latin typeface="Arial" pitchFamily="34" charset="0"/>
                <a:ea typeface="Arial" pitchFamily="34" charset="-122"/>
                <a:cs typeface="Arial" pitchFamily="34" charset="-120"/>
              </a:rPr>
              <a:t>· Adam</a:t>
            </a:r>
            <a:endParaRPr lang="en-US" sz="1800" dirty="0"/>
          </a:p>
        </p:txBody>
      </p:sp>
      <p:sp>
        <p:nvSpPr>
          <p:cNvPr id="12" name="Text 10"/>
          <p:cNvSpPr/>
          <p:nvPr/>
        </p:nvSpPr>
        <p:spPr>
          <a:xfrm>
            <a:off x="2777366" y="9268985"/>
            <a:ext cx="2045026" cy="332298"/>
          </a:xfrm>
          <a:prstGeom prst="rect">
            <a:avLst/>
          </a:prstGeom>
          <a:noFill/>
          <a:ln/>
        </p:spPr>
        <p:txBody>
          <a:bodyPr wrap="square" lIns="25400" tIns="25400" rIns="25400" bIns="25400" rtlCol="0" anchor="t">
            <a:normAutofit/>
          </a:bodyPr>
          <a:lstStyle/>
          <a:p>
            <a:pPr marL="0" indent="0" algn="l">
              <a:buNone/>
            </a:pPr>
            <a:r>
              <a:rPr lang="en-US" sz="1800" b="1" dirty="0">
                <a:solidFill>
                  <a:srgbClr val="201D18"/>
                </a:solidFill>
                <a:latin typeface="Arial" pitchFamily="34" charset="0"/>
                <a:ea typeface="Arial" pitchFamily="34" charset="-122"/>
                <a:cs typeface="Arial" pitchFamily="34" charset="-120"/>
              </a:rPr>
              <a:t>Dilkhush </a:t>
            </a:r>
            <a:r>
              <a:rPr lang="en-US" sz="1800" dirty="0">
                <a:solidFill>
                  <a:srgbClr val="5C564C"/>
                </a:solidFill>
                <a:latin typeface="Arial" pitchFamily="34" charset="0"/>
                <a:ea typeface="Arial" pitchFamily="34" charset="-122"/>
                <a:cs typeface="Arial" pitchFamily="34" charset="-120"/>
              </a:rPr>
              <a:t>· AdamW</a:t>
            </a:r>
            <a:endParaRPr lang="en-US" sz="1800" dirty="0"/>
          </a:p>
        </p:txBody>
      </p:sp>
      <p:sp>
        <p:nvSpPr>
          <p:cNvPr id="13" name="Text 11"/>
          <p:cNvSpPr/>
          <p:nvPr/>
        </p:nvSpPr>
        <p:spPr>
          <a:xfrm>
            <a:off x="5017398" y="9268985"/>
            <a:ext cx="1878297" cy="332298"/>
          </a:xfrm>
          <a:prstGeom prst="rect">
            <a:avLst/>
          </a:prstGeom>
          <a:noFill/>
          <a:ln/>
        </p:spPr>
        <p:txBody>
          <a:bodyPr wrap="square" lIns="25400" tIns="25400" rIns="25400" bIns="25400" rtlCol="0" anchor="t">
            <a:normAutofit/>
          </a:bodyPr>
          <a:lstStyle/>
          <a:p>
            <a:pPr marL="0" indent="0" algn="l">
              <a:buNone/>
            </a:pPr>
            <a:r>
              <a:rPr lang="en-US" sz="1800" b="1" dirty="0" err="1">
                <a:solidFill>
                  <a:srgbClr val="201D18"/>
                </a:solidFill>
                <a:latin typeface="Arial" pitchFamily="34" charset="0"/>
                <a:ea typeface="Arial" pitchFamily="34" charset="-122"/>
                <a:cs typeface="Arial" pitchFamily="34" charset="-120"/>
              </a:rPr>
              <a:t>Krutik</a:t>
            </a:r>
            <a:r>
              <a:rPr lang="en-US" sz="1800" b="1" dirty="0">
                <a:solidFill>
                  <a:srgbClr val="201D18"/>
                </a:solidFill>
                <a:latin typeface="Arial" pitchFamily="34" charset="0"/>
                <a:ea typeface="Arial" pitchFamily="34" charset="-122"/>
                <a:cs typeface="Arial" pitchFamily="34" charset="-120"/>
              </a:rPr>
              <a:t> </a:t>
            </a:r>
            <a:r>
              <a:rPr lang="en-US" sz="1800" dirty="0">
                <a:solidFill>
                  <a:srgbClr val="5C564C"/>
                </a:solidFill>
                <a:latin typeface="Arial" pitchFamily="34" charset="0"/>
                <a:ea typeface="Arial" pitchFamily="34" charset="-122"/>
                <a:cs typeface="Arial" pitchFamily="34" charset="-120"/>
              </a:rPr>
              <a:t>·RMSprop</a:t>
            </a:r>
            <a:endParaRPr lang="en-US" sz="1800" dirty="0"/>
          </a:p>
        </p:txBody>
      </p:sp>
      <p:sp>
        <p:nvSpPr>
          <p:cNvPr id="14" name="Text 12"/>
          <p:cNvSpPr/>
          <p:nvPr/>
        </p:nvSpPr>
        <p:spPr>
          <a:xfrm>
            <a:off x="7105858" y="9268985"/>
            <a:ext cx="1183171" cy="332298"/>
          </a:xfrm>
          <a:prstGeom prst="rect">
            <a:avLst/>
          </a:prstGeom>
          <a:noFill/>
          <a:ln/>
        </p:spPr>
        <p:txBody>
          <a:bodyPr wrap="square" lIns="25400" tIns="25400" rIns="25400" bIns="25400" rtlCol="0" anchor="t">
            <a:normAutofit/>
          </a:bodyPr>
          <a:lstStyle/>
          <a:p>
            <a:pPr marL="0" indent="0" algn="l">
              <a:buNone/>
            </a:pPr>
            <a:r>
              <a:rPr lang="en-US" sz="1800" b="1" dirty="0">
                <a:solidFill>
                  <a:srgbClr val="201D18"/>
                </a:solidFill>
                <a:latin typeface="Arial" pitchFamily="34" charset="0"/>
                <a:ea typeface="Arial" pitchFamily="34" charset="-122"/>
                <a:cs typeface="Arial" pitchFamily="34" charset="-120"/>
              </a:rPr>
              <a:t>Isha </a:t>
            </a:r>
            <a:r>
              <a:rPr lang="en-US" sz="1800" dirty="0">
                <a:solidFill>
                  <a:srgbClr val="5C564C"/>
                </a:solidFill>
                <a:latin typeface="Arial" pitchFamily="34" charset="0"/>
                <a:ea typeface="Arial" pitchFamily="34" charset="-122"/>
                <a:cs typeface="Arial" pitchFamily="34" charset="-120"/>
              </a:rPr>
              <a:t>·Lead</a:t>
            </a:r>
            <a:endParaRPr lang="en-US" sz="1800" dirty="0"/>
          </a:p>
        </p:txBody>
      </p:sp>
      <p:sp>
        <p:nvSpPr>
          <p:cNvPr id="15" name="Text 13"/>
          <p:cNvSpPr/>
          <p:nvPr/>
        </p:nvSpPr>
        <p:spPr>
          <a:xfrm>
            <a:off x="11375136" y="9268985"/>
            <a:ext cx="5884164" cy="332298"/>
          </a:xfrm>
          <a:prstGeom prst="rect">
            <a:avLst/>
          </a:prstGeom>
          <a:noFill/>
          <a:ln/>
        </p:spPr>
        <p:txBody>
          <a:bodyPr wrap="square" lIns="25400" tIns="25400" rIns="25400" bIns="25400" rtlCol="0" anchor="t">
            <a:normAutofit/>
          </a:bodyPr>
          <a:lstStyle/>
          <a:p>
            <a:pPr marL="0" indent="0" algn="r">
              <a:buNone/>
            </a:pPr>
            <a:r>
              <a:rPr lang="en-US" sz="1800" dirty="0">
                <a:solidFill>
                  <a:srgbClr val="9A9183"/>
                </a:solidFill>
                <a:latin typeface="Courier New" pitchFamily="34" charset="0"/>
                <a:ea typeface="Courier New" pitchFamily="34" charset="-122"/>
                <a:cs typeface="Courier New" pitchFamily="34" charset="-120"/>
              </a:rPr>
              <a:t>Faculty of Applied Science &amp; Technology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2450741"/>
            <a:ext cx="9375905"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MOTIVATION</a:t>
            </a:r>
            <a:endParaRPr lang="en-US" sz="1800" dirty="0"/>
          </a:p>
        </p:txBody>
      </p:sp>
      <p:sp>
        <p:nvSpPr>
          <p:cNvPr id="3" name="Text 1"/>
          <p:cNvSpPr/>
          <p:nvPr/>
        </p:nvSpPr>
        <p:spPr>
          <a:xfrm>
            <a:off x="1028700" y="3030689"/>
            <a:ext cx="9375905" cy="778068"/>
          </a:xfrm>
          <a:prstGeom prst="rect">
            <a:avLst/>
          </a:prstGeom>
          <a:noFill/>
          <a:ln/>
        </p:spPr>
        <p:txBody>
          <a:bodyPr wrap="square" lIns="25400" tIns="25400" rIns="25400" bIns="25400" rtlCol="0" anchor="t">
            <a:normAutofit/>
          </a:bodyPr>
          <a:lstStyle/>
          <a:p>
            <a:pPr marL="0" indent="0" algn="l">
              <a:lnSpc>
                <a:spcPct val="105000"/>
              </a:lnSpc>
              <a:buNone/>
            </a:pPr>
            <a:r>
              <a:rPr lang="en-US" sz="5550" b="1" kern="0" spc="-55" dirty="0">
                <a:solidFill>
                  <a:srgbClr val="201D18"/>
                </a:solidFill>
                <a:latin typeface="Georgia" pitchFamily="34" charset="0"/>
                <a:ea typeface="Georgia" pitchFamily="34" charset="-122"/>
                <a:cs typeface="Georgia" pitchFamily="34" charset="-120"/>
              </a:rPr>
              <a:t>Why optimizers matter</a:t>
            </a:r>
            <a:endParaRPr lang="en-US" sz="5550" dirty="0"/>
          </a:p>
        </p:txBody>
      </p:sp>
      <p:sp>
        <p:nvSpPr>
          <p:cNvPr id="4" name="Text 2"/>
          <p:cNvSpPr/>
          <p:nvPr/>
        </p:nvSpPr>
        <p:spPr>
          <a:xfrm>
            <a:off x="1028700" y="4094425"/>
            <a:ext cx="7456085" cy="1384852"/>
          </a:xfrm>
          <a:prstGeom prst="rect">
            <a:avLst/>
          </a:prstGeom>
          <a:noFill/>
          <a:ln/>
        </p:spPr>
        <p:txBody>
          <a:bodyPr wrap="square" lIns="25400" tIns="25400" rIns="25400" bIns="25400" rtlCol="0" anchor="t">
            <a:normAutofit/>
          </a:bodyPr>
          <a:lstStyle/>
          <a:p>
            <a:pPr marL="0" indent="0" algn="l">
              <a:lnSpc>
                <a:spcPct val="142000"/>
              </a:lnSpc>
              <a:buNone/>
            </a:pPr>
            <a:r>
              <a:rPr lang="en-US" sz="2475" dirty="0">
                <a:solidFill>
                  <a:srgbClr val="5C564C"/>
                </a:solidFill>
                <a:latin typeface="Arial" pitchFamily="34" charset="0"/>
                <a:ea typeface="Arial" pitchFamily="34" charset="-122"/>
                <a:cs typeface="Arial" pitchFamily="34" charset="-120"/>
              </a:rPr>
              <a:t>Same dataset. Same network. The optimizer alone decides how quickly the model learns — and whether it </a:t>
            </a:r>
            <a:r>
              <a:rPr lang="en-US" sz="2475" b="1" dirty="0">
                <a:solidFill>
                  <a:srgbClr val="201D18"/>
                </a:solidFill>
                <a:latin typeface="Arial" pitchFamily="34" charset="0"/>
                <a:ea typeface="Arial" pitchFamily="34" charset="-122"/>
                <a:cs typeface="Arial" pitchFamily="34" charset="-120"/>
              </a:rPr>
              <a:t>generalizes </a:t>
            </a:r>
            <a:r>
              <a:rPr lang="en-US" sz="2475" dirty="0">
                <a:solidFill>
                  <a:srgbClr val="5C564C"/>
                </a:solidFill>
                <a:latin typeface="Arial" pitchFamily="34" charset="0"/>
                <a:ea typeface="Arial" pitchFamily="34" charset="-122"/>
                <a:cs typeface="Arial" pitchFamily="34" charset="-120"/>
              </a:rPr>
              <a:t>or simply </a:t>
            </a:r>
            <a:r>
              <a:rPr lang="en-US" sz="2475" b="1" dirty="0">
                <a:solidFill>
                  <a:srgbClr val="201D18"/>
                </a:solidFill>
                <a:latin typeface="Arial" pitchFamily="34" charset="0"/>
                <a:ea typeface="Arial" pitchFamily="34" charset="-122"/>
                <a:cs typeface="Arial" pitchFamily="34" charset="-120"/>
              </a:rPr>
              <a:t>memorizes</a:t>
            </a:r>
            <a:r>
              <a:rPr lang="en-US" sz="2475" dirty="0">
                <a:solidFill>
                  <a:srgbClr val="5C564C"/>
                </a:solidFill>
                <a:latin typeface="Arial" pitchFamily="34" charset="0"/>
                <a:ea typeface="Arial" pitchFamily="34" charset="-122"/>
                <a:cs typeface="Arial" pitchFamily="34" charset="-120"/>
              </a:rPr>
              <a:t>.</a:t>
            </a:r>
            <a:endParaRPr lang="en-US" sz="2475" dirty="0"/>
          </a:p>
        </p:txBody>
      </p:sp>
      <p:sp>
        <p:nvSpPr>
          <p:cNvPr id="5" name="Text 3"/>
          <p:cNvSpPr/>
          <p:nvPr/>
        </p:nvSpPr>
        <p:spPr>
          <a:xfrm>
            <a:off x="1028700" y="5861851"/>
            <a:ext cx="350520" cy="332298"/>
          </a:xfrm>
          <a:prstGeom prst="rect">
            <a:avLst/>
          </a:prstGeom>
          <a:noFill/>
          <a:ln/>
        </p:spPr>
        <p:txBody>
          <a:bodyPr wrap="square" lIns="25400" tIns="25400" rIns="25400" bIns="25400" rtlCol="0" anchor="t">
            <a:normAutofit/>
          </a:bodyPr>
          <a:lstStyle/>
          <a:p>
            <a:pPr marL="0" indent="0" algn="l">
              <a:buNone/>
            </a:pPr>
            <a:r>
              <a:rPr lang="en-US" sz="1800" dirty="0">
                <a:solidFill>
                  <a:srgbClr val="BD3B25"/>
                </a:solidFill>
                <a:latin typeface="Courier New" pitchFamily="34" charset="0"/>
                <a:ea typeface="Courier New" pitchFamily="34" charset="-122"/>
                <a:cs typeface="Courier New" pitchFamily="34" charset="-120"/>
              </a:rPr>
              <a:t>01</a:t>
            </a:r>
            <a:endParaRPr lang="en-US" sz="1800" dirty="0"/>
          </a:p>
        </p:txBody>
      </p:sp>
      <p:sp>
        <p:nvSpPr>
          <p:cNvPr id="6" name="Text 4"/>
          <p:cNvSpPr/>
          <p:nvPr/>
        </p:nvSpPr>
        <p:spPr>
          <a:xfrm>
            <a:off x="1493479" y="5822095"/>
            <a:ext cx="8300535" cy="721912"/>
          </a:xfrm>
          <a:prstGeom prst="rect">
            <a:avLst/>
          </a:prstGeom>
          <a:noFill/>
          <a:ln/>
        </p:spPr>
        <p:txBody>
          <a:bodyPr wrap="square" lIns="25400" tIns="25400" rIns="25400" bIns="25400" rtlCol="0" anchor="t">
            <a:normAutofit/>
          </a:bodyPr>
          <a:lstStyle/>
          <a:p>
            <a:pPr marL="0" indent="0" algn="l">
              <a:buNone/>
            </a:pPr>
            <a:r>
              <a:rPr lang="en-US" sz="2100" dirty="0">
                <a:solidFill>
                  <a:srgbClr val="201D18"/>
                </a:solidFill>
                <a:latin typeface="Arial" pitchFamily="34" charset="0"/>
                <a:ea typeface="Arial" pitchFamily="34" charset="-122"/>
                <a:cs typeface="Arial" pitchFamily="34" charset="-120"/>
              </a:rPr>
              <a:t>Implement and tune Adam, RMSprop and AdamW on one fixed network.</a:t>
            </a:r>
            <a:endParaRPr lang="en-US" sz="2100" dirty="0"/>
          </a:p>
        </p:txBody>
      </p:sp>
      <p:sp>
        <p:nvSpPr>
          <p:cNvPr id="7" name="Text 5"/>
          <p:cNvSpPr/>
          <p:nvPr/>
        </p:nvSpPr>
        <p:spPr>
          <a:xfrm>
            <a:off x="1028700" y="6736122"/>
            <a:ext cx="350520" cy="332298"/>
          </a:xfrm>
          <a:prstGeom prst="rect">
            <a:avLst/>
          </a:prstGeom>
          <a:noFill/>
          <a:ln/>
        </p:spPr>
        <p:txBody>
          <a:bodyPr wrap="square" lIns="25400" tIns="25400" rIns="25400" bIns="25400" rtlCol="0" anchor="t">
            <a:normAutofit/>
          </a:bodyPr>
          <a:lstStyle/>
          <a:p>
            <a:pPr marL="0" indent="0" algn="l">
              <a:buNone/>
            </a:pPr>
            <a:r>
              <a:rPr lang="en-US" sz="1800" dirty="0">
                <a:solidFill>
                  <a:srgbClr val="BD3B25"/>
                </a:solidFill>
                <a:latin typeface="Courier New" pitchFamily="34" charset="0"/>
                <a:ea typeface="Courier New" pitchFamily="34" charset="-122"/>
                <a:cs typeface="Courier New" pitchFamily="34" charset="-120"/>
              </a:rPr>
              <a:t>02</a:t>
            </a:r>
            <a:endParaRPr lang="en-US" sz="1800" dirty="0"/>
          </a:p>
        </p:txBody>
      </p:sp>
      <p:sp>
        <p:nvSpPr>
          <p:cNvPr id="8" name="Text 6"/>
          <p:cNvSpPr/>
          <p:nvPr/>
        </p:nvSpPr>
        <p:spPr>
          <a:xfrm>
            <a:off x="1493479" y="6696365"/>
            <a:ext cx="8579843" cy="380006"/>
          </a:xfrm>
          <a:prstGeom prst="rect">
            <a:avLst/>
          </a:prstGeom>
          <a:noFill/>
          <a:ln/>
        </p:spPr>
        <p:txBody>
          <a:bodyPr wrap="square" lIns="25400" tIns="25400" rIns="25400" bIns="25400" rtlCol="0" anchor="t">
            <a:normAutofit/>
          </a:bodyPr>
          <a:lstStyle/>
          <a:p>
            <a:pPr marL="0" indent="0" algn="l">
              <a:buNone/>
            </a:pPr>
            <a:r>
              <a:rPr lang="en-US" sz="2100" dirty="0">
                <a:solidFill>
                  <a:srgbClr val="201D18"/>
                </a:solidFill>
                <a:latin typeface="Arial" pitchFamily="34" charset="0"/>
                <a:ea typeface="Arial" pitchFamily="34" charset="-122"/>
                <a:cs typeface="Arial" pitchFamily="34" charset="-120"/>
              </a:rPr>
              <a:t>Compare convergence speed, training stability and final accuracy.</a:t>
            </a:r>
            <a:endParaRPr lang="en-US" sz="2100" dirty="0"/>
          </a:p>
        </p:txBody>
      </p:sp>
      <p:sp>
        <p:nvSpPr>
          <p:cNvPr id="9" name="Text 7"/>
          <p:cNvSpPr/>
          <p:nvPr/>
        </p:nvSpPr>
        <p:spPr>
          <a:xfrm>
            <a:off x="1028700" y="7268487"/>
            <a:ext cx="350520" cy="332298"/>
          </a:xfrm>
          <a:prstGeom prst="rect">
            <a:avLst/>
          </a:prstGeom>
          <a:noFill/>
          <a:ln/>
        </p:spPr>
        <p:txBody>
          <a:bodyPr wrap="square" lIns="25400" tIns="25400" rIns="25400" bIns="25400" rtlCol="0" anchor="t">
            <a:normAutofit/>
          </a:bodyPr>
          <a:lstStyle/>
          <a:p>
            <a:pPr marL="0" indent="0" algn="l">
              <a:buNone/>
            </a:pPr>
            <a:r>
              <a:rPr lang="en-US" sz="1800" dirty="0">
                <a:solidFill>
                  <a:srgbClr val="BD3B25"/>
                </a:solidFill>
                <a:latin typeface="Courier New" pitchFamily="34" charset="0"/>
                <a:ea typeface="Courier New" pitchFamily="34" charset="-122"/>
                <a:cs typeface="Courier New" pitchFamily="34" charset="-120"/>
              </a:rPr>
              <a:t>03</a:t>
            </a:r>
            <a:endParaRPr lang="en-US" sz="1800" dirty="0"/>
          </a:p>
        </p:txBody>
      </p:sp>
      <p:sp>
        <p:nvSpPr>
          <p:cNvPr id="10" name="Text 8"/>
          <p:cNvSpPr/>
          <p:nvPr/>
        </p:nvSpPr>
        <p:spPr>
          <a:xfrm>
            <a:off x="1493479" y="7228730"/>
            <a:ext cx="8300535" cy="721912"/>
          </a:xfrm>
          <a:prstGeom prst="rect">
            <a:avLst/>
          </a:prstGeom>
          <a:noFill/>
          <a:ln/>
        </p:spPr>
        <p:txBody>
          <a:bodyPr wrap="square" lIns="25400" tIns="25400" rIns="25400" bIns="25400" rtlCol="0" anchor="t">
            <a:normAutofit/>
          </a:bodyPr>
          <a:lstStyle/>
          <a:p>
            <a:pPr marL="0" indent="0" algn="l">
              <a:buNone/>
            </a:pPr>
            <a:r>
              <a:rPr lang="en-US" sz="2100" dirty="0">
                <a:solidFill>
                  <a:srgbClr val="201D18"/>
                </a:solidFill>
                <a:latin typeface="Arial" pitchFamily="34" charset="0"/>
                <a:ea typeface="Arial" pitchFamily="34" charset="-122"/>
                <a:cs typeface="Arial" pitchFamily="34" charset="-120"/>
              </a:rPr>
              <a:t>Draw evidence-based conclusions about each optimizer's trade-offs.</a:t>
            </a:r>
            <a:endParaRPr lang="en-US" sz="2100" dirty="0"/>
          </a:p>
        </p:txBody>
      </p:sp>
      <p:sp>
        <p:nvSpPr>
          <p:cNvPr id="11" name="Shape 9"/>
          <p:cNvSpPr/>
          <p:nvPr/>
        </p:nvSpPr>
        <p:spPr>
          <a:xfrm>
            <a:off x="10314209" y="800100"/>
            <a:ext cx="6945092" cy="8763083"/>
          </a:xfrm>
          <a:prstGeom prst="roundRect">
            <a:avLst>
              <a:gd name="adj" fmla="val 1097"/>
            </a:avLst>
          </a:prstGeom>
          <a:solidFill>
            <a:srgbClr val="201D18"/>
          </a:solidFill>
          <a:ln/>
        </p:spPr>
        <p:txBody>
          <a:bodyPr/>
          <a:lstStyle/>
          <a:p>
            <a:endParaRPr lang="en-CA"/>
          </a:p>
        </p:txBody>
      </p:sp>
      <p:sp>
        <p:nvSpPr>
          <p:cNvPr id="12" name="Text 10"/>
          <p:cNvSpPr/>
          <p:nvPr/>
        </p:nvSpPr>
        <p:spPr>
          <a:xfrm>
            <a:off x="10847568" y="3564918"/>
            <a:ext cx="6466212" cy="1495301"/>
          </a:xfrm>
          <a:prstGeom prst="rect">
            <a:avLst/>
          </a:prstGeom>
          <a:noFill/>
          <a:ln/>
        </p:spPr>
        <p:txBody>
          <a:bodyPr wrap="square" lIns="25400" tIns="25400" rIns="25400" bIns="25400" rtlCol="0" anchor="t">
            <a:normAutofit/>
          </a:bodyPr>
          <a:lstStyle/>
          <a:p>
            <a:pPr marL="0" indent="0" algn="l">
              <a:lnSpc>
                <a:spcPct val="90000"/>
              </a:lnSpc>
              <a:buNone/>
            </a:pPr>
            <a:r>
              <a:rPr lang="en-US" sz="12750" b="1" dirty="0">
                <a:solidFill>
                  <a:srgbClr val="FFFFFF"/>
                </a:solidFill>
                <a:latin typeface="Georgia" pitchFamily="34" charset="0"/>
                <a:ea typeface="Georgia" pitchFamily="34" charset="-122"/>
                <a:cs typeface="Georgia" pitchFamily="34" charset="-120"/>
              </a:rPr>
              <a:t>1.46</a:t>
            </a:r>
            <a:endParaRPr lang="en-US" sz="12750" dirty="0"/>
          </a:p>
        </p:txBody>
      </p:sp>
      <p:sp>
        <p:nvSpPr>
          <p:cNvPr id="13" name="Text 11"/>
          <p:cNvSpPr/>
          <p:nvPr/>
        </p:nvSpPr>
        <p:spPr>
          <a:xfrm>
            <a:off x="10847568" y="5098277"/>
            <a:ext cx="6466212" cy="332298"/>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BD3B25"/>
                </a:solidFill>
                <a:latin typeface="Courier New" pitchFamily="34" charset="0"/>
                <a:ea typeface="Courier New" pitchFamily="34" charset="-122"/>
                <a:cs typeface="Courier New" pitchFamily="34" charset="-120"/>
              </a:rPr>
              <a:t>PERCENTAGE POINTS</a:t>
            </a:r>
            <a:endParaRPr lang="en-US" sz="1800" dirty="0"/>
          </a:p>
        </p:txBody>
      </p:sp>
      <p:sp>
        <p:nvSpPr>
          <p:cNvPr id="14" name="Text 12"/>
          <p:cNvSpPr/>
          <p:nvPr/>
        </p:nvSpPr>
        <p:spPr>
          <a:xfrm>
            <a:off x="10847568" y="5678226"/>
            <a:ext cx="6054726" cy="1158116"/>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F4F1EA">
                    <a:alpha val="78000"/>
                  </a:srgbClr>
                </a:solidFill>
                <a:latin typeface="Arial" pitchFamily="34" charset="0"/>
                <a:ea typeface="Arial" pitchFamily="34" charset="-122"/>
                <a:cs typeface="Arial" pitchFamily="34" charset="-120"/>
              </a:rPr>
              <a:t>Spread in final test accuracy between our best and worst optimizer — on identical data and the identical network.</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17853661"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THE DATASET</a:t>
            </a:r>
            <a:endParaRPr lang="en-US" sz="1800" dirty="0"/>
          </a:p>
        </p:txBody>
      </p:sp>
      <p:sp>
        <p:nvSpPr>
          <p:cNvPr id="3" name="Text 1"/>
          <p:cNvSpPr/>
          <p:nvPr/>
        </p:nvSpPr>
        <p:spPr>
          <a:xfrm>
            <a:off x="1028700" y="1341907"/>
            <a:ext cx="9810494"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KMNIST </a:t>
            </a:r>
            <a:r>
              <a:rPr lang="en-US" sz="5550" kern="0" spc="-55" dirty="0">
                <a:solidFill>
                  <a:srgbClr val="9A9183"/>
                </a:solidFill>
                <a:latin typeface="Georgia" pitchFamily="34" charset="0"/>
                <a:ea typeface="Georgia" pitchFamily="34" charset="-122"/>
                <a:cs typeface="Georgia" pitchFamily="34" charset="-120"/>
              </a:rPr>
              <a:t>(Kuzushiji-MNIST)</a:t>
            </a:r>
            <a:endParaRPr lang="en-US" sz="5550" dirty="0"/>
          </a:p>
        </p:txBody>
      </p:sp>
      <p:sp>
        <p:nvSpPr>
          <p:cNvPr id="4" name="Shape 2"/>
          <p:cNvSpPr/>
          <p:nvPr/>
        </p:nvSpPr>
        <p:spPr>
          <a:xfrm>
            <a:off x="1028700" y="4247985"/>
            <a:ext cx="1447883" cy="1447883"/>
          </a:xfrm>
          <a:prstGeom prst="roundRect">
            <a:avLst>
              <a:gd name="adj" fmla="val 3947"/>
            </a:avLst>
          </a:prstGeom>
          <a:solidFill>
            <a:srgbClr val="15130F"/>
          </a:solidFill>
          <a:ln/>
        </p:spPr>
        <p:txBody>
          <a:bodyPr/>
          <a:lstStyle/>
          <a:p>
            <a:endParaRPr lang="en-CA"/>
          </a:p>
        </p:txBody>
      </p:sp>
      <p:sp>
        <p:nvSpPr>
          <p:cNvPr id="5" name="Text 3"/>
          <p:cNvSpPr/>
          <p:nvPr/>
        </p:nvSpPr>
        <p:spPr>
          <a:xfrm>
            <a:off x="990600" y="4247985"/>
            <a:ext cx="1524083" cy="1485983"/>
          </a:xfrm>
          <a:prstGeom prst="rect">
            <a:avLst/>
          </a:prstGeom>
          <a:noFill/>
          <a:ln/>
        </p:spPr>
        <p:txBody>
          <a:bodyPr wrap="square" lIns="25400" tIns="25400" rIns="25400" bIns="25400" rtlCol="0" anchor="ctr">
            <a:normAutofit/>
          </a:bodyPr>
          <a:lstStyle/>
          <a:p>
            <a:pPr marL="0" indent="0" algn="ctr">
              <a:buNone/>
            </a:pPr>
            <a:r>
              <a:rPr lang="en-US" sz="4650" dirty="0">
                <a:solidFill>
                  <a:srgbClr val="F4F1EA"/>
                </a:solidFill>
                <a:latin typeface="Georgia" pitchFamily="34" charset="0"/>
                <a:ea typeface="Georgia" pitchFamily="34" charset="-122"/>
                <a:cs typeface="Georgia" pitchFamily="34" charset="-120"/>
              </a:rPr>
              <a:t>お</a:t>
            </a:r>
            <a:endParaRPr lang="en-US" sz="4650" dirty="0"/>
          </a:p>
        </p:txBody>
      </p:sp>
      <p:sp>
        <p:nvSpPr>
          <p:cNvPr id="6" name="Shape 4"/>
          <p:cNvSpPr/>
          <p:nvPr/>
        </p:nvSpPr>
        <p:spPr>
          <a:xfrm>
            <a:off x="2609892" y="4247985"/>
            <a:ext cx="1447883" cy="1447883"/>
          </a:xfrm>
          <a:prstGeom prst="roundRect">
            <a:avLst>
              <a:gd name="adj" fmla="val 3947"/>
            </a:avLst>
          </a:prstGeom>
          <a:solidFill>
            <a:srgbClr val="15130F"/>
          </a:solidFill>
          <a:ln/>
        </p:spPr>
        <p:txBody>
          <a:bodyPr/>
          <a:lstStyle/>
          <a:p>
            <a:endParaRPr lang="en-CA"/>
          </a:p>
        </p:txBody>
      </p:sp>
      <p:sp>
        <p:nvSpPr>
          <p:cNvPr id="7" name="Text 5"/>
          <p:cNvSpPr/>
          <p:nvPr/>
        </p:nvSpPr>
        <p:spPr>
          <a:xfrm>
            <a:off x="2571792" y="4247985"/>
            <a:ext cx="1524083" cy="1485983"/>
          </a:xfrm>
          <a:prstGeom prst="rect">
            <a:avLst/>
          </a:prstGeom>
          <a:noFill/>
          <a:ln/>
        </p:spPr>
        <p:txBody>
          <a:bodyPr wrap="square" lIns="25400" tIns="25400" rIns="25400" bIns="25400" rtlCol="0" anchor="ctr">
            <a:normAutofit/>
          </a:bodyPr>
          <a:lstStyle/>
          <a:p>
            <a:pPr marL="0" indent="0" algn="ctr">
              <a:buNone/>
            </a:pPr>
            <a:r>
              <a:rPr lang="en-US" sz="4650" dirty="0">
                <a:solidFill>
                  <a:srgbClr val="F4F1EA"/>
                </a:solidFill>
                <a:latin typeface="Georgia" pitchFamily="34" charset="0"/>
                <a:ea typeface="Georgia" pitchFamily="34" charset="-122"/>
                <a:cs typeface="Georgia" pitchFamily="34" charset="-120"/>
              </a:rPr>
              <a:t>き</a:t>
            </a:r>
            <a:endParaRPr lang="en-US" sz="4650" dirty="0"/>
          </a:p>
        </p:txBody>
      </p:sp>
      <p:sp>
        <p:nvSpPr>
          <p:cNvPr id="8" name="Shape 6"/>
          <p:cNvSpPr/>
          <p:nvPr/>
        </p:nvSpPr>
        <p:spPr>
          <a:xfrm>
            <a:off x="4191083" y="4247985"/>
            <a:ext cx="1447883" cy="1447883"/>
          </a:xfrm>
          <a:prstGeom prst="roundRect">
            <a:avLst>
              <a:gd name="adj" fmla="val 3947"/>
            </a:avLst>
          </a:prstGeom>
          <a:solidFill>
            <a:srgbClr val="15130F"/>
          </a:solidFill>
          <a:ln/>
        </p:spPr>
        <p:txBody>
          <a:bodyPr/>
          <a:lstStyle/>
          <a:p>
            <a:endParaRPr lang="en-CA"/>
          </a:p>
        </p:txBody>
      </p:sp>
      <p:sp>
        <p:nvSpPr>
          <p:cNvPr id="9" name="Text 7"/>
          <p:cNvSpPr/>
          <p:nvPr/>
        </p:nvSpPr>
        <p:spPr>
          <a:xfrm>
            <a:off x="4152983" y="4247985"/>
            <a:ext cx="1524083" cy="1485983"/>
          </a:xfrm>
          <a:prstGeom prst="rect">
            <a:avLst/>
          </a:prstGeom>
          <a:noFill/>
          <a:ln/>
        </p:spPr>
        <p:txBody>
          <a:bodyPr wrap="square" lIns="25400" tIns="25400" rIns="25400" bIns="25400" rtlCol="0" anchor="ctr">
            <a:normAutofit/>
          </a:bodyPr>
          <a:lstStyle/>
          <a:p>
            <a:pPr marL="0" indent="0" algn="ctr">
              <a:buNone/>
            </a:pPr>
            <a:r>
              <a:rPr lang="en-US" sz="4650" dirty="0">
                <a:solidFill>
                  <a:srgbClr val="F4F1EA"/>
                </a:solidFill>
                <a:latin typeface="Georgia" pitchFamily="34" charset="0"/>
                <a:ea typeface="Georgia" pitchFamily="34" charset="-122"/>
                <a:cs typeface="Georgia" pitchFamily="34" charset="-120"/>
              </a:rPr>
              <a:t>す</a:t>
            </a:r>
            <a:endParaRPr lang="en-US" sz="4650" dirty="0"/>
          </a:p>
        </p:txBody>
      </p:sp>
      <p:sp>
        <p:nvSpPr>
          <p:cNvPr id="10" name="Shape 8"/>
          <p:cNvSpPr/>
          <p:nvPr/>
        </p:nvSpPr>
        <p:spPr>
          <a:xfrm>
            <a:off x="5772274" y="4247985"/>
            <a:ext cx="1447883" cy="1447883"/>
          </a:xfrm>
          <a:prstGeom prst="roundRect">
            <a:avLst>
              <a:gd name="adj" fmla="val 3947"/>
            </a:avLst>
          </a:prstGeom>
          <a:solidFill>
            <a:srgbClr val="15130F"/>
          </a:solidFill>
          <a:ln/>
        </p:spPr>
        <p:txBody>
          <a:bodyPr/>
          <a:lstStyle/>
          <a:p>
            <a:endParaRPr lang="en-CA"/>
          </a:p>
        </p:txBody>
      </p:sp>
      <p:sp>
        <p:nvSpPr>
          <p:cNvPr id="11" name="Text 9"/>
          <p:cNvSpPr/>
          <p:nvPr/>
        </p:nvSpPr>
        <p:spPr>
          <a:xfrm>
            <a:off x="5734174" y="4247985"/>
            <a:ext cx="1524083" cy="1485983"/>
          </a:xfrm>
          <a:prstGeom prst="rect">
            <a:avLst/>
          </a:prstGeom>
          <a:noFill/>
          <a:ln/>
        </p:spPr>
        <p:txBody>
          <a:bodyPr wrap="square" lIns="25400" tIns="25400" rIns="25400" bIns="25400" rtlCol="0" anchor="ctr">
            <a:normAutofit/>
          </a:bodyPr>
          <a:lstStyle/>
          <a:p>
            <a:pPr marL="0" indent="0" algn="ctr">
              <a:buNone/>
            </a:pPr>
            <a:r>
              <a:rPr lang="en-US" sz="4650" dirty="0">
                <a:solidFill>
                  <a:srgbClr val="F4F1EA"/>
                </a:solidFill>
                <a:latin typeface="Georgia" pitchFamily="34" charset="0"/>
                <a:ea typeface="Georgia" pitchFamily="34" charset="-122"/>
                <a:cs typeface="Georgia" pitchFamily="34" charset="-120"/>
              </a:rPr>
              <a:t>つ</a:t>
            </a:r>
            <a:endParaRPr lang="en-US" sz="4650" dirty="0"/>
          </a:p>
        </p:txBody>
      </p:sp>
      <p:sp>
        <p:nvSpPr>
          <p:cNvPr id="12" name="Shape 10"/>
          <p:cNvSpPr/>
          <p:nvPr/>
        </p:nvSpPr>
        <p:spPr>
          <a:xfrm>
            <a:off x="7353466" y="4247985"/>
            <a:ext cx="1447883" cy="1447883"/>
          </a:xfrm>
          <a:prstGeom prst="roundRect">
            <a:avLst>
              <a:gd name="adj" fmla="val 3947"/>
            </a:avLst>
          </a:prstGeom>
          <a:solidFill>
            <a:srgbClr val="15130F"/>
          </a:solidFill>
          <a:ln/>
        </p:spPr>
        <p:txBody>
          <a:bodyPr/>
          <a:lstStyle/>
          <a:p>
            <a:endParaRPr lang="en-CA"/>
          </a:p>
        </p:txBody>
      </p:sp>
      <p:sp>
        <p:nvSpPr>
          <p:cNvPr id="13" name="Text 11"/>
          <p:cNvSpPr/>
          <p:nvPr/>
        </p:nvSpPr>
        <p:spPr>
          <a:xfrm>
            <a:off x="7315366" y="4247985"/>
            <a:ext cx="1524083" cy="1485983"/>
          </a:xfrm>
          <a:prstGeom prst="rect">
            <a:avLst/>
          </a:prstGeom>
          <a:noFill/>
          <a:ln/>
        </p:spPr>
        <p:txBody>
          <a:bodyPr wrap="square" lIns="25400" tIns="25400" rIns="25400" bIns="25400" rtlCol="0" anchor="ctr">
            <a:normAutofit/>
          </a:bodyPr>
          <a:lstStyle/>
          <a:p>
            <a:pPr marL="0" indent="0" algn="ctr">
              <a:buNone/>
            </a:pPr>
            <a:r>
              <a:rPr lang="en-US" sz="4650" dirty="0">
                <a:solidFill>
                  <a:srgbClr val="F4F1EA"/>
                </a:solidFill>
                <a:latin typeface="Georgia" pitchFamily="34" charset="0"/>
                <a:ea typeface="Georgia" pitchFamily="34" charset="-122"/>
                <a:cs typeface="Georgia" pitchFamily="34" charset="-120"/>
              </a:rPr>
              <a:t>な</a:t>
            </a:r>
            <a:endParaRPr lang="en-US" sz="4650" dirty="0"/>
          </a:p>
        </p:txBody>
      </p:sp>
      <p:sp>
        <p:nvSpPr>
          <p:cNvPr id="14" name="Shape 12"/>
          <p:cNvSpPr/>
          <p:nvPr/>
        </p:nvSpPr>
        <p:spPr>
          <a:xfrm>
            <a:off x="1028700" y="5829176"/>
            <a:ext cx="1447883" cy="1447883"/>
          </a:xfrm>
          <a:prstGeom prst="roundRect">
            <a:avLst>
              <a:gd name="adj" fmla="val 3947"/>
            </a:avLst>
          </a:prstGeom>
          <a:solidFill>
            <a:srgbClr val="15130F"/>
          </a:solidFill>
          <a:ln/>
        </p:spPr>
        <p:txBody>
          <a:bodyPr/>
          <a:lstStyle/>
          <a:p>
            <a:endParaRPr lang="en-CA"/>
          </a:p>
        </p:txBody>
      </p:sp>
      <p:sp>
        <p:nvSpPr>
          <p:cNvPr id="15" name="Text 13"/>
          <p:cNvSpPr/>
          <p:nvPr/>
        </p:nvSpPr>
        <p:spPr>
          <a:xfrm>
            <a:off x="990600" y="5829176"/>
            <a:ext cx="1524083" cy="1485983"/>
          </a:xfrm>
          <a:prstGeom prst="rect">
            <a:avLst/>
          </a:prstGeom>
          <a:noFill/>
          <a:ln/>
        </p:spPr>
        <p:txBody>
          <a:bodyPr wrap="square" lIns="25400" tIns="25400" rIns="25400" bIns="25400" rtlCol="0" anchor="ctr">
            <a:normAutofit/>
          </a:bodyPr>
          <a:lstStyle/>
          <a:p>
            <a:pPr marL="0" indent="0" algn="ctr">
              <a:buNone/>
            </a:pPr>
            <a:r>
              <a:rPr lang="en-US" sz="4650" dirty="0">
                <a:solidFill>
                  <a:srgbClr val="F4F1EA"/>
                </a:solidFill>
                <a:latin typeface="Georgia" pitchFamily="34" charset="0"/>
                <a:ea typeface="Georgia" pitchFamily="34" charset="-122"/>
                <a:cs typeface="Georgia" pitchFamily="34" charset="-120"/>
              </a:rPr>
              <a:t>は</a:t>
            </a:r>
            <a:endParaRPr lang="en-US" sz="4650" dirty="0"/>
          </a:p>
        </p:txBody>
      </p:sp>
      <p:sp>
        <p:nvSpPr>
          <p:cNvPr id="16" name="Shape 14"/>
          <p:cNvSpPr/>
          <p:nvPr/>
        </p:nvSpPr>
        <p:spPr>
          <a:xfrm>
            <a:off x="2609892" y="5829176"/>
            <a:ext cx="1447883" cy="1447883"/>
          </a:xfrm>
          <a:prstGeom prst="roundRect">
            <a:avLst>
              <a:gd name="adj" fmla="val 3947"/>
            </a:avLst>
          </a:prstGeom>
          <a:solidFill>
            <a:srgbClr val="15130F"/>
          </a:solidFill>
          <a:ln/>
        </p:spPr>
        <p:txBody>
          <a:bodyPr/>
          <a:lstStyle/>
          <a:p>
            <a:endParaRPr lang="en-CA"/>
          </a:p>
        </p:txBody>
      </p:sp>
      <p:sp>
        <p:nvSpPr>
          <p:cNvPr id="17" name="Text 15"/>
          <p:cNvSpPr/>
          <p:nvPr/>
        </p:nvSpPr>
        <p:spPr>
          <a:xfrm>
            <a:off x="2571792" y="5829176"/>
            <a:ext cx="1524083" cy="1485983"/>
          </a:xfrm>
          <a:prstGeom prst="rect">
            <a:avLst/>
          </a:prstGeom>
          <a:noFill/>
          <a:ln/>
        </p:spPr>
        <p:txBody>
          <a:bodyPr wrap="square" lIns="25400" tIns="25400" rIns="25400" bIns="25400" rtlCol="0" anchor="ctr">
            <a:normAutofit/>
          </a:bodyPr>
          <a:lstStyle/>
          <a:p>
            <a:pPr marL="0" indent="0" algn="ctr">
              <a:buNone/>
            </a:pPr>
            <a:r>
              <a:rPr lang="en-US" sz="4650" dirty="0">
                <a:solidFill>
                  <a:srgbClr val="F4F1EA"/>
                </a:solidFill>
                <a:latin typeface="Georgia" pitchFamily="34" charset="0"/>
                <a:ea typeface="Georgia" pitchFamily="34" charset="-122"/>
                <a:cs typeface="Georgia" pitchFamily="34" charset="-120"/>
              </a:rPr>
              <a:t>ま</a:t>
            </a:r>
            <a:endParaRPr lang="en-US" sz="4650" dirty="0"/>
          </a:p>
        </p:txBody>
      </p:sp>
      <p:sp>
        <p:nvSpPr>
          <p:cNvPr id="18" name="Shape 16"/>
          <p:cNvSpPr/>
          <p:nvPr/>
        </p:nvSpPr>
        <p:spPr>
          <a:xfrm>
            <a:off x="4191083" y="5829176"/>
            <a:ext cx="1447883" cy="1447883"/>
          </a:xfrm>
          <a:prstGeom prst="roundRect">
            <a:avLst>
              <a:gd name="adj" fmla="val 3947"/>
            </a:avLst>
          </a:prstGeom>
          <a:solidFill>
            <a:srgbClr val="15130F"/>
          </a:solidFill>
          <a:ln/>
        </p:spPr>
        <p:txBody>
          <a:bodyPr/>
          <a:lstStyle/>
          <a:p>
            <a:endParaRPr lang="en-CA"/>
          </a:p>
        </p:txBody>
      </p:sp>
      <p:sp>
        <p:nvSpPr>
          <p:cNvPr id="19" name="Text 17"/>
          <p:cNvSpPr/>
          <p:nvPr/>
        </p:nvSpPr>
        <p:spPr>
          <a:xfrm>
            <a:off x="4152983" y="5829176"/>
            <a:ext cx="1524083" cy="1485983"/>
          </a:xfrm>
          <a:prstGeom prst="rect">
            <a:avLst/>
          </a:prstGeom>
          <a:noFill/>
          <a:ln/>
        </p:spPr>
        <p:txBody>
          <a:bodyPr wrap="square" lIns="25400" tIns="25400" rIns="25400" bIns="25400" rtlCol="0" anchor="ctr">
            <a:normAutofit/>
          </a:bodyPr>
          <a:lstStyle/>
          <a:p>
            <a:pPr marL="0" indent="0" algn="ctr">
              <a:buNone/>
            </a:pPr>
            <a:r>
              <a:rPr lang="en-US" sz="4650" dirty="0">
                <a:solidFill>
                  <a:srgbClr val="F4F1EA"/>
                </a:solidFill>
                <a:latin typeface="Georgia" pitchFamily="34" charset="0"/>
                <a:ea typeface="Georgia" pitchFamily="34" charset="-122"/>
                <a:cs typeface="Georgia" pitchFamily="34" charset="-120"/>
              </a:rPr>
              <a:t>や</a:t>
            </a:r>
            <a:endParaRPr lang="en-US" sz="4650" dirty="0"/>
          </a:p>
        </p:txBody>
      </p:sp>
      <p:sp>
        <p:nvSpPr>
          <p:cNvPr id="20" name="Shape 18"/>
          <p:cNvSpPr/>
          <p:nvPr/>
        </p:nvSpPr>
        <p:spPr>
          <a:xfrm>
            <a:off x="5772274" y="5829176"/>
            <a:ext cx="1447883" cy="1447883"/>
          </a:xfrm>
          <a:prstGeom prst="roundRect">
            <a:avLst>
              <a:gd name="adj" fmla="val 3947"/>
            </a:avLst>
          </a:prstGeom>
          <a:solidFill>
            <a:srgbClr val="15130F"/>
          </a:solidFill>
          <a:ln/>
        </p:spPr>
        <p:txBody>
          <a:bodyPr/>
          <a:lstStyle/>
          <a:p>
            <a:endParaRPr lang="en-CA"/>
          </a:p>
        </p:txBody>
      </p:sp>
      <p:sp>
        <p:nvSpPr>
          <p:cNvPr id="21" name="Text 19"/>
          <p:cNvSpPr/>
          <p:nvPr/>
        </p:nvSpPr>
        <p:spPr>
          <a:xfrm>
            <a:off x="5734174" y="5829176"/>
            <a:ext cx="1524083" cy="1485983"/>
          </a:xfrm>
          <a:prstGeom prst="rect">
            <a:avLst/>
          </a:prstGeom>
          <a:noFill/>
          <a:ln/>
        </p:spPr>
        <p:txBody>
          <a:bodyPr wrap="square" lIns="25400" tIns="25400" rIns="25400" bIns="25400" rtlCol="0" anchor="ctr">
            <a:normAutofit/>
          </a:bodyPr>
          <a:lstStyle/>
          <a:p>
            <a:pPr marL="0" indent="0" algn="ctr">
              <a:buNone/>
            </a:pPr>
            <a:r>
              <a:rPr lang="en-US" sz="4650" dirty="0">
                <a:solidFill>
                  <a:srgbClr val="F4F1EA"/>
                </a:solidFill>
                <a:latin typeface="Georgia" pitchFamily="34" charset="0"/>
                <a:ea typeface="Georgia" pitchFamily="34" charset="-122"/>
                <a:cs typeface="Georgia" pitchFamily="34" charset="-120"/>
              </a:rPr>
              <a:t>れ</a:t>
            </a:r>
            <a:endParaRPr lang="en-US" sz="4650" dirty="0"/>
          </a:p>
        </p:txBody>
      </p:sp>
      <p:sp>
        <p:nvSpPr>
          <p:cNvPr id="22" name="Shape 20"/>
          <p:cNvSpPr/>
          <p:nvPr/>
        </p:nvSpPr>
        <p:spPr>
          <a:xfrm>
            <a:off x="7353466" y="5829176"/>
            <a:ext cx="1447883" cy="1447883"/>
          </a:xfrm>
          <a:prstGeom prst="roundRect">
            <a:avLst>
              <a:gd name="adj" fmla="val 3947"/>
            </a:avLst>
          </a:prstGeom>
          <a:solidFill>
            <a:srgbClr val="15130F"/>
          </a:solidFill>
          <a:ln/>
        </p:spPr>
        <p:txBody>
          <a:bodyPr/>
          <a:lstStyle/>
          <a:p>
            <a:endParaRPr lang="en-CA"/>
          </a:p>
        </p:txBody>
      </p:sp>
      <p:sp>
        <p:nvSpPr>
          <p:cNvPr id="23" name="Text 21"/>
          <p:cNvSpPr/>
          <p:nvPr/>
        </p:nvSpPr>
        <p:spPr>
          <a:xfrm>
            <a:off x="7315366" y="5829176"/>
            <a:ext cx="1524083" cy="1485983"/>
          </a:xfrm>
          <a:prstGeom prst="rect">
            <a:avLst/>
          </a:prstGeom>
          <a:noFill/>
          <a:ln/>
        </p:spPr>
        <p:txBody>
          <a:bodyPr wrap="square" lIns="25400" tIns="25400" rIns="25400" bIns="25400" rtlCol="0" anchor="ctr">
            <a:normAutofit/>
          </a:bodyPr>
          <a:lstStyle/>
          <a:p>
            <a:pPr marL="0" indent="0" algn="ctr">
              <a:buNone/>
            </a:pPr>
            <a:r>
              <a:rPr lang="en-US" sz="4650" dirty="0">
                <a:solidFill>
                  <a:srgbClr val="F4F1EA"/>
                </a:solidFill>
                <a:latin typeface="Georgia" pitchFamily="34" charset="0"/>
                <a:ea typeface="Georgia" pitchFamily="34" charset="-122"/>
                <a:cs typeface="Georgia" pitchFamily="34" charset="-120"/>
              </a:rPr>
              <a:t>を</a:t>
            </a:r>
            <a:endParaRPr lang="en-US" sz="4650" dirty="0"/>
          </a:p>
        </p:txBody>
      </p:sp>
      <p:sp>
        <p:nvSpPr>
          <p:cNvPr id="24" name="Text 22"/>
          <p:cNvSpPr/>
          <p:nvPr/>
        </p:nvSpPr>
        <p:spPr>
          <a:xfrm>
            <a:off x="1028700" y="7448509"/>
            <a:ext cx="8549641" cy="332298"/>
          </a:xfrm>
          <a:prstGeom prst="rect">
            <a:avLst/>
          </a:prstGeom>
          <a:noFill/>
          <a:ln/>
        </p:spPr>
        <p:txBody>
          <a:bodyPr wrap="square" lIns="25400" tIns="25400" rIns="25400" bIns="25400" rtlCol="0" anchor="t">
            <a:normAutofit/>
          </a:bodyPr>
          <a:lstStyle/>
          <a:p>
            <a:pPr marL="0" indent="0" algn="l">
              <a:buNone/>
            </a:pPr>
            <a:r>
              <a:rPr lang="en-US" sz="1800" dirty="0">
                <a:solidFill>
                  <a:srgbClr val="9A9183"/>
                </a:solidFill>
                <a:latin typeface="Courier New" pitchFamily="34" charset="0"/>
                <a:ea typeface="Courier New" pitchFamily="34" charset="-122"/>
                <a:cs typeface="Courier New" pitchFamily="34" charset="-120"/>
              </a:rPr>
              <a:t>The 10 classes — one cursive hiragana per label</a:t>
            </a:r>
            <a:endParaRPr lang="en-US" sz="1800" dirty="0"/>
          </a:p>
        </p:txBody>
      </p:sp>
      <p:sp>
        <p:nvSpPr>
          <p:cNvPr id="25" name="Text 23"/>
          <p:cNvSpPr/>
          <p:nvPr/>
        </p:nvSpPr>
        <p:spPr>
          <a:xfrm>
            <a:off x="9486900" y="4104861"/>
            <a:ext cx="2680169" cy="781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850" b="1" dirty="0">
                <a:solidFill>
                  <a:srgbClr val="201D18"/>
                </a:solidFill>
                <a:latin typeface="Georgia" pitchFamily="34" charset="0"/>
                <a:ea typeface="Georgia" pitchFamily="34" charset="-122"/>
                <a:cs typeface="Georgia" pitchFamily="34" charset="-120"/>
              </a:rPr>
              <a:t>60,000</a:t>
            </a:r>
            <a:endParaRPr lang="en-US" sz="5850" dirty="0"/>
          </a:p>
        </p:txBody>
      </p:sp>
      <p:sp>
        <p:nvSpPr>
          <p:cNvPr id="26" name="Text 24"/>
          <p:cNvSpPr/>
          <p:nvPr/>
        </p:nvSpPr>
        <p:spPr>
          <a:xfrm>
            <a:off x="9486901" y="4904961"/>
            <a:ext cx="2403356" cy="332298"/>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Courier New" pitchFamily="34" charset="0"/>
                <a:ea typeface="Courier New" pitchFamily="34" charset="-122"/>
                <a:cs typeface="Courier New" pitchFamily="34" charset="-120"/>
              </a:rPr>
              <a:t>training images</a:t>
            </a:r>
            <a:endParaRPr lang="en-US" sz="1800" dirty="0"/>
          </a:p>
        </p:txBody>
      </p:sp>
      <p:sp>
        <p:nvSpPr>
          <p:cNvPr id="27" name="Text 25"/>
          <p:cNvSpPr/>
          <p:nvPr/>
        </p:nvSpPr>
        <p:spPr>
          <a:xfrm>
            <a:off x="13134810" y="4104861"/>
            <a:ext cx="2989110" cy="781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850" b="1" dirty="0">
                <a:solidFill>
                  <a:srgbClr val="201D18"/>
                </a:solidFill>
                <a:latin typeface="Georgia" pitchFamily="34" charset="0"/>
                <a:ea typeface="Georgia" pitchFamily="34" charset="-122"/>
                <a:cs typeface="Georgia" pitchFamily="34" charset="-120"/>
              </a:rPr>
              <a:t>10,000</a:t>
            </a:r>
            <a:endParaRPr lang="en-US" sz="5850" dirty="0"/>
          </a:p>
        </p:txBody>
      </p:sp>
      <p:sp>
        <p:nvSpPr>
          <p:cNvPr id="28" name="Text 26"/>
          <p:cNvSpPr/>
          <p:nvPr/>
        </p:nvSpPr>
        <p:spPr>
          <a:xfrm>
            <a:off x="13134810" y="4904961"/>
            <a:ext cx="2403356" cy="332298"/>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Courier New" pitchFamily="34" charset="0"/>
                <a:ea typeface="Courier New" pitchFamily="34" charset="-122"/>
                <a:cs typeface="Courier New" pitchFamily="34" charset="-120"/>
              </a:rPr>
              <a:t>test images</a:t>
            </a:r>
            <a:endParaRPr lang="en-US" sz="1800" dirty="0"/>
          </a:p>
        </p:txBody>
      </p:sp>
      <p:sp>
        <p:nvSpPr>
          <p:cNvPr id="29" name="Text 27"/>
          <p:cNvSpPr/>
          <p:nvPr/>
        </p:nvSpPr>
        <p:spPr>
          <a:xfrm>
            <a:off x="9486901" y="5484909"/>
            <a:ext cx="2680168" cy="781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850" b="1" dirty="0">
                <a:solidFill>
                  <a:srgbClr val="201D18"/>
                </a:solidFill>
                <a:latin typeface="Georgia" pitchFamily="34" charset="0"/>
                <a:ea typeface="Georgia" pitchFamily="34" charset="-122"/>
                <a:cs typeface="Georgia" pitchFamily="34" charset="-120"/>
              </a:rPr>
              <a:t>28×28</a:t>
            </a:r>
            <a:endParaRPr lang="en-US" sz="5850" dirty="0"/>
          </a:p>
        </p:txBody>
      </p:sp>
      <p:sp>
        <p:nvSpPr>
          <p:cNvPr id="30" name="Text 28"/>
          <p:cNvSpPr/>
          <p:nvPr/>
        </p:nvSpPr>
        <p:spPr>
          <a:xfrm>
            <a:off x="9486901" y="6285009"/>
            <a:ext cx="2414016" cy="332298"/>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Courier New" pitchFamily="34" charset="0"/>
                <a:ea typeface="Courier New" pitchFamily="34" charset="-122"/>
                <a:cs typeface="Courier New" pitchFamily="34" charset="-120"/>
              </a:rPr>
              <a:t>grayscale pixels</a:t>
            </a:r>
            <a:endParaRPr lang="en-US" sz="1800" dirty="0"/>
          </a:p>
        </p:txBody>
      </p:sp>
      <p:sp>
        <p:nvSpPr>
          <p:cNvPr id="31" name="Text 29"/>
          <p:cNvSpPr/>
          <p:nvPr/>
        </p:nvSpPr>
        <p:spPr>
          <a:xfrm>
            <a:off x="13144500" y="5484909"/>
            <a:ext cx="2414016" cy="7810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850" b="1" dirty="0">
                <a:solidFill>
                  <a:srgbClr val="201D18"/>
                </a:solidFill>
                <a:latin typeface="Georgia" pitchFamily="34" charset="0"/>
                <a:ea typeface="Georgia" pitchFamily="34" charset="-122"/>
                <a:cs typeface="Georgia" pitchFamily="34" charset="-120"/>
              </a:rPr>
              <a:t>10</a:t>
            </a:r>
            <a:endParaRPr lang="en-US" sz="5850" dirty="0"/>
          </a:p>
        </p:txBody>
      </p:sp>
      <p:sp>
        <p:nvSpPr>
          <p:cNvPr id="32" name="Text 30"/>
          <p:cNvSpPr/>
          <p:nvPr/>
        </p:nvSpPr>
        <p:spPr>
          <a:xfrm>
            <a:off x="13144500" y="6285009"/>
            <a:ext cx="2414016" cy="332298"/>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Courier New" pitchFamily="34" charset="0"/>
                <a:ea typeface="Courier New" pitchFamily="34" charset="-122"/>
                <a:cs typeface="Courier New" pitchFamily="34" charset="-120"/>
              </a:rPr>
              <a:t>hiragana classes</a:t>
            </a:r>
            <a:endParaRPr lang="en-US" sz="1800" dirty="0"/>
          </a:p>
        </p:txBody>
      </p:sp>
      <p:sp>
        <p:nvSpPr>
          <p:cNvPr id="33" name="Shape 31"/>
          <p:cNvSpPr/>
          <p:nvPr/>
        </p:nvSpPr>
        <p:spPr>
          <a:xfrm>
            <a:off x="9486901" y="6864958"/>
            <a:ext cx="7772401" cy="9525"/>
          </a:xfrm>
          <a:prstGeom prst="rect">
            <a:avLst/>
          </a:prstGeom>
          <a:solidFill>
            <a:srgbClr val="201D18">
              <a:alpha val="16000"/>
            </a:srgbClr>
          </a:solidFill>
          <a:ln/>
        </p:spPr>
        <p:txBody>
          <a:bodyPr/>
          <a:lstStyle/>
          <a:p>
            <a:endParaRPr lang="en-CA"/>
          </a:p>
        </p:txBody>
      </p:sp>
      <p:sp>
        <p:nvSpPr>
          <p:cNvPr id="34" name="Text 32"/>
          <p:cNvSpPr/>
          <p:nvPr/>
        </p:nvSpPr>
        <p:spPr>
          <a:xfrm>
            <a:off x="9486901" y="7120559"/>
            <a:ext cx="8005573" cy="803372"/>
          </a:xfrm>
          <a:prstGeom prst="rect">
            <a:avLst/>
          </a:prstGeom>
          <a:noFill/>
          <a:ln/>
        </p:spPr>
        <p:txBody>
          <a:bodyPr wrap="square" lIns="25400" tIns="25400" rIns="25400" bIns="25400" rtlCol="0" anchor="t">
            <a:normAutofit/>
          </a:bodyPr>
          <a:lstStyle/>
          <a:p>
            <a:pPr marL="0" indent="0" algn="l">
              <a:lnSpc>
                <a:spcPct val="142000"/>
              </a:lnSpc>
              <a:buNone/>
            </a:pPr>
            <a:r>
              <a:rPr lang="en-US" sz="2100" dirty="0">
                <a:solidFill>
                  <a:srgbClr val="5C564C"/>
                </a:solidFill>
                <a:latin typeface="Arial" pitchFamily="34" charset="0"/>
                <a:ea typeface="Arial" pitchFamily="34" charset="-122"/>
                <a:cs typeface="Arial" pitchFamily="34" charset="-120"/>
              </a:rPr>
              <a:t>A drop-in replacement for MNIST, but </a:t>
            </a:r>
            <a:r>
              <a:rPr lang="en-US" sz="2100" b="1" dirty="0">
                <a:solidFill>
                  <a:srgbClr val="201D18"/>
                </a:solidFill>
                <a:latin typeface="Arial" pitchFamily="34" charset="0"/>
                <a:ea typeface="Arial" pitchFamily="34" charset="-122"/>
                <a:cs typeface="Arial" pitchFamily="34" charset="-120"/>
              </a:rPr>
              <a:t>harder </a:t>
            </a:r>
            <a:r>
              <a:rPr lang="en-US" sz="2100" dirty="0">
                <a:solidFill>
                  <a:srgbClr val="5C564C"/>
                </a:solidFill>
                <a:latin typeface="Arial" pitchFamily="34" charset="0"/>
                <a:ea typeface="Arial" pitchFamily="34" charset="-122"/>
                <a:cs typeface="Arial" pitchFamily="34" charset="-120"/>
              </a:rPr>
              <a:t>: cursive Kuzushiji forms make class boundaries overlap.</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17853661"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THE MODEL</a:t>
            </a:r>
            <a:endParaRPr lang="en-US" sz="1800" dirty="0"/>
          </a:p>
        </p:txBody>
      </p:sp>
      <p:sp>
        <p:nvSpPr>
          <p:cNvPr id="3" name="Text 1"/>
          <p:cNvSpPr/>
          <p:nvPr/>
        </p:nvSpPr>
        <p:spPr>
          <a:xfrm>
            <a:off x="1028700" y="1341907"/>
            <a:ext cx="1785366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One fixed network for everyone</a:t>
            </a:r>
            <a:endParaRPr lang="en-US" sz="5550" dirty="0"/>
          </a:p>
        </p:txBody>
      </p:sp>
      <p:sp>
        <p:nvSpPr>
          <p:cNvPr id="4" name="Text 2"/>
          <p:cNvSpPr/>
          <p:nvPr/>
        </p:nvSpPr>
        <p:spPr>
          <a:xfrm>
            <a:off x="1028700" y="2180024"/>
            <a:ext cx="11307252" cy="721912"/>
          </a:xfrm>
          <a:prstGeom prst="rect">
            <a:avLst/>
          </a:prstGeom>
          <a:noFill/>
          <a:ln/>
        </p:spPr>
        <p:txBody>
          <a:bodyPr wrap="square" lIns="25400" tIns="25400" rIns="25400" bIns="25400" rtlCol="0" anchor="t">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A fully-connected feedforward classifier — held constant so the optimizer is the only variable.</a:t>
            </a:r>
            <a:endParaRPr lang="en-US" sz="2100" dirty="0"/>
          </a:p>
        </p:txBody>
      </p:sp>
      <p:sp>
        <p:nvSpPr>
          <p:cNvPr id="5" name="Text 3"/>
          <p:cNvSpPr/>
          <p:nvPr/>
        </p:nvSpPr>
        <p:spPr>
          <a:xfrm>
            <a:off x="5451986" y="3938381"/>
            <a:ext cx="487680" cy="332298"/>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Courier New" pitchFamily="34" charset="0"/>
                <a:ea typeface="Courier New" pitchFamily="34" charset="-122"/>
                <a:cs typeface="Courier New" pitchFamily="34" charset="-120"/>
              </a:rPr>
              <a:t>784</a:t>
            </a:r>
            <a:endParaRPr lang="en-US" sz="1800" dirty="0"/>
          </a:p>
        </p:txBody>
      </p:sp>
      <p:sp>
        <p:nvSpPr>
          <p:cNvPr id="6" name="Shape 4"/>
          <p:cNvSpPr/>
          <p:nvPr/>
        </p:nvSpPr>
        <p:spPr>
          <a:xfrm>
            <a:off x="5000501" y="4365888"/>
            <a:ext cx="1314450" cy="3668161"/>
          </a:xfrm>
          <a:prstGeom prst="roundRect">
            <a:avLst>
              <a:gd name="adj" fmla="val 5797"/>
            </a:avLst>
          </a:prstGeom>
          <a:solidFill>
            <a:srgbClr val="201D18"/>
          </a:solidFill>
          <a:ln/>
        </p:spPr>
        <p:txBody>
          <a:bodyPr/>
          <a:lstStyle/>
          <a:p>
            <a:endParaRPr lang="en-CA"/>
          </a:p>
        </p:txBody>
      </p:sp>
      <p:sp>
        <p:nvSpPr>
          <p:cNvPr id="7" name="Text 5"/>
          <p:cNvSpPr/>
          <p:nvPr/>
        </p:nvSpPr>
        <p:spPr>
          <a:xfrm rot="10800000">
            <a:off x="5510627" y="5318181"/>
            <a:ext cx="370398" cy="2544501"/>
          </a:xfrm>
          <a:prstGeom prst="rect">
            <a:avLst/>
          </a:prstGeom>
          <a:noFill/>
          <a:ln/>
        </p:spPr>
        <p:txBody>
          <a:bodyPr vert="eaVert" wrap="square" lIns="25400" tIns="25400" rIns="25400" bIns="25400" rtlCol="0" anchor="t">
            <a:normAutofit/>
          </a:bodyPr>
          <a:lstStyle/>
          <a:p>
            <a:pPr marL="0" indent="0" algn="l">
              <a:buNone/>
            </a:pPr>
            <a:r>
              <a:rPr lang="en-US" sz="1800" kern="0" spc="72" dirty="0">
                <a:solidFill>
                  <a:srgbClr val="F4F1EA"/>
                </a:solidFill>
                <a:latin typeface="Arial" pitchFamily="34" charset="0"/>
                <a:ea typeface="Arial" pitchFamily="34" charset="-122"/>
                <a:cs typeface="Arial" pitchFamily="34" charset="-120"/>
              </a:rPr>
              <a:t>Input · flatten 28×28</a:t>
            </a:r>
            <a:endParaRPr lang="en-US" sz="1800" dirty="0"/>
          </a:p>
        </p:txBody>
      </p:sp>
      <p:sp>
        <p:nvSpPr>
          <p:cNvPr id="8" name="Text 6"/>
          <p:cNvSpPr/>
          <p:nvPr/>
        </p:nvSpPr>
        <p:spPr>
          <a:xfrm>
            <a:off x="6600701" y="5746930"/>
            <a:ext cx="514391" cy="705968"/>
          </a:xfrm>
          <a:prstGeom prst="rect">
            <a:avLst/>
          </a:prstGeom>
          <a:noFill/>
          <a:ln/>
        </p:spPr>
        <p:txBody>
          <a:bodyPr wrap="square" lIns="25400" tIns="25400" rIns="25400" bIns="25400" rtlCol="0" anchor="t">
            <a:normAutofit/>
          </a:bodyPr>
          <a:lstStyle/>
          <a:p>
            <a:pPr marL="0" indent="0" algn="l">
              <a:buNone/>
            </a:pPr>
            <a:r>
              <a:rPr lang="en-US" sz="3450" dirty="0">
                <a:solidFill>
                  <a:srgbClr val="9A9183"/>
                </a:solidFill>
                <a:latin typeface="Georgia" pitchFamily="34" charset="0"/>
                <a:ea typeface="Georgia" pitchFamily="34" charset="-122"/>
                <a:cs typeface="Georgia" pitchFamily="34" charset="-120"/>
              </a:rPr>
              <a:t>→</a:t>
            </a:r>
            <a:endParaRPr lang="en-US" sz="3450" dirty="0"/>
          </a:p>
        </p:txBody>
      </p:sp>
      <p:sp>
        <p:nvSpPr>
          <p:cNvPr id="9" name="Text 7"/>
          <p:cNvSpPr/>
          <p:nvPr/>
        </p:nvSpPr>
        <p:spPr>
          <a:xfrm>
            <a:off x="7776128" y="4330107"/>
            <a:ext cx="487680" cy="332298"/>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Courier New" pitchFamily="34" charset="0"/>
                <a:ea typeface="Courier New" pitchFamily="34" charset="-122"/>
                <a:cs typeface="Courier New" pitchFamily="34" charset="-120"/>
              </a:rPr>
              <a:t>128</a:t>
            </a:r>
            <a:endParaRPr lang="en-US" sz="1800" dirty="0"/>
          </a:p>
        </p:txBody>
      </p:sp>
      <p:sp>
        <p:nvSpPr>
          <p:cNvPr id="10" name="Shape 8"/>
          <p:cNvSpPr/>
          <p:nvPr/>
        </p:nvSpPr>
        <p:spPr>
          <a:xfrm>
            <a:off x="7324642" y="4757614"/>
            <a:ext cx="1314450" cy="3276435"/>
          </a:xfrm>
          <a:prstGeom prst="roundRect">
            <a:avLst>
              <a:gd name="adj" fmla="val 5797"/>
            </a:avLst>
          </a:prstGeom>
          <a:solidFill>
            <a:srgbClr val="2F5FA8"/>
          </a:solidFill>
          <a:ln/>
        </p:spPr>
        <p:txBody>
          <a:bodyPr/>
          <a:lstStyle/>
          <a:p>
            <a:endParaRPr lang="en-CA"/>
          </a:p>
        </p:txBody>
      </p:sp>
      <p:sp>
        <p:nvSpPr>
          <p:cNvPr id="11" name="Text 9"/>
          <p:cNvSpPr/>
          <p:nvPr/>
        </p:nvSpPr>
        <p:spPr>
          <a:xfrm rot="10800000">
            <a:off x="7834768" y="6042992"/>
            <a:ext cx="370398" cy="1819689"/>
          </a:xfrm>
          <a:prstGeom prst="rect">
            <a:avLst/>
          </a:prstGeom>
          <a:noFill/>
          <a:ln/>
        </p:spPr>
        <p:txBody>
          <a:bodyPr vert="eaVert" wrap="square" lIns="25400" tIns="25400" rIns="25400" bIns="25400" rtlCol="0" anchor="t">
            <a:normAutofit/>
          </a:bodyPr>
          <a:lstStyle/>
          <a:p>
            <a:pPr marL="0" indent="0" algn="l">
              <a:buNone/>
            </a:pPr>
            <a:r>
              <a:rPr lang="en-US" sz="1800" kern="0" spc="72" dirty="0">
                <a:solidFill>
                  <a:srgbClr val="FFFFFF"/>
                </a:solidFill>
                <a:latin typeface="Arial" pitchFamily="34" charset="0"/>
                <a:ea typeface="Arial" pitchFamily="34" charset="-122"/>
                <a:cs typeface="Arial" pitchFamily="34" charset="-120"/>
              </a:rPr>
              <a:t>Hidden 1 · ReLU</a:t>
            </a:r>
            <a:endParaRPr lang="en-US" sz="1800" dirty="0"/>
          </a:p>
        </p:txBody>
      </p:sp>
      <p:sp>
        <p:nvSpPr>
          <p:cNvPr id="12" name="Text 10"/>
          <p:cNvSpPr/>
          <p:nvPr/>
        </p:nvSpPr>
        <p:spPr>
          <a:xfrm>
            <a:off x="8924842" y="5746930"/>
            <a:ext cx="514391" cy="705968"/>
          </a:xfrm>
          <a:prstGeom prst="rect">
            <a:avLst/>
          </a:prstGeom>
          <a:noFill/>
          <a:ln/>
        </p:spPr>
        <p:txBody>
          <a:bodyPr wrap="square" lIns="25400" tIns="25400" rIns="25400" bIns="25400" rtlCol="0" anchor="t">
            <a:normAutofit/>
          </a:bodyPr>
          <a:lstStyle/>
          <a:p>
            <a:pPr marL="0" indent="0" algn="l">
              <a:buNone/>
            </a:pPr>
            <a:r>
              <a:rPr lang="en-US" sz="3450" dirty="0">
                <a:solidFill>
                  <a:srgbClr val="9A9183"/>
                </a:solidFill>
                <a:latin typeface="Georgia" pitchFamily="34" charset="0"/>
                <a:ea typeface="Georgia" pitchFamily="34" charset="-122"/>
                <a:cs typeface="Georgia" pitchFamily="34" charset="-120"/>
              </a:rPr>
              <a:t>→</a:t>
            </a:r>
            <a:endParaRPr lang="en-US" sz="3450" dirty="0"/>
          </a:p>
        </p:txBody>
      </p:sp>
      <p:sp>
        <p:nvSpPr>
          <p:cNvPr id="13" name="Text 11"/>
          <p:cNvSpPr/>
          <p:nvPr/>
        </p:nvSpPr>
        <p:spPr>
          <a:xfrm>
            <a:off x="10168849" y="5073057"/>
            <a:ext cx="350520" cy="332298"/>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Courier New" pitchFamily="34" charset="0"/>
                <a:ea typeface="Courier New" pitchFamily="34" charset="-122"/>
                <a:cs typeface="Courier New" pitchFamily="34" charset="-120"/>
              </a:rPr>
              <a:t>64</a:t>
            </a:r>
            <a:endParaRPr lang="en-US" sz="1800" dirty="0"/>
          </a:p>
        </p:txBody>
      </p:sp>
      <p:sp>
        <p:nvSpPr>
          <p:cNvPr id="14" name="Shape 12"/>
          <p:cNvSpPr/>
          <p:nvPr/>
        </p:nvSpPr>
        <p:spPr>
          <a:xfrm>
            <a:off x="9648784" y="5500564"/>
            <a:ext cx="1314450" cy="2533485"/>
          </a:xfrm>
          <a:prstGeom prst="roundRect">
            <a:avLst>
              <a:gd name="adj" fmla="val 5797"/>
            </a:avLst>
          </a:prstGeom>
          <a:solidFill>
            <a:srgbClr val="1F7A5C"/>
          </a:solidFill>
          <a:ln/>
        </p:spPr>
        <p:txBody>
          <a:bodyPr/>
          <a:lstStyle/>
          <a:p>
            <a:endParaRPr lang="en-CA"/>
          </a:p>
        </p:txBody>
      </p:sp>
      <p:sp>
        <p:nvSpPr>
          <p:cNvPr id="15" name="Text 13"/>
          <p:cNvSpPr/>
          <p:nvPr/>
        </p:nvSpPr>
        <p:spPr>
          <a:xfrm rot="10800000">
            <a:off x="10158910" y="6042992"/>
            <a:ext cx="370398" cy="1819689"/>
          </a:xfrm>
          <a:prstGeom prst="rect">
            <a:avLst/>
          </a:prstGeom>
          <a:noFill/>
          <a:ln/>
        </p:spPr>
        <p:txBody>
          <a:bodyPr vert="eaVert" wrap="square" lIns="25400" tIns="25400" rIns="25400" bIns="25400" rtlCol="0" anchor="t">
            <a:normAutofit/>
          </a:bodyPr>
          <a:lstStyle/>
          <a:p>
            <a:pPr marL="0" indent="0" algn="l">
              <a:buNone/>
            </a:pPr>
            <a:r>
              <a:rPr lang="en-US" sz="1800" kern="0" spc="72" dirty="0">
                <a:solidFill>
                  <a:srgbClr val="FFFFFF"/>
                </a:solidFill>
                <a:latin typeface="Arial" pitchFamily="34" charset="0"/>
                <a:ea typeface="Arial" pitchFamily="34" charset="-122"/>
                <a:cs typeface="Arial" pitchFamily="34" charset="-120"/>
              </a:rPr>
              <a:t>Hidden 2 · ReLU</a:t>
            </a:r>
            <a:endParaRPr lang="en-US" sz="1800" dirty="0"/>
          </a:p>
        </p:txBody>
      </p:sp>
      <p:sp>
        <p:nvSpPr>
          <p:cNvPr id="16" name="Text 14"/>
          <p:cNvSpPr/>
          <p:nvPr/>
        </p:nvSpPr>
        <p:spPr>
          <a:xfrm>
            <a:off x="11248984" y="5746930"/>
            <a:ext cx="514391" cy="705968"/>
          </a:xfrm>
          <a:prstGeom prst="rect">
            <a:avLst/>
          </a:prstGeom>
          <a:noFill/>
          <a:ln/>
        </p:spPr>
        <p:txBody>
          <a:bodyPr wrap="square" lIns="25400" tIns="25400" rIns="25400" bIns="25400" rtlCol="0" anchor="t">
            <a:normAutofit/>
          </a:bodyPr>
          <a:lstStyle/>
          <a:p>
            <a:pPr marL="0" indent="0" algn="l">
              <a:buNone/>
            </a:pPr>
            <a:r>
              <a:rPr lang="en-US" sz="3450" dirty="0">
                <a:solidFill>
                  <a:srgbClr val="9A9183"/>
                </a:solidFill>
                <a:latin typeface="Georgia" pitchFamily="34" charset="0"/>
                <a:ea typeface="Georgia" pitchFamily="34" charset="-122"/>
                <a:cs typeface="Georgia" pitchFamily="34" charset="-120"/>
              </a:rPr>
              <a:t>→</a:t>
            </a:r>
            <a:endParaRPr lang="en-US" sz="3450" dirty="0"/>
          </a:p>
        </p:txBody>
      </p:sp>
      <p:sp>
        <p:nvSpPr>
          <p:cNvPr id="17" name="Text 15"/>
          <p:cNvSpPr/>
          <p:nvPr/>
        </p:nvSpPr>
        <p:spPr>
          <a:xfrm>
            <a:off x="12492991" y="6044483"/>
            <a:ext cx="350520" cy="332298"/>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Courier New" pitchFamily="34" charset="0"/>
                <a:ea typeface="Courier New" pitchFamily="34" charset="-122"/>
                <a:cs typeface="Courier New" pitchFamily="34" charset="-120"/>
              </a:rPr>
              <a:t>10</a:t>
            </a:r>
            <a:endParaRPr lang="en-US" sz="1800" dirty="0"/>
          </a:p>
        </p:txBody>
      </p:sp>
      <p:sp>
        <p:nvSpPr>
          <p:cNvPr id="18" name="Shape 16"/>
          <p:cNvSpPr/>
          <p:nvPr/>
        </p:nvSpPr>
        <p:spPr>
          <a:xfrm>
            <a:off x="11972926" y="6471989"/>
            <a:ext cx="1314450" cy="1562059"/>
          </a:xfrm>
          <a:prstGeom prst="roundRect">
            <a:avLst>
              <a:gd name="adj" fmla="val 5797"/>
            </a:avLst>
          </a:prstGeom>
          <a:solidFill>
            <a:srgbClr val="BD3B25"/>
          </a:solidFill>
          <a:ln/>
        </p:spPr>
        <p:txBody>
          <a:bodyPr/>
          <a:lstStyle/>
          <a:p>
            <a:endParaRPr lang="en-CA"/>
          </a:p>
        </p:txBody>
      </p:sp>
      <p:sp>
        <p:nvSpPr>
          <p:cNvPr id="19" name="Text 17"/>
          <p:cNvSpPr/>
          <p:nvPr/>
        </p:nvSpPr>
        <p:spPr>
          <a:xfrm rot="10800000">
            <a:off x="12335953" y="6643439"/>
            <a:ext cx="664597" cy="1257259"/>
          </a:xfrm>
          <a:prstGeom prst="rect">
            <a:avLst/>
          </a:prstGeom>
          <a:noFill/>
          <a:ln/>
        </p:spPr>
        <p:txBody>
          <a:bodyPr vert="eaVert" wrap="square" lIns="25400" tIns="25400" rIns="25400" bIns="25400" rtlCol="0" anchor="t">
            <a:normAutofit/>
          </a:bodyPr>
          <a:lstStyle/>
          <a:p>
            <a:pPr marL="0" indent="0" algn="l">
              <a:buNone/>
            </a:pPr>
            <a:r>
              <a:rPr lang="en-US" sz="1800" kern="0" spc="72" dirty="0">
                <a:solidFill>
                  <a:srgbClr val="FFFFFF"/>
                </a:solidFill>
                <a:latin typeface="Arial" pitchFamily="34" charset="0"/>
                <a:ea typeface="Arial" pitchFamily="34" charset="-122"/>
                <a:cs typeface="Arial" pitchFamily="34" charset="-120"/>
              </a:rPr>
              <a:t>Output · Softmax</a:t>
            </a:r>
            <a:endParaRPr lang="en-US" sz="1800" dirty="0"/>
          </a:p>
        </p:txBody>
      </p:sp>
      <p:sp>
        <p:nvSpPr>
          <p:cNvPr id="20" name="Shape 18"/>
          <p:cNvSpPr/>
          <p:nvPr/>
        </p:nvSpPr>
        <p:spPr>
          <a:xfrm>
            <a:off x="1028700" y="9032434"/>
            <a:ext cx="16230601" cy="9525"/>
          </a:xfrm>
          <a:prstGeom prst="rect">
            <a:avLst/>
          </a:prstGeom>
          <a:solidFill>
            <a:srgbClr val="201D18">
              <a:alpha val="16000"/>
            </a:srgbClr>
          </a:solidFill>
          <a:ln/>
        </p:spPr>
        <p:txBody>
          <a:bodyPr/>
          <a:lstStyle/>
          <a:p>
            <a:endParaRPr lang="en-CA"/>
          </a:p>
        </p:txBody>
      </p:sp>
      <p:sp>
        <p:nvSpPr>
          <p:cNvPr id="21" name="Text 19"/>
          <p:cNvSpPr/>
          <p:nvPr/>
        </p:nvSpPr>
        <p:spPr>
          <a:xfrm>
            <a:off x="1028700" y="9268985"/>
            <a:ext cx="5106415" cy="332298"/>
          </a:xfrm>
          <a:prstGeom prst="rect">
            <a:avLst/>
          </a:prstGeom>
          <a:noFill/>
          <a:ln/>
        </p:spPr>
        <p:txBody>
          <a:bodyPr wrap="square" lIns="25400" tIns="25400" rIns="25400" bIns="25400" rtlCol="0" anchor="t">
            <a:normAutofit/>
          </a:bodyPr>
          <a:lstStyle/>
          <a:p>
            <a:pPr marL="0" indent="0" algn="l">
              <a:buNone/>
            </a:pPr>
            <a:r>
              <a:rPr lang="en-US" sz="1800" dirty="0">
                <a:solidFill>
                  <a:srgbClr val="BD3B25"/>
                </a:solidFill>
                <a:latin typeface="Courier New" pitchFamily="34" charset="0"/>
                <a:ea typeface="Courier New" pitchFamily="34" charset="-122"/>
                <a:cs typeface="Courier New" pitchFamily="34" charset="-120"/>
              </a:rPr>
              <a:t>Loss </a:t>
            </a:r>
            <a:r>
              <a:rPr lang="en-US" sz="1800" dirty="0">
                <a:solidFill>
                  <a:srgbClr val="5C564C"/>
                </a:solidFill>
                <a:latin typeface="Arial" pitchFamily="34" charset="0"/>
                <a:ea typeface="Arial" pitchFamily="34" charset="-122"/>
                <a:cs typeface="Arial" pitchFamily="34" charset="-120"/>
              </a:rPr>
              <a:t>Cross-Entropy (softmax applied inside)</a:t>
            </a:r>
            <a:endParaRPr lang="en-US" sz="1800" dirty="0"/>
          </a:p>
        </p:txBody>
      </p:sp>
      <p:sp>
        <p:nvSpPr>
          <p:cNvPr id="22" name="Text 20"/>
          <p:cNvSpPr/>
          <p:nvPr/>
        </p:nvSpPr>
        <p:spPr>
          <a:xfrm>
            <a:off x="6051813" y="9268985"/>
            <a:ext cx="7977159" cy="332298"/>
          </a:xfrm>
          <a:prstGeom prst="rect">
            <a:avLst/>
          </a:prstGeom>
          <a:noFill/>
          <a:ln/>
        </p:spPr>
        <p:txBody>
          <a:bodyPr wrap="square" lIns="25400" tIns="25400" rIns="25400" bIns="25400" rtlCol="0" anchor="t">
            <a:normAutofit/>
          </a:bodyPr>
          <a:lstStyle/>
          <a:p>
            <a:pPr marL="0" indent="0" algn="l">
              <a:buNone/>
            </a:pPr>
            <a:r>
              <a:rPr lang="en-US" sz="1800" dirty="0">
                <a:solidFill>
                  <a:srgbClr val="BD3B25"/>
                </a:solidFill>
                <a:latin typeface="Courier New" pitchFamily="34" charset="0"/>
                <a:ea typeface="Courier New" pitchFamily="34" charset="-122"/>
                <a:cs typeface="Courier New" pitchFamily="34" charset="-120"/>
              </a:rPr>
              <a:t>Fixed </a:t>
            </a:r>
            <a:r>
              <a:rPr lang="en-US" sz="1800" dirty="0">
                <a:solidFill>
                  <a:srgbClr val="5C564C"/>
                </a:solidFill>
                <a:latin typeface="Arial" pitchFamily="34" charset="0"/>
                <a:ea typeface="Arial" pitchFamily="34" charset="-122"/>
                <a:cs typeface="Arial" pitchFamily="34" charset="-120"/>
              </a:rPr>
              <a:t>Architecture frozen — differences come only from the optimizer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17853661"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THE CONTENDERS</a:t>
            </a:r>
            <a:endParaRPr lang="en-US" sz="1800" dirty="0"/>
          </a:p>
        </p:txBody>
      </p:sp>
      <p:sp>
        <p:nvSpPr>
          <p:cNvPr id="3" name="Text 1"/>
          <p:cNvSpPr/>
          <p:nvPr/>
        </p:nvSpPr>
        <p:spPr>
          <a:xfrm>
            <a:off x="1028700" y="1341907"/>
            <a:ext cx="1785366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Three optimizers at a glance</a:t>
            </a:r>
            <a:endParaRPr lang="en-US" sz="5550" dirty="0"/>
          </a:p>
        </p:txBody>
      </p:sp>
      <p:sp>
        <p:nvSpPr>
          <p:cNvPr id="4" name="Shape 2"/>
          <p:cNvSpPr/>
          <p:nvPr/>
        </p:nvSpPr>
        <p:spPr>
          <a:xfrm>
            <a:off x="1028700" y="2446765"/>
            <a:ext cx="5194314" cy="7116418"/>
          </a:xfrm>
          <a:prstGeom prst="roundRect">
            <a:avLst>
              <a:gd name="adj" fmla="val 1834"/>
            </a:avLst>
          </a:prstGeom>
          <a:solidFill>
            <a:srgbClr val="FFFFFF"/>
          </a:solidFill>
          <a:ln/>
        </p:spPr>
        <p:txBody>
          <a:bodyPr/>
          <a:lstStyle/>
          <a:p>
            <a:endParaRPr lang="en-CA"/>
          </a:p>
        </p:txBody>
      </p:sp>
      <p:sp>
        <p:nvSpPr>
          <p:cNvPr id="5" name="Shape 3"/>
          <p:cNvSpPr/>
          <p:nvPr/>
        </p:nvSpPr>
        <p:spPr>
          <a:xfrm>
            <a:off x="1028700" y="2446765"/>
            <a:ext cx="5194314" cy="55659"/>
          </a:xfrm>
          <a:prstGeom prst="rect">
            <a:avLst/>
          </a:prstGeom>
          <a:solidFill>
            <a:srgbClr val="2F5FA8"/>
          </a:solidFill>
          <a:ln/>
        </p:spPr>
        <p:txBody>
          <a:bodyPr/>
          <a:lstStyle/>
          <a:p>
            <a:endParaRPr lang="en-CA"/>
          </a:p>
        </p:txBody>
      </p:sp>
      <p:sp>
        <p:nvSpPr>
          <p:cNvPr id="6" name="Text 4"/>
          <p:cNvSpPr/>
          <p:nvPr/>
        </p:nvSpPr>
        <p:spPr>
          <a:xfrm>
            <a:off x="1390609" y="2902475"/>
            <a:ext cx="4917547" cy="332298"/>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2F5FA8"/>
                </a:solidFill>
                <a:latin typeface="Courier New" pitchFamily="34" charset="0"/>
                <a:ea typeface="Courier New" pitchFamily="34" charset="-122"/>
                <a:cs typeface="Courier New" pitchFamily="34" charset="-120"/>
              </a:rPr>
              <a:t>RUCHI</a:t>
            </a:r>
            <a:endParaRPr lang="en-US" sz="1800" dirty="0"/>
          </a:p>
        </p:txBody>
      </p:sp>
      <p:sp>
        <p:nvSpPr>
          <p:cNvPr id="7" name="Text 5"/>
          <p:cNvSpPr/>
          <p:nvPr/>
        </p:nvSpPr>
        <p:spPr>
          <a:xfrm>
            <a:off x="1390609" y="3253823"/>
            <a:ext cx="4917547" cy="737815"/>
          </a:xfrm>
          <a:prstGeom prst="rect">
            <a:avLst/>
          </a:prstGeom>
          <a:noFill/>
          <a:ln/>
        </p:spPr>
        <p:txBody>
          <a:bodyPr wrap="square" lIns="25400" tIns="25400" rIns="25400" bIns="25400" rtlCol="0" anchor="t">
            <a:normAutofit/>
          </a:bodyPr>
          <a:lstStyle/>
          <a:p>
            <a:pPr marL="0" indent="0" algn="l">
              <a:buNone/>
            </a:pPr>
            <a:r>
              <a:rPr lang="en-US" sz="3600" b="1" dirty="0">
                <a:solidFill>
                  <a:srgbClr val="201D18"/>
                </a:solidFill>
                <a:latin typeface="Georgia" pitchFamily="34" charset="0"/>
                <a:ea typeface="Georgia" pitchFamily="34" charset="-122"/>
                <a:cs typeface="Georgia" pitchFamily="34" charset="-120"/>
              </a:rPr>
              <a:t>Adam</a:t>
            </a:r>
            <a:endParaRPr lang="en-US" sz="3600" dirty="0"/>
          </a:p>
        </p:txBody>
      </p:sp>
      <p:sp>
        <p:nvSpPr>
          <p:cNvPr id="8" name="Text 6"/>
          <p:cNvSpPr/>
          <p:nvPr/>
        </p:nvSpPr>
        <p:spPr>
          <a:xfrm>
            <a:off x="1390609" y="3972546"/>
            <a:ext cx="4917547" cy="332298"/>
          </a:xfrm>
          <a:prstGeom prst="rect">
            <a:avLst/>
          </a:prstGeom>
          <a:noFill/>
          <a:ln/>
        </p:spPr>
        <p:txBody>
          <a:bodyPr wrap="square" lIns="25400" tIns="25400" rIns="25400" bIns="25400" rtlCol="0" anchor="t">
            <a:normAutofit/>
          </a:bodyPr>
          <a:lstStyle/>
          <a:p>
            <a:pPr marL="0" indent="0" algn="l">
              <a:buNone/>
            </a:pPr>
            <a:r>
              <a:rPr lang="en-US" sz="1800" dirty="0">
                <a:solidFill>
                  <a:srgbClr val="9A9183"/>
                </a:solidFill>
                <a:latin typeface="Arial" pitchFamily="34" charset="0"/>
                <a:ea typeface="Arial" pitchFamily="34" charset="-122"/>
                <a:cs typeface="Arial" pitchFamily="34" charset="-120"/>
              </a:rPr>
              <a:t>Adaptive Moment Estimation</a:t>
            </a:r>
            <a:endParaRPr lang="en-US" sz="1800" dirty="0"/>
          </a:p>
        </p:txBody>
      </p:sp>
      <p:sp>
        <p:nvSpPr>
          <p:cNvPr id="9" name="Text 7"/>
          <p:cNvSpPr/>
          <p:nvPr/>
        </p:nvSpPr>
        <p:spPr>
          <a:xfrm>
            <a:off x="1390609" y="4514353"/>
            <a:ext cx="4604612" cy="4003813"/>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5C564C"/>
                </a:solidFill>
                <a:latin typeface="Arial" pitchFamily="34" charset="0"/>
                <a:ea typeface="Arial" pitchFamily="34" charset="-122"/>
                <a:cs typeface="Arial" pitchFamily="34" charset="-120"/>
              </a:rPr>
              <a:t>Per-parameter learning rates from running estimates of the gradient's </a:t>
            </a:r>
            <a:r>
              <a:rPr lang="en-US" sz="2100" b="1" dirty="0">
                <a:solidFill>
                  <a:srgbClr val="201D18"/>
                </a:solidFill>
                <a:latin typeface="Arial" pitchFamily="34" charset="0"/>
                <a:ea typeface="Arial" pitchFamily="34" charset="-122"/>
                <a:cs typeface="Arial" pitchFamily="34" charset="-120"/>
              </a:rPr>
              <a:t>momentum </a:t>
            </a:r>
            <a:r>
              <a:rPr lang="en-US" sz="2100" dirty="0">
                <a:solidFill>
                  <a:srgbClr val="5C564C"/>
                </a:solidFill>
                <a:latin typeface="Arial" pitchFamily="34" charset="0"/>
                <a:ea typeface="Arial" pitchFamily="34" charset="-122"/>
                <a:cs typeface="Arial" pitchFamily="34" charset="-120"/>
              </a:rPr>
              <a:t>and </a:t>
            </a:r>
            <a:r>
              <a:rPr lang="en-US" sz="2100" b="1" dirty="0">
                <a:solidFill>
                  <a:srgbClr val="201D18"/>
                </a:solidFill>
                <a:latin typeface="Arial" pitchFamily="34" charset="0"/>
                <a:ea typeface="Arial" pitchFamily="34" charset="-122"/>
                <a:cs typeface="Arial" pitchFamily="34" charset="-120"/>
              </a:rPr>
              <a:t>variance</a:t>
            </a:r>
            <a:r>
              <a:rPr lang="en-US" sz="2100" dirty="0">
                <a:solidFill>
                  <a:srgbClr val="5C564C"/>
                </a:solidFill>
                <a:latin typeface="Arial" pitchFamily="34" charset="0"/>
                <a:ea typeface="Arial" pitchFamily="34" charset="-122"/>
                <a:cs typeface="Arial" pitchFamily="34" charset="-120"/>
              </a:rPr>
              <a:t>.</a:t>
            </a:r>
            <a:endParaRPr lang="en-US" sz="2100" dirty="0"/>
          </a:p>
        </p:txBody>
      </p:sp>
      <p:sp>
        <p:nvSpPr>
          <p:cNvPr id="10" name="Shape 8"/>
          <p:cNvSpPr/>
          <p:nvPr/>
        </p:nvSpPr>
        <p:spPr>
          <a:xfrm>
            <a:off x="1390609" y="8670525"/>
            <a:ext cx="4470497" cy="9525"/>
          </a:xfrm>
          <a:prstGeom prst="rect">
            <a:avLst/>
          </a:prstGeom>
          <a:solidFill>
            <a:srgbClr val="201D18">
              <a:alpha val="16000"/>
            </a:srgbClr>
          </a:solidFill>
          <a:ln/>
        </p:spPr>
        <p:txBody>
          <a:bodyPr/>
          <a:lstStyle/>
          <a:p>
            <a:endParaRPr lang="en-CA"/>
          </a:p>
        </p:txBody>
      </p:sp>
      <p:sp>
        <p:nvSpPr>
          <p:cNvPr id="11" name="Text 9"/>
          <p:cNvSpPr/>
          <p:nvPr/>
        </p:nvSpPr>
        <p:spPr>
          <a:xfrm>
            <a:off x="1390609" y="8868977"/>
            <a:ext cx="4604612" cy="332257"/>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Arial" pitchFamily="34" charset="0"/>
                <a:ea typeface="Arial" pitchFamily="34" charset="-122"/>
                <a:cs typeface="Arial" pitchFamily="34" charset="-120"/>
              </a:rPr>
              <a:t>We vary </a:t>
            </a:r>
            <a:r>
              <a:rPr lang="en-US" sz="1800" dirty="0">
                <a:solidFill>
                  <a:srgbClr val="201D18"/>
                </a:solidFill>
                <a:latin typeface="Courier New" pitchFamily="34" charset="0"/>
                <a:ea typeface="Courier New" pitchFamily="34" charset="-122"/>
                <a:cs typeface="Courier New" pitchFamily="34" charset="-120"/>
              </a:rPr>
              <a:t>lr · β₁</a:t>
            </a:r>
            <a:endParaRPr lang="en-US" sz="1800" dirty="0"/>
          </a:p>
        </p:txBody>
      </p:sp>
      <p:sp>
        <p:nvSpPr>
          <p:cNvPr id="12" name="Shape 10"/>
          <p:cNvSpPr/>
          <p:nvPr/>
        </p:nvSpPr>
        <p:spPr>
          <a:xfrm>
            <a:off x="6546781" y="2446765"/>
            <a:ext cx="5194438" cy="7116418"/>
          </a:xfrm>
          <a:prstGeom prst="roundRect">
            <a:avLst>
              <a:gd name="adj" fmla="val 1834"/>
            </a:avLst>
          </a:prstGeom>
          <a:solidFill>
            <a:srgbClr val="FFFFFF"/>
          </a:solidFill>
          <a:ln/>
        </p:spPr>
        <p:txBody>
          <a:bodyPr/>
          <a:lstStyle/>
          <a:p>
            <a:endParaRPr lang="en-CA"/>
          </a:p>
        </p:txBody>
      </p:sp>
      <p:sp>
        <p:nvSpPr>
          <p:cNvPr id="13" name="Shape 11"/>
          <p:cNvSpPr/>
          <p:nvPr/>
        </p:nvSpPr>
        <p:spPr>
          <a:xfrm>
            <a:off x="6546781" y="2446765"/>
            <a:ext cx="5194438" cy="55659"/>
          </a:xfrm>
          <a:prstGeom prst="rect">
            <a:avLst/>
          </a:prstGeom>
          <a:solidFill>
            <a:srgbClr val="1F7A5C"/>
          </a:solidFill>
          <a:ln/>
        </p:spPr>
        <p:txBody>
          <a:bodyPr/>
          <a:lstStyle/>
          <a:p>
            <a:endParaRPr lang="en-CA"/>
          </a:p>
        </p:txBody>
      </p:sp>
      <p:sp>
        <p:nvSpPr>
          <p:cNvPr id="14" name="Text 12"/>
          <p:cNvSpPr/>
          <p:nvPr/>
        </p:nvSpPr>
        <p:spPr>
          <a:xfrm>
            <a:off x="6908690" y="2902475"/>
            <a:ext cx="4917683" cy="332298"/>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1F7A5C"/>
                </a:solidFill>
                <a:latin typeface="Courier New" pitchFamily="34" charset="0"/>
                <a:ea typeface="Courier New" pitchFamily="34" charset="-122"/>
                <a:cs typeface="Courier New" pitchFamily="34" charset="-120"/>
              </a:rPr>
              <a:t>KRUTIK</a:t>
            </a:r>
            <a:endParaRPr lang="en-US" sz="1800" dirty="0"/>
          </a:p>
        </p:txBody>
      </p:sp>
      <p:sp>
        <p:nvSpPr>
          <p:cNvPr id="15" name="Text 13"/>
          <p:cNvSpPr/>
          <p:nvPr/>
        </p:nvSpPr>
        <p:spPr>
          <a:xfrm>
            <a:off x="6908690" y="3253823"/>
            <a:ext cx="4917683" cy="737815"/>
          </a:xfrm>
          <a:prstGeom prst="rect">
            <a:avLst/>
          </a:prstGeom>
          <a:noFill/>
          <a:ln/>
        </p:spPr>
        <p:txBody>
          <a:bodyPr wrap="square" lIns="25400" tIns="25400" rIns="25400" bIns="25400" rtlCol="0" anchor="t">
            <a:normAutofit/>
          </a:bodyPr>
          <a:lstStyle/>
          <a:p>
            <a:pPr marL="0" indent="0" algn="l">
              <a:buNone/>
            </a:pPr>
            <a:r>
              <a:rPr lang="en-US" sz="3600" b="1" dirty="0">
                <a:solidFill>
                  <a:srgbClr val="201D18"/>
                </a:solidFill>
                <a:latin typeface="Georgia" pitchFamily="34" charset="0"/>
                <a:ea typeface="Georgia" pitchFamily="34" charset="-122"/>
                <a:cs typeface="Georgia" pitchFamily="34" charset="-120"/>
              </a:rPr>
              <a:t>RMSprop</a:t>
            </a:r>
            <a:endParaRPr lang="en-US" sz="3600" dirty="0"/>
          </a:p>
        </p:txBody>
      </p:sp>
      <p:sp>
        <p:nvSpPr>
          <p:cNvPr id="16" name="Text 14"/>
          <p:cNvSpPr/>
          <p:nvPr/>
        </p:nvSpPr>
        <p:spPr>
          <a:xfrm>
            <a:off x="6908690" y="3972546"/>
            <a:ext cx="4917683" cy="332298"/>
          </a:xfrm>
          <a:prstGeom prst="rect">
            <a:avLst/>
          </a:prstGeom>
          <a:noFill/>
          <a:ln/>
        </p:spPr>
        <p:txBody>
          <a:bodyPr wrap="square" lIns="25400" tIns="25400" rIns="25400" bIns="25400" rtlCol="0" anchor="t">
            <a:normAutofit/>
          </a:bodyPr>
          <a:lstStyle/>
          <a:p>
            <a:pPr marL="0" indent="0" algn="l">
              <a:buNone/>
            </a:pPr>
            <a:r>
              <a:rPr lang="en-US" sz="1800" dirty="0">
                <a:solidFill>
                  <a:srgbClr val="9A9183"/>
                </a:solidFill>
                <a:latin typeface="Arial" pitchFamily="34" charset="0"/>
                <a:ea typeface="Arial" pitchFamily="34" charset="-122"/>
                <a:cs typeface="Arial" pitchFamily="34" charset="-120"/>
              </a:rPr>
              <a:t>Root Mean Square Propagation</a:t>
            </a:r>
            <a:endParaRPr lang="en-US" sz="1800" dirty="0"/>
          </a:p>
        </p:txBody>
      </p:sp>
      <p:sp>
        <p:nvSpPr>
          <p:cNvPr id="17" name="Text 15"/>
          <p:cNvSpPr/>
          <p:nvPr/>
        </p:nvSpPr>
        <p:spPr>
          <a:xfrm>
            <a:off x="6908690" y="4514353"/>
            <a:ext cx="4604740" cy="4003813"/>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5C564C"/>
                </a:solidFill>
                <a:latin typeface="Arial" pitchFamily="34" charset="0"/>
                <a:ea typeface="Arial" pitchFamily="34" charset="-122"/>
                <a:cs typeface="Arial" pitchFamily="34" charset="-120"/>
              </a:rPr>
              <a:t>Divides the learning rate by a </a:t>
            </a:r>
            <a:r>
              <a:rPr lang="en-US" sz="2100" b="1" dirty="0">
                <a:solidFill>
                  <a:srgbClr val="201D18"/>
                </a:solidFill>
                <a:latin typeface="Arial" pitchFamily="34" charset="0"/>
                <a:ea typeface="Arial" pitchFamily="34" charset="-122"/>
                <a:cs typeface="Arial" pitchFamily="34" charset="-120"/>
              </a:rPr>
              <a:t>running average of squared gradients </a:t>
            </a:r>
            <a:r>
              <a:rPr lang="en-US" sz="2100" dirty="0">
                <a:solidFill>
                  <a:srgbClr val="5C564C"/>
                </a:solidFill>
                <a:latin typeface="Arial" pitchFamily="34" charset="0"/>
                <a:ea typeface="Arial" pitchFamily="34" charset="-122"/>
                <a:cs typeface="Arial" pitchFamily="34" charset="-120"/>
              </a:rPr>
              <a:t>, keeping update sizes in check.</a:t>
            </a:r>
            <a:endParaRPr lang="en-US" sz="2100" dirty="0"/>
          </a:p>
        </p:txBody>
      </p:sp>
      <p:sp>
        <p:nvSpPr>
          <p:cNvPr id="18" name="Shape 16"/>
          <p:cNvSpPr/>
          <p:nvPr/>
        </p:nvSpPr>
        <p:spPr>
          <a:xfrm>
            <a:off x="6908690" y="8670525"/>
            <a:ext cx="4470621" cy="9525"/>
          </a:xfrm>
          <a:prstGeom prst="rect">
            <a:avLst/>
          </a:prstGeom>
          <a:solidFill>
            <a:srgbClr val="201D18">
              <a:alpha val="16000"/>
            </a:srgbClr>
          </a:solidFill>
          <a:ln/>
        </p:spPr>
        <p:txBody>
          <a:bodyPr/>
          <a:lstStyle/>
          <a:p>
            <a:endParaRPr lang="en-CA"/>
          </a:p>
        </p:txBody>
      </p:sp>
      <p:sp>
        <p:nvSpPr>
          <p:cNvPr id="19" name="Text 17"/>
          <p:cNvSpPr/>
          <p:nvPr/>
        </p:nvSpPr>
        <p:spPr>
          <a:xfrm>
            <a:off x="6908690" y="8868977"/>
            <a:ext cx="4604740" cy="332257"/>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Arial" pitchFamily="34" charset="0"/>
                <a:ea typeface="Arial" pitchFamily="34" charset="-122"/>
                <a:cs typeface="Arial" pitchFamily="34" charset="-120"/>
              </a:rPr>
              <a:t>We vary </a:t>
            </a:r>
            <a:r>
              <a:rPr lang="en-US" sz="1800" dirty="0">
                <a:solidFill>
                  <a:srgbClr val="201D18"/>
                </a:solidFill>
                <a:latin typeface="Courier New" pitchFamily="34" charset="0"/>
                <a:ea typeface="Courier New" pitchFamily="34" charset="-122"/>
                <a:cs typeface="Courier New" pitchFamily="34" charset="-120"/>
              </a:rPr>
              <a:t>lr · α</a:t>
            </a:r>
            <a:endParaRPr lang="en-US" sz="1800" dirty="0"/>
          </a:p>
        </p:txBody>
      </p:sp>
      <p:sp>
        <p:nvSpPr>
          <p:cNvPr id="20" name="Shape 18"/>
          <p:cNvSpPr/>
          <p:nvPr/>
        </p:nvSpPr>
        <p:spPr>
          <a:xfrm>
            <a:off x="12064987" y="2446765"/>
            <a:ext cx="5194314" cy="7116418"/>
          </a:xfrm>
          <a:prstGeom prst="roundRect">
            <a:avLst>
              <a:gd name="adj" fmla="val 1834"/>
            </a:avLst>
          </a:prstGeom>
          <a:solidFill>
            <a:srgbClr val="FFFFFF"/>
          </a:solidFill>
          <a:ln/>
        </p:spPr>
        <p:txBody>
          <a:bodyPr/>
          <a:lstStyle/>
          <a:p>
            <a:endParaRPr lang="en-CA"/>
          </a:p>
        </p:txBody>
      </p:sp>
      <p:sp>
        <p:nvSpPr>
          <p:cNvPr id="21" name="Shape 19"/>
          <p:cNvSpPr/>
          <p:nvPr/>
        </p:nvSpPr>
        <p:spPr>
          <a:xfrm>
            <a:off x="12064987" y="2446765"/>
            <a:ext cx="5194314" cy="55659"/>
          </a:xfrm>
          <a:prstGeom prst="rect">
            <a:avLst/>
          </a:prstGeom>
          <a:solidFill>
            <a:srgbClr val="BD3B25"/>
          </a:solidFill>
          <a:ln/>
        </p:spPr>
        <p:txBody>
          <a:bodyPr/>
          <a:lstStyle/>
          <a:p>
            <a:endParaRPr lang="en-CA"/>
          </a:p>
        </p:txBody>
      </p:sp>
      <p:sp>
        <p:nvSpPr>
          <p:cNvPr id="22" name="Text 20"/>
          <p:cNvSpPr/>
          <p:nvPr/>
        </p:nvSpPr>
        <p:spPr>
          <a:xfrm>
            <a:off x="12426896" y="2902475"/>
            <a:ext cx="4917547" cy="332298"/>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BD3B25"/>
                </a:solidFill>
                <a:latin typeface="Courier New" pitchFamily="34" charset="0"/>
                <a:ea typeface="Courier New" pitchFamily="34" charset="-122"/>
                <a:cs typeface="Courier New" pitchFamily="34" charset="-120"/>
              </a:rPr>
              <a:t>DILKHUSH</a:t>
            </a:r>
            <a:endParaRPr lang="en-US" sz="1800" dirty="0"/>
          </a:p>
        </p:txBody>
      </p:sp>
      <p:sp>
        <p:nvSpPr>
          <p:cNvPr id="23" name="Text 21"/>
          <p:cNvSpPr/>
          <p:nvPr/>
        </p:nvSpPr>
        <p:spPr>
          <a:xfrm>
            <a:off x="12426896" y="3253823"/>
            <a:ext cx="4917547" cy="737815"/>
          </a:xfrm>
          <a:prstGeom prst="rect">
            <a:avLst/>
          </a:prstGeom>
          <a:noFill/>
          <a:ln/>
        </p:spPr>
        <p:txBody>
          <a:bodyPr wrap="square" lIns="25400" tIns="25400" rIns="25400" bIns="25400" rtlCol="0" anchor="t">
            <a:normAutofit/>
          </a:bodyPr>
          <a:lstStyle/>
          <a:p>
            <a:pPr marL="0" indent="0" algn="l">
              <a:buNone/>
            </a:pPr>
            <a:r>
              <a:rPr lang="en-US" sz="3600" b="1" dirty="0">
                <a:solidFill>
                  <a:srgbClr val="201D18"/>
                </a:solidFill>
                <a:latin typeface="Georgia" pitchFamily="34" charset="0"/>
                <a:ea typeface="Georgia" pitchFamily="34" charset="-122"/>
                <a:cs typeface="Georgia" pitchFamily="34" charset="-120"/>
              </a:rPr>
              <a:t>AdamW</a:t>
            </a:r>
            <a:endParaRPr lang="en-US" sz="3600" dirty="0"/>
          </a:p>
        </p:txBody>
      </p:sp>
      <p:sp>
        <p:nvSpPr>
          <p:cNvPr id="24" name="Text 22"/>
          <p:cNvSpPr/>
          <p:nvPr/>
        </p:nvSpPr>
        <p:spPr>
          <a:xfrm>
            <a:off x="12426896" y="3972546"/>
            <a:ext cx="4917547" cy="332298"/>
          </a:xfrm>
          <a:prstGeom prst="rect">
            <a:avLst/>
          </a:prstGeom>
          <a:noFill/>
          <a:ln/>
        </p:spPr>
        <p:txBody>
          <a:bodyPr wrap="square" lIns="25400" tIns="25400" rIns="25400" bIns="25400" rtlCol="0" anchor="t">
            <a:normAutofit/>
          </a:bodyPr>
          <a:lstStyle/>
          <a:p>
            <a:pPr marL="0" indent="0" algn="l">
              <a:buNone/>
            </a:pPr>
            <a:r>
              <a:rPr lang="en-US" sz="1800" dirty="0">
                <a:solidFill>
                  <a:srgbClr val="9A9183"/>
                </a:solidFill>
                <a:latin typeface="Arial" pitchFamily="34" charset="0"/>
                <a:ea typeface="Arial" pitchFamily="34" charset="-122"/>
                <a:cs typeface="Arial" pitchFamily="34" charset="-120"/>
              </a:rPr>
              <a:t>Adam + Decoupled Weight Decay</a:t>
            </a:r>
            <a:endParaRPr lang="en-US" sz="1800" dirty="0"/>
          </a:p>
        </p:txBody>
      </p:sp>
      <p:sp>
        <p:nvSpPr>
          <p:cNvPr id="25" name="Text 23"/>
          <p:cNvSpPr/>
          <p:nvPr/>
        </p:nvSpPr>
        <p:spPr>
          <a:xfrm>
            <a:off x="12426896" y="4514353"/>
            <a:ext cx="4604612" cy="4003813"/>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5C564C"/>
                </a:solidFill>
                <a:latin typeface="Arial" pitchFamily="34" charset="0"/>
                <a:ea typeface="Arial" pitchFamily="34" charset="-122"/>
                <a:cs typeface="Arial" pitchFamily="34" charset="-120"/>
              </a:rPr>
              <a:t>Fixes Adam's L2 flaw by </a:t>
            </a:r>
            <a:r>
              <a:rPr lang="en-US" sz="2100" b="1" dirty="0">
                <a:solidFill>
                  <a:srgbClr val="201D18"/>
                </a:solidFill>
                <a:latin typeface="Arial" pitchFamily="34" charset="0"/>
                <a:ea typeface="Arial" pitchFamily="34" charset="-122"/>
                <a:cs typeface="Arial" pitchFamily="34" charset="-120"/>
              </a:rPr>
              <a:t>decoupling weight decay </a:t>
            </a:r>
            <a:r>
              <a:rPr lang="en-US" sz="2100" dirty="0">
                <a:solidFill>
                  <a:srgbClr val="5C564C"/>
                </a:solidFill>
                <a:latin typeface="Arial" pitchFamily="34" charset="0"/>
                <a:ea typeface="Arial" pitchFamily="34" charset="-122"/>
                <a:cs typeface="Arial" pitchFamily="34" charset="-120"/>
              </a:rPr>
              <a:t>from the adaptive step for cleaner regularization.</a:t>
            </a:r>
            <a:endParaRPr lang="en-US" sz="2100" dirty="0"/>
          </a:p>
        </p:txBody>
      </p:sp>
      <p:sp>
        <p:nvSpPr>
          <p:cNvPr id="26" name="Shape 24"/>
          <p:cNvSpPr/>
          <p:nvPr/>
        </p:nvSpPr>
        <p:spPr>
          <a:xfrm>
            <a:off x="12426896" y="8670525"/>
            <a:ext cx="4470497" cy="9525"/>
          </a:xfrm>
          <a:prstGeom prst="rect">
            <a:avLst/>
          </a:prstGeom>
          <a:solidFill>
            <a:srgbClr val="201D18">
              <a:alpha val="16000"/>
            </a:srgbClr>
          </a:solidFill>
          <a:ln/>
        </p:spPr>
        <p:txBody>
          <a:bodyPr/>
          <a:lstStyle/>
          <a:p>
            <a:endParaRPr lang="en-CA"/>
          </a:p>
        </p:txBody>
      </p:sp>
      <p:sp>
        <p:nvSpPr>
          <p:cNvPr id="27" name="Text 25"/>
          <p:cNvSpPr/>
          <p:nvPr/>
        </p:nvSpPr>
        <p:spPr>
          <a:xfrm>
            <a:off x="12426896" y="8868977"/>
            <a:ext cx="4604612" cy="332257"/>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Arial" pitchFamily="34" charset="0"/>
                <a:ea typeface="Arial" pitchFamily="34" charset="-122"/>
                <a:cs typeface="Arial" pitchFamily="34" charset="-120"/>
              </a:rPr>
              <a:t>We vary </a:t>
            </a:r>
            <a:r>
              <a:rPr lang="en-US" sz="1800" dirty="0">
                <a:solidFill>
                  <a:srgbClr val="201D18"/>
                </a:solidFill>
                <a:latin typeface="Courier New" pitchFamily="34" charset="0"/>
                <a:ea typeface="Courier New" pitchFamily="34" charset="-122"/>
                <a:cs typeface="Courier New" pitchFamily="34" charset="-120"/>
              </a:rPr>
              <a:t>lr · weight decay</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4023360"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OPTIMIZER 01 · RUCHI</a:t>
            </a:r>
            <a:endParaRPr lang="en-US" sz="1800" dirty="0"/>
          </a:p>
        </p:txBody>
      </p:sp>
      <p:sp>
        <p:nvSpPr>
          <p:cNvPr id="3" name="Text 1"/>
          <p:cNvSpPr/>
          <p:nvPr/>
        </p:nvSpPr>
        <p:spPr>
          <a:xfrm>
            <a:off x="1028700" y="1170457"/>
            <a:ext cx="1785366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Adam </a:t>
            </a:r>
            <a:r>
              <a:rPr lang="en-US" sz="2850" kern="0" spc="-55" dirty="0">
                <a:solidFill>
                  <a:srgbClr val="9A9183"/>
                </a:solidFill>
                <a:latin typeface="Georgia" pitchFamily="34" charset="0"/>
                <a:ea typeface="Georgia" pitchFamily="34" charset="-122"/>
                <a:cs typeface="Georgia" pitchFamily="34" charset="-120"/>
              </a:rPr>
              <a:t>Adaptive Moments</a:t>
            </a:r>
            <a:endParaRPr lang="en-US" sz="5550" dirty="0"/>
          </a:p>
        </p:txBody>
      </p:sp>
      <p:sp>
        <p:nvSpPr>
          <p:cNvPr id="4" name="Text 2"/>
          <p:cNvSpPr/>
          <p:nvPr/>
        </p:nvSpPr>
        <p:spPr>
          <a:xfrm>
            <a:off x="1028700" y="3883343"/>
            <a:ext cx="8836202" cy="1374168"/>
          </a:xfrm>
          <a:prstGeom prst="rect">
            <a:avLst/>
          </a:prstGeom>
          <a:noFill/>
          <a:ln/>
        </p:spPr>
        <p:txBody>
          <a:bodyPr wrap="square" lIns="25400" tIns="25400" rIns="25400" bIns="25400" rtlCol="0" anchor="t">
            <a:normAutofit/>
          </a:bodyPr>
          <a:lstStyle/>
          <a:p>
            <a:pPr marL="0" indent="0" algn="l">
              <a:lnSpc>
                <a:spcPct val="140000"/>
              </a:lnSpc>
              <a:buNone/>
            </a:pPr>
            <a:r>
              <a:rPr lang="en-US" sz="2475" dirty="0">
                <a:solidFill>
                  <a:srgbClr val="5C564C"/>
                </a:solidFill>
                <a:latin typeface="Arial" pitchFamily="34" charset="0"/>
                <a:ea typeface="Arial" pitchFamily="34" charset="-122"/>
                <a:cs typeface="Arial" pitchFamily="34" charset="-120"/>
              </a:rPr>
              <a:t>Combines first-moment </a:t>
            </a:r>
            <a:r>
              <a:rPr lang="en-US" sz="2475" b="1" dirty="0">
                <a:solidFill>
                  <a:srgbClr val="201D18"/>
                </a:solidFill>
                <a:latin typeface="Arial" pitchFamily="34" charset="0"/>
                <a:ea typeface="Arial" pitchFamily="34" charset="-122"/>
                <a:cs typeface="Arial" pitchFamily="34" charset="-120"/>
              </a:rPr>
              <a:t>momentum </a:t>
            </a:r>
            <a:r>
              <a:rPr lang="en-US" sz="2475" dirty="0">
                <a:solidFill>
                  <a:srgbClr val="5C564C"/>
                </a:solidFill>
                <a:latin typeface="Arial" pitchFamily="34" charset="0"/>
                <a:ea typeface="Arial" pitchFamily="34" charset="-122"/>
                <a:cs typeface="Arial" pitchFamily="34" charset="-120"/>
              </a:rPr>
              <a:t>and second-moment </a:t>
            </a:r>
            <a:r>
              <a:rPr lang="en-US" sz="2475" b="1" dirty="0">
                <a:solidFill>
                  <a:srgbClr val="201D18"/>
                </a:solidFill>
                <a:latin typeface="Arial" pitchFamily="34" charset="0"/>
                <a:ea typeface="Arial" pitchFamily="34" charset="-122"/>
                <a:cs typeface="Arial" pitchFamily="34" charset="-120"/>
              </a:rPr>
              <a:t>variance </a:t>
            </a:r>
            <a:r>
              <a:rPr lang="en-US" sz="2475" dirty="0">
                <a:solidFill>
                  <a:srgbClr val="5C564C"/>
                </a:solidFill>
                <a:latin typeface="Arial" pitchFamily="34" charset="0"/>
                <a:ea typeface="Arial" pitchFamily="34" charset="-122"/>
                <a:cs typeface="Arial" pitchFamily="34" charset="-120"/>
              </a:rPr>
              <a:t>estimates into a separate adaptive learning rate for every parameter.</a:t>
            </a:r>
            <a:endParaRPr lang="en-US" sz="2475" dirty="0"/>
          </a:p>
        </p:txBody>
      </p:sp>
      <p:sp>
        <p:nvSpPr>
          <p:cNvPr id="5" name="Text 3"/>
          <p:cNvSpPr/>
          <p:nvPr/>
        </p:nvSpPr>
        <p:spPr>
          <a:xfrm>
            <a:off x="1028700" y="5543177"/>
            <a:ext cx="9436721" cy="332298"/>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9A9183"/>
                </a:solidFill>
                <a:latin typeface="Courier New" pitchFamily="34" charset="0"/>
                <a:ea typeface="Courier New" pitchFamily="34" charset="-122"/>
                <a:cs typeface="Courier New" pitchFamily="34" charset="-120"/>
              </a:rPr>
              <a:t>DEFAULTS</a:t>
            </a:r>
            <a:endParaRPr lang="en-US" sz="1800" dirty="0"/>
          </a:p>
        </p:txBody>
      </p:sp>
      <p:sp>
        <p:nvSpPr>
          <p:cNvPr id="6" name="Shape 4"/>
          <p:cNvSpPr/>
          <p:nvPr/>
        </p:nvSpPr>
        <p:spPr>
          <a:xfrm>
            <a:off x="1028700" y="5951676"/>
            <a:ext cx="1417817" cy="481551"/>
          </a:xfrm>
          <a:prstGeom prst="roundRect">
            <a:avLst>
              <a:gd name="adj" fmla="val 11868"/>
            </a:avLst>
          </a:prstGeom>
          <a:solidFill>
            <a:srgbClr val="FFFFFF"/>
          </a:solidFill>
          <a:ln w="7951">
            <a:solidFill>
              <a:srgbClr val="201D18">
                <a:alpha val="16000"/>
              </a:srgbClr>
            </a:solidFill>
            <a:prstDash val="solid"/>
          </a:ln>
        </p:spPr>
        <p:txBody>
          <a:bodyPr/>
          <a:lstStyle/>
          <a:p>
            <a:endParaRPr lang="en-CA"/>
          </a:p>
        </p:txBody>
      </p:sp>
      <p:sp>
        <p:nvSpPr>
          <p:cNvPr id="7" name="Text 5"/>
          <p:cNvSpPr/>
          <p:nvPr/>
        </p:nvSpPr>
        <p:spPr>
          <a:xfrm>
            <a:off x="1189051" y="6045352"/>
            <a:ext cx="1173314" cy="332298"/>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lr 0.001</a:t>
            </a:r>
            <a:endParaRPr lang="en-US" sz="1800" dirty="0"/>
          </a:p>
        </p:txBody>
      </p:sp>
      <p:sp>
        <p:nvSpPr>
          <p:cNvPr id="8" name="Shape 6"/>
          <p:cNvSpPr/>
          <p:nvPr/>
        </p:nvSpPr>
        <p:spPr>
          <a:xfrm>
            <a:off x="2560817" y="5951676"/>
            <a:ext cx="1120637" cy="481551"/>
          </a:xfrm>
          <a:prstGeom prst="roundRect">
            <a:avLst>
              <a:gd name="adj" fmla="val 11868"/>
            </a:avLst>
          </a:prstGeom>
          <a:solidFill>
            <a:srgbClr val="FFFFFF"/>
          </a:solidFill>
          <a:ln w="7951">
            <a:solidFill>
              <a:srgbClr val="201D18">
                <a:alpha val="16000"/>
              </a:srgbClr>
            </a:solidFill>
            <a:prstDash val="solid"/>
          </a:ln>
        </p:spPr>
        <p:txBody>
          <a:bodyPr/>
          <a:lstStyle/>
          <a:p>
            <a:endParaRPr lang="en-CA"/>
          </a:p>
        </p:txBody>
      </p:sp>
      <p:sp>
        <p:nvSpPr>
          <p:cNvPr id="9" name="Text 7"/>
          <p:cNvSpPr/>
          <p:nvPr/>
        </p:nvSpPr>
        <p:spPr>
          <a:xfrm>
            <a:off x="2721169" y="6045352"/>
            <a:ext cx="876134" cy="332298"/>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β₁ 0.9</a:t>
            </a:r>
            <a:endParaRPr lang="en-US" sz="1800" dirty="0"/>
          </a:p>
        </p:txBody>
      </p:sp>
      <p:sp>
        <p:nvSpPr>
          <p:cNvPr id="10" name="Shape 8"/>
          <p:cNvSpPr/>
          <p:nvPr/>
        </p:nvSpPr>
        <p:spPr>
          <a:xfrm>
            <a:off x="3795754" y="5951676"/>
            <a:ext cx="1394957" cy="481551"/>
          </a:xfrm>
          <a:prstGeom prst="roundRect">
            <a:avLst>
              <a:gd name="adj" fmla="val 11868"/>
            </a:avLst>
          </a:prstGeom>
          <a:solidFill>
            <a:srgbClr val="FFFFFF"/>
          </a:solidFill>
          <a:ln w="7951">
            <a:solidFill>
              <a:srgbClr val="201D18">
                <a:alpha val="16000"/>
              </a:srgbClr>
            </a:solidFill>
            <a:prstDash val="solid"/>
          </a:ln>
        </p:spPr>
        <p:txBody>
          <a:bodyPr/>
          <a:lstStyle/>
          <a:p>
            <a:endParaRPr lang="en-CA"/>
          </a:p>
        </p:txBody>
      </p:sp>
      <p:sp>
        <p:nvSpPr>
          <p:cNvPr id="11" name="Text 9"/>
          <p:cNvSpPr/>
          <p:nvPr/>
        </p:nvSpPr>
        <p:spPr>
          <a:xfrm>
            <a:off x="3956105" y="6045352"/>
            <a:ext cx="1150454" cy="332298"/>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β₂ 0.999</a:t>
            </a:r>
            <a:endParaRPr lang="en-US" sz="1800" dirty="0"/>
          </a:p>
        </p:txBody>
      </p:sp>
      <p:sp>
        <p:nvSpPr>
          <p:cNvPr id="12" name="Shape 10"/>
          <p:cNvSpPr/>
          <p:nvPr/>
        </p:nvSpPr>
        <p:spPr>
          <a:xfrm>
            <a:off x="5305011" y="5951676"/>
            <a:ext cx="1132067" cy="481551"/>
          </a:xfrm>
          <a:prstGeom prst="roundRect">
            <a:avLst>
              <a:gd name="adj" fmla="val 11868"/>
            </a:avLst>
          </a:prstGeom>
          <a:solidFill>
            <a:srgbClr val="FFFFFF"/>
          </a:solidFill>
          <a:ln w="7951">
            <a:solidFill>
              <a:srgbClr val="201D18">
                <a:alpha val="16000"/>
              </a:srgbClr>
            </a:solidFill>
            <a:prstDash val="solid"/>
          </a:ln>
        </p:spPr>
        <p:txBody>
          <a:bodyPr/>
          <a:lstStyle/>
          <a:p>
            <a:endParaRPr lang="en-CA"/>
          </a:p>
        </p:txBody>
      </p:sp>
      <p:sp>
        <p:nvSpPr>
          <p:cNvPr id="13" name="Text 11"/>
          <p:cNvSpPr/>
          <p:nvPr/>
        </p:nvSpPr>
        <p:spPr>
          <a:xfrm>
            <a:off x="5465362" y="6045352"/>
            <a:ext cx="887564" cy="332298"/>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ε 1e-8</a:t>
            </a:r>
            <a:endParaRPr lang="en-US" sz="1800" dirty="0"/>
          </a:p>
        </p:txBody>
      </p:sp>
      <p:sp>
        <p:nvSpPr>
          <p:cNvPr id="14" name="Text 12"/>
          <p:cNvSpPr/>
          <p:nvPr/>
        </p:nvSpPr>
        <p:spPr>
          <a:xfrm>
            <a:off x="1028700" y="6756994"/>
            <a:ext cx="284301" cy="380006"/>
          </a:xfrm>
          <a:prstGeom prst="rect">
            <a:avLst/>
          </a:prstGeom>
          <a:noFill/>
          <a:ln/>
        </p:spPr>
        <p:txBody>
          <a:bodyPr wrap="square" lIns="25400" tIns="25400" rIns="25400" bIns="25400" rtlCol="0" anchor="t">
            <a:normAutofit/>
          </a:bodyPr>
          <a:lstStyle/>
          <a:p>
            <a:pPr marL="0" indent="0" algn="l">
              <a:buNone/>
            </a:pPr>
            <a:r>
              <a:rPr lang="en-US" sz="2100" dirty="0">
                <a:solidFill>
                  <a:srgbClr val="2F5FA8"/>
                </a:solidFill>
                <a:latin typeface="Arial" pitchFamily="34" charset="0"/>
                <a:ea typeface="Arial" pitchFamily="34" charset="-122"/>
                <a:cs typeface="Arial" pitchFamily="34" charset="-120"/>
              </a:rPr>
              <a:t>—</a:t>
            </a:r>
            <a:endParaRPr lang="en-US" sz="2100" dirty="0"/>
          </a:p>
        </p:txBody>
      </p:sp>
      <p:sp>
        <p:nvSpPr>
          <p:cNvPr id="15" name="Text 13"/>
          <p:cNvSpPr/>
          <p:nvPr/>
        </p:nvSpPr>
        <p:spPr>
          <a:xfrm>
            <a:off x="1389118" y="6756994"/>
            <a:ext cx="4553809" cy="380006"/>
          </a:xfrm>
          <a:prstGeom prst="rect">
            <a:avLst/>
          </a:prstGeom>
          <a:noFill/>
          <a:ln/>
        </p:spPr>
        <p:txBody>
          <a:bodyPr wrap="square" lIns="0" tIns="0" rIns="0" bIns="0" rtlCol="0" anchor="t">
            <a:normAutofit/>
          </a:bodyPr>
          <a:lstStyle/>
          <a:p>
            <a:pPr marL="0" indent="0" algn="l">
              <a:buNone/>
            </a:pPr>
            <a:r>
              <a:rPr lang="en-US" sz="2100" dirty="0">
                <a:solidFill>
                  <a:srgbClr val="201D18"/>
                </a:solidFill>
                <a:latin typeface="Arial" pitchFamily="34" charset="0"/>
                <a:ea typeface="Arial" pitchFamily="34" charset="-122"/>
                <a:cs typeface="Arial" pitchFamily="34" charset="-120"/>
              </a:rPr>
              <a:t>Stable training across configurations.</a:t>
            </a:r>
            <a:endParaRPr lang="en-US" sz="2100" dirty="0"/>
          </a:p>
        </p:txBody>
      </p:sp>
      <p:sp>
        <p:nvSpPr>
          <p:cNvPr id="16" name="Text 14"/>
          <p:cNvSpPr/>
          <p:nvPr/>
        </p:nvSpPr>
        <p:spPr>
          <a:xfrm>
            <a:off x="1028700" y="7251217"/>
            <a:ext cx="284301" cy="380006"/>
          </a:xfrm>
          <a:prstGeom prst="rect">
            <a:avLst/>
          </a:prstGeom>
          <a:noFill/>
          <a:ln/>
        </p:spPr>
        <p:txBody>
          <a:bodyPr wrap="square" lIns="25400" tIns="25400" rIns="25400" bIns="25400" rtlCol="0" anchor="t">
            <a:normAutofit/>
          </a:bodyPr>
          <a:lstStyle/>
          <a:p>
            <a:pPr marL="0" indent="0" algn="l">
              <a:buNone/>
            </a:pPr>
            <a:r>
              <a:rPr lang="en-US" sz="2100" dirty="0">
                <a:solidFill>
                  <a:srgbClr val="2F5FA8"/>
                </a:solidFill>
                <a:latin typeface="Arial" pitchFamily="34" charset="0"/>
                <a:ea typeface="Arial" pitchFamily="34" charset="-122"/>
                <a:cs typeface="Arial" pitchFamily="34" charset="-120"/>
              </a:rPr>
              <a:t>—</a:t>
            </a:r>
            <a:endParaRPr lang="en-US" sz="2100" dirty="0"/>
          </a:p>
        </p:txBody>
      </p:sp>
      <p:sp>
        <p:nvSpPr>
          <p:cNvPr id="17" name="Text 15"/>
          <p:cNvSpPr/>
          <p:nvPr/>
        </p:nvSpPr>
        <p:spPr>
          <a:xfrm>
            <a:off x="1389118" y="7251217"/>
            <a:ext cx="6630703" cy="380006"/>
          </a:xfrm>
          <a:prstGeom prst="rect">
            <a:avLst/>
          </a:prstGeom>
          <a:noFill/>
          <a:ln/>
        </p:spPr>
        <p:txBody>
          <a:bodyPr wrap="square" lIns="0" tIns="0" rIns="0" bIns="0" rtlCol="0" anchor="t">
            <a:normAutofit/>
          </a:bodyPr>
          <a:lstStyle/>
          <a:p>
            <a:pPr marL="0" indent="0" algn="l">
              <a:buNone/>
            </a:pPr>
            <a:r>
              <a:rPr lang="en-US" sz="2100" dirty="0">
                <a:solidFill>
                  <a:srgbClr val="201D18"/>
                </a:solidFill>
                <a:latin typeface="Arial" pitchFamily="34" charset="0"/>
                <a:ea typeface="Arial" pitchFamily="34" charset="-122"/>
                <a:cs typeface="Arial" pitchFamily="34" charset="-120"/>
              </a:rPr>
              <a:t>Moderate learning rates win; lr = 0.01 grows unstable.</a:t>
            </a:r>
            <a:endParaRPr lang="en-US" sz="2100" dirty="0"/>
          </a:p>
        </p:txBody>
      </p:sp>
      <p:sp>
        <p:nvSpPr>
          <p:cNvPr id="18" name="Shape 16"/>
          <p:cNvSpPr/>
          <p:nvPr/>
        </p:nvSpPr>
        <p:spPr>
          <a:xfrm>
            <a:off x="10217054" y="3546406"/>
            <a:ext cx="7042247" cy="4383530"/>
          </a:xfrm>
          <a:prstGeom prst="roundRect">
            <a:avLst>
              <a:gd name="adj" fmla="val 2607"/>
            </a:avLst>
          </a:prstGeom>
          <a:solidFill>
            <a:srgbClr val="2F5FA8"/>
          </a:solidFill>
          <a:ln/>
        </p:spPr>
        <p:txBody>
          <a:bodyPr/>
          <a:lstStyle/>
          <a:p>
            <a:endParaRPr lang="en-CA"/>
          </a:p>
        </p:txBody>
      </p:sp>
      <p:sp>
        <p:nvSpPr>
          <p:cNvPr id="19" name="Text 17"/>
          <p:cNvSpPr/>
          <p:nvPr/>
        </p:nvSpPr>
        <p:spPr>
          <a:xfrm>
            <a:off x="10674254" y="4041623"/>
            <a:ext cx="6740632" cy="332298"/>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FFFFFF">
                    <a:alpha val="72000"/>
                  </a:srgbClr>
                </a:solidFill>
                <a:latin typeface="Courier New" pitchFamily="34" charset="0"/>
                <a:ea typeface="Courier New" pitchFamily="34" charset="-122"/>
                <a:cs typeface="Courier New" pitchFamily="34" charset="-120"/>
              </a:rPr>
              <a:t>TEST ACCURACY</a:t>
            </a:r>
            <a:endParaRPr lang="en-US" sz="1800" dirty="0"/>
          </a:p>
        </p:txBody>
      </p:sp>
      <p:sp>
        <p:nvSpPr>
          <p:cNvPr id="20" name="Text 18"/>
          <p:cNvSpPr/>
          <p:nvPr/>
        </p:nvSpPr>
        <p:spPr>
          <a:xfrm>
            <a:off x="10674254" y="4392972"/>
            <a:ext cx="6740632" cy="1160104"/>
          </a:xfrm>
          <a:prstGeom prst="rect">
            <a:avLst/>
          </a:prstGeom>
          <a:noFill/>
          <a:ln/>
        </p:spPr>
        <p:txBody>
          <a:bodyPr wrap="square" lIns="25400" tIns="25400" rIns="25400" bIns="25400" rtlCol="0" anchor="t">
            <a:normAutofit/>
          </a:bodyPr>
          <a:lstStyle/>
          <a:p>
            <a:pPr marL="0" indent="0" algn="l">
              <a:lnSpc>
                <a:spcPct val="95000"/>
              </a:lnSpc>
              <a:buNone/>
            </a:pPr>
            <a:r>
              <a:rPr lang="en-US" sz="9300" b="1" dirty="0">
                <a:solidFill>
                  <a:srgbClr val="FFFFFF"/>
                </a:solidFill>
                <a:latin typeface="Georgia" pitchFamily="34" charset="0"/>
                <a:ea typeface="Georgia" pitchFamily="34" charset="-122"/>
                <a:cs typeface="Georgia" pitchFamily="34" charset="-120"/>
              </a:rPr>
              <a:t>88.69</a:t>
            </a:r>
            <a:r>
              <a:rPr lang="en-US" sz="4050" b="1" dirty="0">
                <a:solidFill>
                  <a:srgbClr val="FFFFFF"/>
                </a:solidFill>
                <a:latin typeface="Georgia" pitchFamily="34" charset="0"/>
                <a:ea typeface="Georgia" pitchFamily="34" charset="-122"/>
                <a:cs typeface="Georgia" pitchFamily="34" charset="-120"/>
              </a:rPr>
              <a:t>%</a:t>
            </a:r>
            <a:endParaRPr lang="en-US" sz="9300" dirty="0"/>
          </a:p>
        </p:txBody>
      </p:sp>
      <p:sp>
        <p:nvSpPr>
          <p:cNvPr id="21" name="Shape 19"/>
          <p:cNvSpPr/>
          <p:nvPr/>
        </p:nvSpPr>
        <p:spPr>
          <a:xfrm>
            <a:off x="10674254" y="5800726"/>
            <a:ext cx="6127847" cy="9525"/>
          </a:xfrm>
          <a:prstGeom prst="rect">
            <a:avLst/>
          </a:prstGeom>
          <a:solidFill>
            <a:srgbClr val="FFFFFF">
              <a:alpha val="25000"/>
            </a:srgbClr>
          </a:solidFill>
          <a:ln/>
        </p:spPr>
        <p:txBody>
          <a:bodyPr/>
          <a:lstStyle/>
          <a:p>
            <a:endParaRPr lang="en-CA"/>
          </a:p>
        </p:txBody>
      </p:sp>
      <p:sp>
        <p:nvSpPr>
          <p:cNvPr id="22" name="Text 20"/>
          <p:cNvSpPr/>
          <p:nvPr/>
        </p:nvSpPr>
        <p:spPr>
          <a:xfrm>
            <a:off x="10674254" y="6037277"/>
            <a:ext cx="1332601" cy="332298"/>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70000"/>
                  </a:srgbClr>
                </a:solidFill>
                <a:latin typeface="Arial" pitchFamily="34" charset="0"/>
                <a:ea typeface="Arial" pitchFamily="34" charset="-122"/>
                <a:cs typeface="Arial" pitchFamily="34" charset="-120"/>
              </a:rPr>
              <a:t>Train acc</a:t>
            </a:r>
            <a:endParaRPr lang="en-US" sz="1800" dirty="0"/>
          </a:p>
        </p:txBody>
      </p:sp>
      <p:sp>
        <p:nvSpPr>
          <p:cNvPr id="23" name="Text 21"/>
          <p:cNvSpPr/>
          <p:nvPr/>
        </p:nvSpPr>
        <p:spPr>
          <a:xfrm>
            <a:off x="10674254" y="6331475"/>
            <a:ext cx="1744771" cy="618545"/>
          </a:xfrm>
          <a:prstGeom prst="rect">
            <a:avLst/>
          </a:prstGeom>
          <a:noFill/>
          <a:ln/>
        </p:spPr>
        <p:txBody>
          <a:bodyPr wrap="square" lIns="25400" tIns="25400" rIns="25400" bIns="25400" rtlCol="0" anchor="t">
            <a:normAutofit/>
          </a:bodyPr>
          <a:lstStyle/>
          <a:p>
            <a:pPr marL="0" indent="0" algn="l">
              <a:buNone/>
            </a:pPr>
            <a:r>
              <a:rPr lang="en-US" sz="3000" b="1" dirty="0">
                <a:solidFill>
                  <a:srgbClr val="FFFFFF"/>
                </a:solidFill>
                <a:latin typeface="Georgia" pitchFamily="34" charset="0"/>
                <a:ea typeface="Georgia" pitchFamily="34" charset="-122"/>
                <a:cs typeface="Georgia" pitchFamily="34" charset="-120"/>
              </a:rPr>
              <a:t>99.53%</a:t>
            </a:r>
            <a:endParaRPr lang="en-US" sz="3000" dirty="0"/>
          </a:p>
        </p:txBody>
      </p:sp>
      <p:sp>
        <p:nvSpPr>
          <p:cNvPr id="24" name="Text 22"/>
          <p:cNvSpPr/>
          <p:nvPr/>
        </p:nvSpPr>
        <p:spPr>
          <a:xfrm>
            <a:off x="12495227" y="6037277"/>
            <a:ext cx="992464" cy="332298"/>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70000"/>
                  </a:srgbClr>
                </a:solidFill>
                <a:latin typeface="Arial" pitchFamily="34" charset="0"/>
                <a:ea typeface="Arial" pitchFamily="34" charset="-122"/>
                <a:cs typeface="Arial" pitchFamily="34" charset="-120"/>
              </a:rPr>
              <a:t>Gen. gap</a:t>
            </a:r>
            <a:endParaRPr lang="en-US" sz="1800" dirty="0"/>
          </a:p>
        </p:txBody>
      </p:sp>
      <p:sp>
        <p:nvSpPr>
          <p:cNvPr id="25" name="Text 23"/>
          <p:cNvSpPr/>
          <p:nvPr/>
        </p:nvSpPr>
        <p:spPr>
          <a:xfrm>
            <a:off x="12495226" y="6331475"/>
            <a:ext cx="1744771" cy="618545"/>
          </a:xfrm>
          <a:prstGeom prst="rect">
            <a:avLst/>
          </a:prstGeom>
          <a:noFill/>
          <a:ln/>
        </p:spPr>
        <p:txBody>
          <a:bodyPr wrap="square" lIns="25400" tIns="25400" rIns="25400" bIns="25400" rtlCol="0" anchor="t">
            <a:normAutofit/>
          </a:bodyPr>
          <a:lstStyle/>
          <a:p>
            <a:pPr marL="0" indent="0" algn="l">
              <a:buNone/>
            </a:pPr>
            <a:r>
              <a:rPr lang="en-US" sz="3000" b="1" dirty="0">
                <a:solidFill>
                  <a:srgbClr val="FFFFFF"/>
                </a:solidFill>
                <a:latin typeface="Georgia" pitchFamily="34" charset="0"/>
                <a:ea typeface="Georgia" pitchFamily="34" charset="-122"/>
                <a:cs typeface="Georgia" pitchFamily="34" charset="-120"/>
              </a:rPr>
              <a:t>10.84</a:t>
            </a:r>
            <a:endParaRPr lang="en-US" sz="3000" dirty="0"/>
          </a:p>
        </p:txBody>
      </p:sp>
      <p:sp>
        <p:nvSpPr>
          <p:cNvPr id="26" name="Text 24"/>
          <p:cNvSpPr/>
          <p:nvPr/>
        </p:nvSpPr>
        <p:spPr>
          <a:xfrm>
            <a:off x="10674254" y="7140520"/>
            <a:ext cx="6740632" cy="332298"/>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82000"/>
                  </a:srgbClr>
                </a:solidFill>
                <a:latin typeface="Courier New" pitchFamily="34" charset="0"/>
                <a:ea typeface="Courier New" pitchFamily="34" charset="-122"/>
                <a:cs typeface="Courier New" pitchFamily="34" charset="-120"/>
              </a:rPr>
              <a:t>best · lr 0.001 · β₁ 0.9</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4224528"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OPTIMIZER 02 · KRUTIK</a:t>
            </a:r>
            <a:endParaRPr lang="en-US" sz="1800" dirty="0"/>
          </a:p>
        </p:txBody>
      </p:sp>
      <p:sp>
        <p:nvSpPr>
          <p:cNvPr id="3" name="Text 1"/>
          <p:cNvSpPr/>
          <p:nvPr/>
        </p:nvSpPr>
        <p:spPr>
          <a:xfrm>
            <a:off x="1028700" y="1382700"/>
            <a:ext cx="17853661" cy="742909"/>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RMSprop </a:t>
            </a:r>
            <a:r>
              <a:rPr lang="en-US" sz="2850" kern="0" spc="-55" dirty="0">
                <a:solidFill>
                  <a:srgbClr val="9A9183"/>
                </a:solidFill>
                <a:latin typeface="Georgia" pitchFamily="34" charset="0"/>
                <a:ea typeface="Georgia" pitchFamily="34" charset="-122"/>
                <a:cs typeface="Georgia" pitchFamily="34" charset="-120"/>
              </a:rPr>
              <a:t>Squared-Gradient Scaling</a:t>
            </a:r>
            <a:endParaRPr lang="en-US" sz="5550" dirty="0"/>
          </a:p>
        </p:txBody>
      </p:sp>
      <p:sp>
        <p:nvSpPr>
          <p:cNvPr id="4" name="Text 2"/>
          <p:cNvSpPr/>
          <p:nvPr/>
        </p:nvSpPr>
        <p:spPr>
          <a:xfrm>
            <a:off x="1028700" y="3883343"/>
            <a:ext cx="8836202" cy="1374168"/>
          </a:xfrm>
          <a:prstGeom prst="rect">
            <a:avLst/>
          </a:prstGeom>
          <a:noFill/>
          <a:ln/>
        </p:spPr>
        <p:txBody>
          <a:bodyPr wrap="square" lIns="25400" tIns="25400" rIns="25400" bIns="25400" rtlCol="0" anchor="t">
            <a:normAutofit/>
          </a:bodyPr>
          <a:lstStyle/>
          <a:p>
            <a:pPr marL="0" indent="0" algn="l">
              <a:lnSpc>
                <a:spcPct val="140000"/>
              </a:lnSpc>
              <a:buNone/>
            </a:pPr>
            <a:r>
              <a:rPr lang="en-US" sz="2475" dirty="0">
                <a:solidFill>
                  <a:srgbClr val="5C564C"/>
                </a:solidFill>
                <a:latin typeface="Arial" pitchFamily="34" charset="0"/>
                <a:ea typeface="Arial" pitchFamily="34" charset="-122"/>
                <a:cs typeface="Arial" pitchFamily="34" charset="-120"/>
              </a:rPr>
              <a:t>Divides the learning rate by a </a:t>
            </a:r>
            <a:r>
              <a:rPr lang="en-US" sz="2475" b="1" dirty="0">
                <a:solidFill>
                  <a:srgbClr val="201D18"/>
                </a:solidFill>
                <a:latin typeface="Arial" pitchFamily="34" charset="0"/>
                <a:ea typeface="Arial" pitchFamily="34" charset="-122"/>
                <a:cs typeface="Arial" pitchFamily="34" charset="-120"/>
              </a:rPr>
              <a:t>running average of squared gradients </a:t>
            </a:r>
            <a:r>
              <a:rPr lang="en-US" sz="2475" dirty="0">
                <a:solidFill>
                  <a:srgbClr val="5C564C"/>
                </a:solidFill>
                <a:latin typeface="Arial" pitchFamily="34" charset="0"/>
                <a:ea typeface="Arial" pitchFamily="34" charset="-122"/>
                <a:cs typeface="Arial" pitchFamily="34" charset="-120"/>
              </a:rPr>
              <a:t>(decay α), preventing any single update from growing too large.</a:t>
            </a:r>
            <a:endParaRPr lang="en-US" sz="2475" dirty="0"/>
          </a:p>
        </p:txBody>
      </p:sp>
      <p:sp>
        <p:nvSpPr>
          <p:cNvPr id="5" name="Text 3"/>
          <p:cNvSpPr/>
          <p:nvPr/>
        </p:nvSpPr>
        <p:spPr>
          <a:xfrm>
            <a:off x="1028700" y="5543177"/>
            <a:ext cx="9436721" cy="332298"/>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9A9183"/>
                </a:solidFill>
                <a:latin typeface="Courier New" pitchFamily="34" charset="0"/>
                <a:ea typeface="Courier New" pitchFamily="34" charset="-122"/>
                <a:cs typeface="Courier New" pitchFamily="34" charset="-120"/>
              </a:rPr>
              <a:t>DEFAULTS</a:t>
            </a:r>
            <a:endParaRPr lang="en-US" sz="1800" dirty="0"/>
          </a:p>
        </p:txBody>
      </p:sp>
      <p:sp>
        <p:nvSpPr>
          <p:cNvPr id="6" name="Shape 4"/>
          <p:cNvSpPr/>
          <p:nvPr/>
        </p:nvSpPr>
        <p:spPr>
          <a:xfrm>
            <a:off x="1028700" y="5951676"/>
            <a:ext cx="1280657" cy="481551"/>
          </a:xfrm>
          <a:prstGeom prst="roundRect">
            <a:avLst>
              <a:gd name="adj" fmla="val 11868"/>
            </a:avLst>
          </a:prstGeom>
          <a:solidFill>
            <a:srgbClr val="FFFFFF"/>
          </a:solidFill>
          <a:ln w="7951">
            <a:solidFill>
              <a:srgbClr val="201D18">
                <a:alpha val="16000"/>
              </a:srgbClr>
            </a:solidFill>
            <a:prstDash val="solid"/>
          </a:ln>
        </p:spPr>
        <p:txBody>
          <a:bodyPr/>
          <a:lstStyle/>
          <a:p>
            <a:endParaRPr lang="en-CA"/>
          </a:p>
        </p:txBody>
      </p:sp>
      <p:sp>
        <p:nvSpPr>
          <p:cNvPr id="7" name="Text 5"/>
          <p:cNvSpPr/>
          <p:nvPr/>
        </p:nvSpPr>
        <p:spPr>
          <a:xfrm>
            <a:off x="1189051" y="6045352"/>
            <a:ext cx="1036154" cy="332298"/>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lr 0.01</a:t>
            </a:r>
            <a:endParaRPr lang="en-US" sz="1800" dirty="0"/>
          </a:p>
        </p:txBody>
      </p:sp>
      <p:sp>
        <p:nvSpPr>
          <p:cNvPr id="8" name="Shape 6"/>
          <p:cNvSpPr/>
          <p:nvPr/>
        </p:nvSpPr>
        <p:spPr>
          <a:xfrm>
            <a:off x="2423657" y="5951676"/>
            <a:ext cx="1132067" cy="481551"/>
          </a:xfrm>
          <a:prstGeom prst="roundRect">
            <a:avLst>
              <a:gd name="adj" fmla="val 11868"/>
            </a:avLst>
          </a:prstGeom>
          <a:solidFill>
            <a:srgbClr val="FFFFFF"/>
          </a:solidFill>
          <a:ln w="7951">
            <a:solidFill>
              <a:srgbClr val="201D18">
                <a:alpha val="16000"/>
              </a:srgbClr>
            </a:solidFill>
            <a:prstDash val="solid"/>
          </a:ln>
        </p:spPr>
        <p:txBody>
          <a:bodyPr/>
          <a:lstStyle/>
          <a:p>
            <a:endParaRPr lang="en-CA"/>
          </a:p>
        </p:txBody>
      </p:sp>
      <p:sp>
        <p:nvSpPr>
          <p:cNvPr id="9" name="Text 7"/>
          <p:cNvSpPr/>
          <p:nvPr/>
        </p:nvSpPr>
        <p:spPr>
          <a:xfrm>
            <a:off x="2584008" y="6045352"/>
            <a:ext cx="887564" cy="332298"/>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α 0.99</a:t>
            </a:r>
            <a:endParaRPr lang="en-US" sz="1800" dirty="0"/>
          </a:p>
        </p:txBody>
      </p:sp>
      <p:sp>
        <p:nvSpPr>
          <p:cNvPr id="10" name="Shape 8"/>
          <p:cNvSpPr/>
          <p:nvPr/>
        </p:nvSpPr>
        <p:spPr>
          <a:xfrm>
            <a:off x="3670024" y="5951676"/>
            <a:ext cx="1132067" cy="481551"/>
          </a:xfrm>
          <a:prstGeom prst="roundRect">
            <a:avLst>
              <a:gd name="adj" fmla="val 11868"/>
            </a:avLst>
          </a:prstGeom>
          <a:solidFill>
            <a:srgbClr val="FFFFFF"/>
          </a:solidFill>
          <a:ln w="7951">
            <a:solidFill>
              <a:srgbClr val="201D18">
                <a:alpha val="16000"/>
              </a:srgbClr>
            </a:solidFill>
            <a:prstDash val="solid"/>
          </a:ln>
        </p:spPr>
        <p:txBody>
          <a:bodyPr/>
          <a:lstStyle/>
          <a:p>
            <a:endParaRPr lang="en-CA"/>
          </a:p>
        </p:txBody>
      </p:sp>
      <p:sp>
        <p:nvSpPr>
          <p:cNvPr id="11" name="Text 9"/>
          <p:cNvSpPr/>
          <p:nvPr/>
        </p:nvSpPr>
        <p:spPr>
          <a:xfrm>
            <a:off x="3830376" y="6045352"/>
            <a:ext cx="887564" cy="332298"/>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ε 1e-8</a:t>
            </a:r>
            <a:endParaRPr lang="en-US" sz="1800" dirty="0"/>
          </a:p>
        </p:txBody>
      </p:sp>
      <p:sp>
        <p:nvSpPr>
          <p:cNvPr id="12" name="Text 10"/>
          <p:cNvSpPr/>
          <p:nvPr/>
        </p:nvSpPr>
        <p:spPr>
          <a:xfrm>
            <a:off x="1028700" y="6756994"/>
            <a:ext cx="284301" cy="380006"/>
          </a:xfrm>
          <a:prstGeom prst="rect">
            <a:avLst/>
          </a:prstGeom>
          <a:noFill/>
          <a:ln/>
        </p:spPr>
        <p:txBody>
          <a:bodyPr wrap="square" lIns="25400" tIns="25400" rIns="25400" bIns="25400" rtlCol="0" anchor="t">
            <a:normAutofit/>
          </a:bodyPr>
          <a:lstStyle/>
          <a:p>
            <a:pPr marL="0" indent="0" algn="l">
              <a:buNone/>
            </a:pPr>
            <a:r>
              <a:rPr lang="en-US" sz="2100" dirty="0">
                <a:solidFill>
                  <a:srgbClr val="1F7A5C"/>
                </a:solidFill>
                <a:latin typeface="Arial" pitchFamily="34" charset="0"/>
                <a:ea typeface="Arial" pitchFamily="34" charset="-122"/>
                <a:cs typeface="Arial" pitchFamily="34" charset="-120"/>
              </a:rPr>
              <a:t>—</a:t>
            </a:r>
            <a:endParaRPr lang="en-US" sz="2100" dirty="0"/>
          </a:p>
        </p:txBody>
      </p:sp>
      <p:sp>
        <p:nvSpPr>
          <p:cNvPr id="13" name="Text 11"/>
          <p:cNvSpPr/>
          <p:nvPr/>
        </p:nvSpPr>
        <p:spPr>
          <a:xfrm>
            <a:off x="1389118" y="6756994"/>
            <a:ext cx="6048712" cy="380006"/>
          </a:xfrm>
          <a:prstGeom prst="rect">
            <a:avLst/>
          </a:prstGeom>
          <a:noFill/>
          <a:ln/>
        </p:spPr>
        <p:txBody>
          <a:bodyPr wrap="square" lIns="0" tIns="0" rIns="0" bIns="0" rtlCol="0" anchor="t">
            <a:normAutofit/>
          </a:bodyPr>
          <a:lstStyle/>
          <a:p>
            <a:pPr marL="0" indent="0" algn="l">
              <a:buNone/>
            </a:pPr>
            <a:r>
              <a:rPr lang="en-US" sz="2100" dirty="0">
                <a:solidFill>
                  <a:srgbClr val="201D18"/>
                </a:solidFill>
                <a:latin typeface="Arial" pitchFamily="34" charset="0"/>
                <a:ea typeface="Arial" pitchFamily="34" charset="-122"/>
                <a:cs typeface="Arial" pitchFamily="34" charset="-120"/>
              </a:rPr>
              <a:t>Fastest convergence; very stable at the right rate.</a:t>
            </a:r>
            <a:endParaRPr lang="en-US" sz="2100" dirty="0"/>
          </a:p>
        </p:txBody>
      </p:sp>
      <p:sp>
        <p:nvSpPr>
          <p:cNvPr id="14" name="Text 12"/>
          <p:cNvSpPr/>
          <p:nvPr/>
        </p:nvSpPr>
        <p:spPr>
          <a:xfrm>
            <a:off x="1028700" y="7251217"/>
            <a:ext cx="284301" cy="380006"/>
          </a:xfrm>
          <a:prstGeom prst="rect">
            <a:avLst/>
          </a:prstGeom>
          <a:noFill/>
          <a:ln/>
        </p:spPr>
        <p:txBody>
          <a:bodyPr wrap="square" lIns="25400" tIns="25400" rIns="25400" bIns="25400" rtlCol="0" anchor="t">
            <a:normAutofit/>
          </a:bodyPr>
          <a:lstStyle/>
          <a:p>
            <a:pPr marL="0" indent="0" algn="l">
              <a:buNone/>
            </a:pPr>
            <a:r>
              <a:rPr lang="en-US" sz="2100" dirty="0">
                <a:solidFill>
                  <a:srgbClr val="1F7A5C"/>
                </a:solidFill>
                <a:latin typeface="Arial" pitchFamily="34" charset="0"/>
                <a:ea typeface="Arial" pitchFamily="34" charset="-122"/>
                <a:cs typeface="Arial" pitchFamily="34" charset="-120"/>
              </a:rPr>
              <a:t>—</a:t>
            </a:r>
            <a:endParaRPr lang="en-US" sz="2100" dirty="0"/>
          </a:p>
        </p:txBody>
      </p:sp>
      <p:sp>
        <p:nvSpPr>
          <p:cNvPr id="15" name="Text 13"/>
          <p:cNvSpPr/>
          <p:nvPr/>
        </p:nvSpPr>
        <p:spPr>
          <a:xfrm>
            <a:off x="1389118" y="7251217"/>
            <a:ext cx="6361589" cy="380006"/>
          </a:xfrm>
          <a:prstGeom prst="rect">
            <a:avLst/>
          </a:prstGeom>
          <a:noFill/>
          <a:ln/>
        </p:spPr>
        <p:txBody>
          <a:bodyPr wrap="square" lIns="0" tIns="0" rIns="0" bIns="0" rtlCol="0" anchor="t">
            <a:normAutofit/>
          </a:bodyPr>
          <a:lstStyle/>
          <a:p>
            <a:pPr marL="0" indent="0" algn="l">
              <a:buNone/>
            </a:pPr>
            <a:r>
              <a:rPr lang="en-US" sz="2100" dirty="0">
                <a:solidFill>
                  <a:srgbClr val="201D18"/>
                </a:solidFill>
                <a:latin typeface="Arial" pitchFamily="34" charset="0"/>
                <a:ea typeface="Arial" pitchFamily="34" charset="-122"/>
                <a:cs typeface="Arial" pitchFamily="34" charset="-120"/>
              </a:rPr>
              <a:t>lr-sensitive — best at 0.001, below the 0.01 default.</a:t>
            </a:r>
            <a:endParaRPr lang="en-US" sz="2100" dirty="0"/>
          </a:p>
        </p:txBody>
      </p:sp>
      <p:sp>
        <p:nvSpPr>
          <p:cNvPr id="16" name="Shape 14"/>
          <p:cNvSpPr/>
          <p:nvPr/>
        </p:nvSpPr>
        <p:spPr>
          <a:xfrm>
            <a:off x="10217054" y="3546406"/>
            <a:ext cx="7042247" cy="4383530"/>
          </a:xfrm>
          <a:prstGeom prst="roundRect">
            <a:avLst>
              <a:gd name="adj" fmla="val 2607"/>
            </a:avLst>
          </a:prstGeom>
          <a:solidFill>
            <a:srgbClr val="1F7A5C"/>
          </a:solidFill>
          <a:ln/>
        </p:spPr>
        <p:txBody>
          <a:bodyPr/>
          <a:lstStyle/>
          <a:p>
            <a:endParaRPr lang="en-CA"/>
          </a:p>
        </p:txBody>
      </p:sp>
      <p:sp>
        <p:nvSpPr>
          <p:cNvPr id="17" name="Text 15"/>
          <p:cNvSpPr/>
          <p:nvPr/>
        </p:nvSpPr>
        <p:spPr>
          <a:xfrm>
            <a:off x="10674254" y="4041623"/>
            <a:ext cx="6740632" cy="332298"/>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FFFFFF">
                    <a:alpha val="72000"/>
                  </a:srgbClr>
                </a:solidFill>
                <a:latin typeface="Courier New" pitchFamily="34" charset="0"/>
                <a:ea typeface="Courier New" pitchFamily="34" charset="-122"/>
                <a:cs typeface="Courier New" pitchFamily="34" charset="-120"/>
              </a:rPr>
              <a:t>TEST ACCURACY</a:t>
            </a:r>
            <a:endParaRPr lang="en-US" sz="1800" dirty="0"/>
          </a:p>
        </p:txBody>
      </p:sp>
      <p:sp>
        <p:nvSpPr>
          <p:cNvPr id="18" name="Text 16"/>
          <p:cNvSpPr/>
          <p:nvPr/>
        </p:nvSpPr>
        <p:spPr>
          <a:xfrm>
            <a:off x="10674254" y="4392972"/>
            <a:ext cx="6740632" cy="1160104"/>
          </a:xfrm>
          <a:prstGeom prst="rect">
            <a:avLst/>
          </a:prstGeom>
          <a:noFill/>
          <a:ln/>
        </p:spPr>
        <p:txBody>
          <a:bodyPr wrap="square" lIns="25400" tIns="25400" rIns="25400" bIns="25400" rtlCol="0" anchor="t">
            <a:normAutofit/>
          </a:bodyPr>
          <a:lstStyle/>
          <a:p>
            <a:pPr marL="0" indent="0" algn="l">
              <a:lnSpc>
                <a:spcPct val="95000"/>
              </a:lnSpc>
              <a:buNone/>
            </a:pPr>
            <a:r>
              <a:rPr lang="en-US" sz="9300" b="1" dirty="0">
                <a:solidFill>
                  <a:srgbClr val="FFFFFF"/>
                </a:solidFill>
                <a:latin typeface="Georgia" pitchFamily="34" charset="0"/>
                <a:ea typeface="Georgia" pitchFamily="34" charset="-122"/>
                <a:cs typeface="Georgia" pitchFamily="34" charset="-120"/>
              </a:rPr>
              <a:t>89.76</a:t>
            </a:r>
            <a:r>
              <a:rPr lang="en-US" sz="4050" b="1" dirty="0">
                <a:solidFill>
                  <a:srgbClr val="FFFFFF"/>
                </a:solidFill>
                <a:latin typeface="Georgia" pitchFamily="34" charset="0"/>
                <a:ea typeface="Georgia" pitchFamily="34" charset="-122"/>
                <a:cs typeface="Georgia" pitchFamily="34" charset="-120"/>
              </a:rPr>
              <a:t>%</a:t>
            </a:r>
            <a:endParaRPr lang="en-US" sz="9300" dirty="0"/>
          </a:p>
        </p:txBody>
      </p:sp>
      <p:sp>
        <p:nvSpPr>
          <p:cNvPr id="19" name="Shape 17"/>
          <p:cNvSpPr/>
          <p:nvPr/>
        </p:nvSpPr>
        <p:spPr>
          <a:xfrm>
            <a:off x="10674254" y="5800726"/>
            <a:ext cx="6127847" cy="9525"/>
          </a:xfrm>
          <a:prstGeom prst="rect">
            <a:avLst/>
          </a:prstGeom>
          <a:solidFill>
            <a:srgbClr val="FFFFFF">
              <a:alpha val="25000"/>
            </a:srgbClr>
          </a:solidFill>
          <a:ln/>
        </p:spPr>
        <p:txBody>
          <a:bodyPr/>
          <a:lstStyle/>
          <a:p>
            <a:endParaRPr lang="en-CA"/>
          </a:p>
        </p:txBody>
      </p:sp>
      <p:sp>
        <p:nvSpPr>
          <p:cNvPr id="20" name="Text 18"/>
          <p:cNvSpPr/>
          <p:nvPr/>
        </p:nvSpPr>
        <p:spPr>
          <a:xfrm>
            <a:off x="10674254" y="6037277"/>
            <a:ext cx="1332601" cy="332298"/>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70000"/>
                  </a:srgbClr>
                </a:solidFill>
                <a:latin typeface="Arial" pitchFamily="34" charset="0"/>
                <a:ea typeface="Arial" pitchFamily="34" charset="-122"/>
                <a:cs typeface="Arial" pitchFamily="34" charset="-120"/>
              </a:rPr>
              <a:t>Train acc</a:t>
            </a:r>
            <a:endParaRPr lang="en-US" sz="1800" dirty="0"/>
          </a:p>
        </p:txBody>
      </p:sp>
      <p:sp>
        <p:nvSpPr>
          <p:cNvPr id="21" name="Text 19"/>
          <p:cNvSpPr/>
          <p:nvPr/>
        </p:nvSpPr>
        <p:spPr>
          <a:xfrm>
            <a:off x="10674254" y="6331475"/>
            <a:ext cx="1578706" cy="618545"/>
          </a:xfrm>
          <a:prstGeom prst="rect">
            <a:avLst/>
          </a:prstGeom>
          <a:noFill/>
          <a:ln/>
        </p:spPr>
        <p:txBody>
          <a:bodyPr wrap="square" lIns="25400" tIns="25400" rIns="25400" bIns="25400" rtlCol="0" anchor="t">
            <a:normAutofit/>
          </a:bodyPr>
          <a:lstStyle/>
          <a:p>
            <a:pPr marL="0" indent="0" algn="l">
              <a:buNone/>
            </a:pPr>
            <a:r>
              <a:rPr lang="en-US" sz="3000" b="1" dirty="0">
                <a:solidFill>
                  <a:srgbClr val="FFFFFF"/>
                </a:solidFill>
                <a:latin typeface="Georgia" pitchFamily="34" charset="0"/>
                <a:ea typeface="Georgia" pitchFamily="34" charset="-122"/>
                <a:cs typeface="Georgia" pitchFamily="34" charset="-120"/>
              </a:rPr>
              <a:t>99.62%</a:t>
            </a:r>
            <a:endParaRPr lang="en-US" sz="3000" dirty="0"/>
          </a:p>
        </p:txBody>
      </p:sp>
      <p:sp>
        <p:nvSpPr>
          <p:cNvPr id="22" name="Text 20"/>
          <p:cNvSpPr/>
          <p:nvPr/>
        </p:nvSpPr>
        <p:spPr>
          <a:xfrm>
            <a:off x="12617146" y="6074299"/>
            <a:ext cx="1159813"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FFFFFF">
                    <a:alpha val="70000"/>
                  </a:srgbClr>
                </a:solidFill>
                <a:latin typeface="Arial" pitchFamily="34" charset="0"/>
                <a:ea typeface="Arial" pitchFamily="34" charset="-122"/>
                <a:cs typeface="Arial" pitchFamily="34" charset="-120"/>
              </a:rPr>
              <a:t>Gen. gap</a:t>
            </a:r>
            <a:endParaRPr lang="en-US" sz="1800" dirty="0"/>
          </a:p>
        </p:txBody>
      </p:sp>
      <p:sp>
        <p:nvSpPr>
          <p:cNvPr id="23" name="Text 21"/>
          <p:cNvSpPr/>
          <p:nvPr/>
        </p:nvSpPr>
        <p:spPr>
          <a:xfrm>
            <a:off x="12617147" y="6331475"/>
            <a:ext cx="981282" cy="618545"/>
          </a:xfrm>
          <a:prstGeom prst="rect">
            <a:avLst/>
          </a:prstGeom>
          <a:noFill/>
          <a:ln/>
        </p:spPr>
        <p:txBody>
          <a:bodyPr wrap="square" lIns="25400" tIns="25400" rIns="25400" bIns="25400" rtlCol="0" anchor="t">
            <a:normAutofit/>
          </a:bodyPr>
          <a:lstStyle/>
          <a:p>
            <a:pPr marL="0" indent="0" algn="l">
              <a:buNone/>
            </a:pPr>
            <a:r>
              <a:rPr lang="en-US" sz="3000" b="1" dirty="0">
                <a:solidFill>
                  <a:srgbClr val="FFFFFF"/>
                </a:solidFill>
                <a:latin typeface="Georgia" pitchFamily="34" charset="0"/>
                <a:ea typeface="Georgia" pitchFamily="34" charset="-122"/>
                <a:cs typeface="Georgia" pitchFamily="34" charset="-120"/>
              </a:rPr>
              <a:t>9.86</a:t>
            </a:r>
            <a:endParaRPr lang="en-US" sz="3000" dirty="0"/>
          </a:p>
        </p:txBody>
      </p:sp>
      <p:sp>
        <p:nvSpPr>
          <p:cNvPr id="24" name="Text 22"/>
          <p:cNvSpPr/>
          <p:nvPr/>
        </p:nvSpPr>
        <p:spPr>
          <a:xfrm>
            <a:off x="10674254" y="7140520"/>
            <a:ext cx="6740632" cy="332298"/>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82000"/>
                  </a:srgbClr>
                </a:solidFill>
                <a:latin typeface="Courier New" pitchFamily="34" charset="0"/>
                <a:ea typeface="Courier New" pitchFamily="34" charset="-122"/>
                <a:cs typeface="Courier New" pitchFamily="34" charset="-120"/>
              </a:rPr>
              <a:t>best · lr 0.001 · α 0.99</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16003"/>
            <a:ext cx="4626864"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OPTIMIZER 03 · DILKHUSH</a:t>
            </a:r>
            <a:endParaRPr lang="en-US" sz="1800" dirty="0"/>
          </a:p>
        </p:txBody>
      </p:sp>
      <p:sp>
        <p:nvSpPr>
          <p:cNvPr id="3" name="Text 1"/>
          <p:cNvSpPr/>
          <p:nvPr/>
        </p:nvSpPr>
        <p:spPr>
          <a:xfrm>
            <a:off x="14645683" y="800100"/>
            <a:ext cx="2874981" cy="348201"/>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BD3B25"/>
                </a:solidFill>
                <a:latin typeface="Courier New" pitchFamily="34" charset="0"/>
                <a:ea typeface="Courier New" pitchFamily="34" charset="-122"/>
                <a:cs typeface="Courier New" pitchFamily="34" charset="-120"/>
              </a:rPr>
              <a:t>★ BEST ON KMNIST</a:t>
            </a:r>
            <a:endParaRPr lang="en-US" sz="1800" dirty="0"/>
          </a:p>
        </p:txBody>
      </p:sp>
      <p:sp>
        <p:nvSpPr>
          <p:cNvPr id="4" name="Text 2"/>
          <p:cNvSpPr/>
          <p:nvPr/>
        </p:nvSpPr>
        <p:spPr>
          <a:xfrm>
            <a:off x="1028700" y="1186360"/>
            <a:ext cx="1785366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AdamW </a:t>
            </a:r>
            <a:r>
              <a:rPr lang="en-US" sz="2850" kern="0" spc="-55" dirty="0">
                <a:solidFill>
                  <a:srgbClr val="9A9183"/>
                </a:solidFill>
                <a:latin typeface="Georgia" pitchFamily="34" charset="0"/>
                <a:ea typeface="Georgia" pitchFamily="34" charset="-122"/>
                <a:cs typeface="Georgia" pitchFamily="34" charset="-120"/>
              </a:rPr>
              <a:t>Decoupled Weight Decay</a:t>
            </a:r>
            <a:endParaRPr lang="en-US" sz="5550" dirty="0"/>
          </a:p>
        </p:txBody>
      </p:sp>
      <p:sp>
        <p:nvSpPr>
          <p:cNvPr id="5" name="Text 3"/>
          <p:cNvSpPr/>
          <p:nvPr/>
        </p:nvSpPr>
        <p:spPr>
          <a:xfrm>
            <a:off x="1028700" y="3895270"/>
            <a:ext cx="8836202" cy="1366216"/>
          </a:xfrm>
          <a:prstGeom prst="rect">
            <a:avLst/>
          </a:prstGeom>
          <a:noFill/>
          <a:ln/>
        </p:spPr>
        <p:txBody>
          <a:bodyPr wrap="square" lIns="25400" tIns="25400" rIns="25400" bIns="25400" rtlCol="0" anchor="t">
            <a:normAutofit/>
          </a:bodyPr>
          <a:lstStyle/>
          <a:p>
            <a:pPr marL="0" indent="0" algn="l">
              <a:lnSpc>
                <a:spcPct val="140000"/>
              </a:lnSpc>
              <a:buNone/>
            </a:pPr>
            <a:r>
              <a:rPr lang="en-US" sz="2475" dirty="0">
                <a:solidFill>
                  <a:srgbClr val="5C564C"/>
                </a:solidFill>
                <a:latin typeface="Arial" pitchFamily="34" charset="0"/>
                <a:ea typeface="Arial" pitchFamily="34" charset="-122"/>
                <a:cs typeface="Arial" pitchFamily="34" charset="-120"/>
              </a:rPr>
              <a:t>Corrects Adam's L2 flaw by </a:t>
            </a:r>
            <a:r>
              <a:rPr lang="en-US" sz="2475" b="1" dirty="0">
                <a:solidFill>
                  <a:srgbClr val="201D18"/>
                </a:solidFill>
                <a:latin typeface="Arial" pitchFamily="34" charset="0"/>
                <a:ea typeface="Arial" pitchFamily="34" charset="-122"/>
                <a:cs typeface="Arial" pitchFamily="34" charset="-120"/>
              </a:rPr>
              <a:t>decoupling weight decay </a:t>
            </a:r>
            <a:r>
              <a:rPr lang="en-US" sz="2475" dirty="0">
                <a:solidFill>
                  <a:srgbClr val="5C564C"/>
                </a:solidFill>
                <a:latin typeface="Arial" pitchFamily="34" charset="0"/>
                <a:ea typeface="Arial" pitchFamily="34" charset="-122"/>
                <a:cs typeface="Arial" pitchFamily="34" charset="-120"/>
              </a:rPr>
              <a:t>from the adaptive update, so regularization stays clean and generalization improves.</a:t>
            </a:r>
            <a:endParaRPr lang="en-US" sz="2475" dirty="0"/>
          </a:p>
        </p:txBody>
      </p:sp>
      <p:sp>
        <p:nvSpPr>
          <p:cNvPr id="6" name="Text 4"/>
          <p:cNvSpPr/>
          <p:nvPr/>
        </p:nvSpPr>
        <p:spPr>
          <a:xfrm>
            <a:off x="1028700" y="5547153"/>
            <a:ext cx="9436721" cy="332298"/>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9A9183"/>
                </a:solidFill>
                <a:latin typeface="Courier New" pitchFamily="34" charset="0"/>
                <a:ea typeface="Courier New" pitchFamily="34" charset="-122"/>
                <a:cs typeface="Courier New" pitchFamily="34" charset="-120"/>
              </a:rPr>
              <a:t>DEFAULTS</a:t>
            </a:r>
            <a:endParaRPr lang="en-US" sz="1800" dirty="0"/>
          </a:p>
        </p:txBody>
      </p:sp>
      <p:sp>
        <p:nvSpPr>
          <p:cNvPr id="7" name="Shape 5"/>
          <p:cNvSpPr/>
          <p:nvPr/>
        </p:nvSpPr>
        <p:spPr>
          <a:xfrm>
            <a:off x="1028700" y="5955652"/>
            <a:ext cx="1417817" cy="481551"/>
          </a:xfrm>
          <a:prstGeom prst="roundRect">
            <a:avLst>
              <a:gd name="adj" fmla="val 11868"/>
            </a:avLst>
          </a:prstGeom>
          <a:solidFill>
            <a:srgbClr val="FFFFFF"/>
          </a:solidFill>
          <a:ln w="7951">
            <a:solidFill>
              <a:srgbClr val="201D18">
                <a:alpha val="16000"/>
              </a:srgbClr>
            </a:solidFill>
            <a:prstDash val="solid"/>
          </a:ln>
        </p:spPr>
        <p:txBody>
          <a:bodyPr/>
          <a:lstStyle/>
          <a:p>
            <a:endParaRPr lang="en-CA"/>
          </a:p>
        </p:txBody>
      </p:sp>
      <p:sp>
        <p:nvSpPr>
          <p:cNvPr id="8" name="Text 6"/>
          <p:cNvSpPr/>
          <p:nvPr/>
        </p:nvSpPr>
        <p:spPr>
          <a:xfrm>
            <a:off x="1189051" y="6049328"/>
            <a:ext cx="1173314" cy="332298"/>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lr 0.001</a:t>
            </a:r>
            <a:endParaRPr lang="en-US" sz="1800" dirty="0"/>
          </a:p>
        </p:txBody>
      </p:sp>
      <p:sp>
        <p:nvSpPr>
          <p:cNvPr id="9" name="Shape 7"/>
          <p:cNvSpPr/>
          <p:nvPr/>
        </p:nvSpPr>
        <p:spPr>
          <a:xfrm>
            <a:off x="2560817" y="5955652"/>
            <a:ext cx="1120637" cy="481551"/>
          </a:xfrm>
          <a:prstGeom prst="roundRect">
            <a:avLst>
              <a:gd name="adj" fmla="val 11868"/>
            </a:avLst>
          </a:prstGeom>
          <a:solidFill>
            <a:srgbClr val="FFFFFF"/>
          </a:solidFill>
          <a:ln w="7951">
            <a:solidFill>
              <a:srgbClr val="201D18">
                <a:alpha val="16000"/>
              </a:srgbClr>
            </a:solidFill>
            <a:prstDash val="solid"/>
          </a:ln>
        </p:spPr>
        <p:txBody>
          <a:bodyPr/>
          <a:lstStyle/>
          <a:p>
            <a:endParaRPr lang="en-CA"/>
          </a:p>
        </p:txBody>
      </p:sp>
      <p:sp>
        <p:nvSpPr>
          <p:cNvPr id="10" name="Text 8"/>
          <p:cNvSpPr/>
          <p:nvPr/>
        </p:nvSpPr>
        <p:spPr>
          <a:xfrm>
            <a:off x="2721169" y="6049328"/>
            <a:ext cx="876134" cy="332298"/>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β₁ 0.9</a:t>
            </a:r>
            <a:endParaRPr lang="en-US" sz="1800" dirty="0"/>
          </a:p>
        </p:txBody>
      </p:sp>
      <p:sp>
        <p:nvSpPr>
          <p:cNvPr id="11" name="Shape 9"/>
          <p:cNvSpPr/>
          <p:nvPr/>
        </p:nvSpPr>
        <p:spPr>
          <a:xfrm>
            <a:off x="3795754" y="5955652"/>
            <a:ext cx="1280657" cy="481551"/>
          </a:xfrm>
          <a:prstGeom prst="roundRect">
            <a:avLst>
              <a:gd name="adj" fmla="val 11868"/>
            </a:avLst>
          </a:prstGeom>
          <a:solidFill>
            <a:srgbClr val="FFFFFF"/>
          </a:solidFill>
          <a:ln w="7951">
            <a:solidFill>
              <a:srgbClr val="201D18">
                <a:alpha val="16000"/>
              </a:srgbClr>
            </a:solidFill>
            <a:prstDash val="solid"/>
          </a:ln>
        </p:spPr>
        <p:txBody>
          <a:bodyPr/>
          <a:lstStyle/>
          <a:p>
            <a:endParaRPr lang="en-CA"/>
          </a:p>
        </p:txBody>
      </p:sp>
      <p:sp>
        <p:nvSpPr>
          <p:cNvPr id="12" name="Text 10"/>
          <p:cNvSpPr/>
          <p:nvPr/>
        </p:nvSpPr>
        <p:spPr>
          <a:xfrm>
            <a:off x="3956105" y="6049328"/>
            <a:ext cx="1036154" cy="332298"/>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wd 0.01</a:t>
            </a:r>
            <a:endParaRPr lang="en-US" sz="1800" dirty="0"/>
          </a:p>
        </p:txBody>
      </p:sp>
      <p:sp>
        <p:nvSpPr>
          <p:cNvPr id="13" name="Text 11"/>
          <p:cNvSpPr/>
          <p:nvPr/>
        </p:nvSpPr>
        <p:spPr>
          <a:xfrm>
            <a:off x="1028700" y="6760970"/>
            <a:ext cx="284301" cy="380006"/>
          </a:xfrm>
          <a:prstGeom prst="rect">
            <a:avLst/>
          </a:prstGeom>
          <a:noFill/>
          <a:ln/>
        </p:spPr>
        <p:txBody>
          <a:bodyPr wrap="square" lIns="25400" tIns="25400" rIns="25400" bIns="25400" rtlCol="0" anchor="t">
            <a:normAutofit/>
          </a:bodyPr>
          <a:lstStyle/>
          <a:p>
            <a:pPr marL="0" indent="0" algn="l">
              <a:buNone/>
            </a:pPr>
            <a:r>
              <a:rPr lang="en-US" sz="2100" dirty="0">
                <a:solidFill>
                  <a:srgbClr val="BD3B25"/>
                </a:solidFill>
                <a:latin typeface="Arial" pitchFamily="34" charset="0"/>
                <a:ea typeface="Arial" pitchFamily="34" charset="-122"/>
                <a:cs typeface="Arial" pitchFamily="34" charset="-120"/>
              </a:rPr>
              <a:t>—</a:t>
            </a:r>
            <a:endParaRPr lang="en-US" sz="2100" dirty="0"/>
          </a:p>
        </p:txBody>
      </p:sp>
      <p:sp>
        <p:nvSpPr>
          <p:cNvPr id="14" name="Text 12"/>
          <p:cNvSpPr/>
          <p:nvPr/>
        </p:nvSpPr>
        <p:spPr>
          <a:xfrm>
            <a:off x="1389118" y="6760970"/>
            <a:ext cx="4418165" cy="380006"/>
          </a:xfrm>
          <a:prstGeom prst="rect">
            <a:avLst/>
          </a:prstGeom>
          <a:noFill/>
          <a:ln/>
        </p:spPr>
        <p:txBody>
          <a:bodyPr wrap="square" lIns="0" tIns="0" rIns="0" bIns="0" rtlCol="0" anchor="t">
            <a:normAutofit/>
          </a:bodyPr>
          <a:lstStyle/>
          <a:p>
            <a:pPr marL="0" indent="0" algn="l">
              <a:buNone/>
            </a:pPr>
            <a:r>
              <a:rPr lang="en-US" sz="2100" dirty="0">
                <a:solidFill>
                  <a:srgbClr val="201D18"/>
                </a:solidFill>
                <a:latin typeface="Arial" pitchFamily="34" charset="0"/>
                <a:ea typeface="Arial" pitchFamily="34" charset="-122"/>
                <a:cs typeface="Arial" pitchFamily="34" charset="-120"/>
              </a:rPr>
              <a:t>Smallest train–test gap of the three.</a:t>
            </a:r>
            <a:endParaRPr lang="en-US" sz="2100" dirty="0"/>
          </a:p>
        </p:txBody>
      </p:sp>
      <p:sp>
        <p:nvSpPr>
          <p:cNvPr id="15" name="Text 13"/>
          <p:cNvSpPr/>
          <p:nvPr/>
        </p:nvSpPr>
        <p:spPr>
          <a:xfrm>
            <a:off x="1028700" y="7255193"/>
            <a:ext cx="284301" cy="380006"/>
          </a:xfrm>
          <a:prstGeom prst="rect">
            <a:avLst/>
          </a:prstGeom>
          <a:noFill/>
          <a:ln/>
        </p:spPr>
        <p:txBody>
          <a:bodyPr wrap="square" lIns="25400" tIns="25400" rIns="25400" bIns="25400" rtlCol="0" anchor="t">
            <a:normAutofit/>
          </a:bodyPr>
          <a:lstStyle/>
          <a:p>
            <a:pPr marL="0" indent="0" algn="l">
              <a:buNone/>
            </a:pPr>
            <a:r>
              <a:rPr lang="en-US" sz="2100" dirty="0">
                <a:solidFill>
                  <a:srgbClr val="BD3B25"/>
                </a:solidFill>
                <a:latin typeface="Arial" pitchFamily="34" charset="0"/>
                <a:ea typeface="Arial" pitchFamily="34" charset="-122"/>
                <a:cs typeface="Arial" pitchFamily="34" charset="-120"/>
              </a:rPr>
              <a:t>—</a:t>
            </a:r>
            <a:endParaRPr lang="en-US" sz="2100" dirty="0"/>
          </a:p>
        </p:txBody>
      </p:sp>
      <p:sp>
        <p:nvSpPr>
          <p:cNvPr id="16" name="Text 14"/>
          <p:cNvSpPr/>
          <p:nvPr/>
        </p:nvSpPr>
        <p:spPr>
          <a:xfrm>
            <a:off x="1389118" y="7255193"/>
            <a:ext cx="5527633" cy="380006"/>
          </a:xfrm>
          <a:prstGeom prst="rect">
            <a:avLst/>
          </a:prstGeom>
          <a:noFill/>
          <a:ln/>
        </p:spPr>
        <p:txBody>
          <a:bodyPr wrap="square" lIns="0" tIns="0" rIns="0" bIns="0" rtlCol="0" anchor="t">
            <a:normAutofit/>
          </a:bodyPr>
          <a:lstStyle/>
          <a:p>
            <a:pPr marL="0" indent="0" algn="l">
              <a:buNone/>
            </a:pPr>
            <a:r>
              <a:rPr lang="en-US" sz="2100" dirty="0">
                <a:solidFill>
                  <a:srgbClr val="201D18"/>
                </a:solidFill>
                <a:latin typeface="Arial" pitchFamily="34" charset="0"/>
                <a:ea typeface="Arial" pitchFamily="34" charset="-122"/>
                <a:cs typeface="Arial" pitchFamily="34" charset="-120"/>
              </a:rPr>
              <a:t>wd 0.01 + lr 0.001 best; lr = 0.1 fails entirely.</a:t>
            </a:r>
            <a:endParaRPr lang="en-US" sz="2100" dirty="0"/>
          </a:p>
        </p:txBody>
      </p:sp>
      <p:sp>
        <p:nvSpPr>
          <p:cNvPr id="17" name="Shape 15"/>
          <p:cNvSpPr/>
          <p:nvPr/>
        </p:nvSpPr>
        <p:spPr>
          <a:xfrm>
            <a:off x="10217054" y="3554357"/>
            <a:ext cx="7042247" cy="4383530"/>
          </a:xfrm>
          <a:prstGeom prst="roundRect">
            <a:avLst>
              <a:gd name="adj" fmla="val 2607"/>
            </a:avLst>
          </a:prstGeom>
          <a:solidFill>
            <a:srgbClr val="BD3B25"/>
          </a:solidFill>
          <a:ln/>
        </p:spPr>
        <p:txBody>
          <a:bodyPr/>
          <a:lstStyle/>
          <a:p>
            <a:endParaRPr lang="en-CA"/>
          </a:p>
        </p:txBody>
      </p:sp>
      <p:sp>
        <p:nvSpPr>
          <p:cNvPr id="18" name="Text 16"/>
          <p:cNvSpPr/>
          <p:nvPr/>
        </p:nvSpPr>
        <p:spPr>
          <a:xfrm>
            <a:off x="10674254" y="4049575"/>
            <a:ext cx="6740632" cy="332298"/>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FFFFFF">
                    <a:alpha val="78000"/>
                  </a:srgbClr>
                </a:solidFill>
                <a:latin typeface="Courier New" pitchFamily="34" charset="0"/>
                <a:ea typeface="Courier New" pitchFamily="34" charset="-122"/>
                <a:cs typeface="Courier New" pitchFamily="34" charset="-120"/>
              </a:rPr>
              <a:t>TEST ACCURACY</a:t>
            </a:r>
            <a:endParaRPr lang="en-US" sz="1800" dirty="0"/>
          </a:p>
        </p:txBody>
      </p:sp>
      <p:sp>
        <p:nvSpPr>
          <p:cNvPr id="19" name="Text 17"/>
          <p:cNvSpPr/>
          <p:nvPr/>
        </p:nvSpPr>
        <p:spPr>
          <a:xfrm>
            <a:off x="10674254" y="4400923"/>
            <a:ext cx="6740632" cy="1160104"/>
          </a:xfrm>
          <a:prstGeom prst="rect">
            <a:avLst/>
          </a:prstGeom>
          <a:noFill/>
          <a:ln/>
        </p:spPr>
        <p:txBody>
          <a:bodyPr wrap="square" lIns="25400" tIns="25400" rIns="25400" bIns="25400" rtlCol="0" anchor="t">
            <a:normAutofit/>
          </a:bodyPr>
          <a:lstStyle/>
          <a:p>
            <a:pPr marL="0" indent="0" algn="l">
              <a:lnSpc>
                <a:spcPct val="95000"/>
              </a:lnSpc>
              <a:buNone/>
            </a:pPr>
            <a:r>
              <a:rPr lang="en-US" sz="9300" b="1" dirty="0">
                <a:solidFill>
                  <a:srgbClr val="FFFFFF"/>
                </a:solidFill>
                <a:latin typeface="Georgia" pitchFamily="34" charset="0"/>
                <a:ea typeface="Georgia" pitchFamily="34" charset="-122"/>
                <a:cs typeface="Georgia" pitchFamily="34" charset="-120"/>
              </a:rPr>
              <a:t>90.15</a:t>
            </a:r>
            <a:r>
              <a:rPr lang="en-US" sz="4050" b="1" dirty="0">
                <a:solidFill>
                  <a:srgbClr val="FFFFFF"/>
                </a:solidFill>
                <a:latin typeface="Georgia" pitchFamily="34" charset="0"/>
                <a:ea typeface="Georgia" pitchFamily="34" charset="-122"/>
                <a:cs typeface="Georgia" pitchFamily="34" charset="-120"/>
              </a:rPr>
              <a:t>%</a:t>
            </a:r>
            <a:endParaRPr lang="en-US" sz="9300" dirty="0"/>
          </a:p>
        </p:txBody>
      </p:sp>
      <p:sp>
        <p:nvSpPr>
          <p:cNvPr id="20" name="Shape 18"/>
          <p:cNvSpPr/>
          <p:nvPr/>
        </p:nvSpPr>
        <p:spPr>
          <a:xfrm>
            <a:off x="10674254" y="5808677"/>
            <a:ext cx="6127847" cy="9525"/>
          </a:xfrm>
          <a:prstGeom prst="rect">
            <a:avLst/>
          </a:prstGeom>
          <a:solidFill>
            <a:srgbClr val="FFFFFF">
              <a:alpha val="28000"/>
            </a:srgbClr>
          </a:solidFill>
          <a:ln/>
        </p:spPr>
        <p:txBody>
          <a:bodyPr/>
          <a:lstStyle/>
          <a:p>
            <a:endParaRPr lang="en-CA"/>
          </a:p>
        </p:txBody>
      </p:sp>
      <p:sp>
        <p:nvSpPr>
          <p:cNvPr id="21" name="Text 19"/>
          <p:cNvSpPr/>
          <p:nvPr/>
        </p:nvSpPr>
        <p:spPr>
          <a:xfrm>
            <a:off x="10674254" y="6045228"/>
            <a:ext cx="1332601" cy="332298"/>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78000"/>
                  </a:srgbClr>
                </a:solidFill>
                <a:latin typeface="Arial" pitchFamily="34" charset="0"/>
                <a:ea typeface="Arial" pitchFamily="34" charset="-122"/>
                <a:cs typeface="Arial" pitchFamily="34" charset="-120"/>
              </a:rPr>
              <a:t>Train acc</a:t>
            </a:r>
            <a:endParaRPr lang="en-US" sz="1800" dirty="0"/>
          </a:p>
        </p:txBody>
      </p:sp>
      <p:sp>
        <p:nvSpPr>
          <p:cNvPr id="22" name="Text 20"/>
          <p:cNvSpPr/>
          <p:nvPr/>
        </p:nvSpPr>
        <p:spPr>
          <a:xfrm>
            <a:off x="10674254" y="6339426"/>
            <a:ext cx="1668629" cy="618545"/>
          </a:xfrm>
          <a:prstGeom prst="rect">
            <a:avLst/>
          </a:prstGeom>
          <a:noFill/>
          <a:ln/>
        </p:spPr>
        <p:txBody>
          <a:bodyPr wrap="square" lIns="25400" tIns="25400" rIns="25400" bIns="25400" rtlCol="0" anchor="t">
            <a:normAutofit/>
          </a:bodyPr>
          <a:lstStyle/>
          <a:p>
            <a:pPr marL="0" indent="0" algn="l">
              <a:buNone/>
            </a:pPr>
            <a:r>
              <a:rPr lang="en-US" sz="3000" b="1" dirty="0">
                <a:solidFill>
                  <a:srgbClr val="FFFFFF"/>
                </a:solidFill>
                <a:latin typeface="Georgia" pitchFamily="34" charset="0"/>
                <a:ea typeface="Georgia" pitchFamily="34" charset="-122"/>
                <a:cs typeface="Georgia" pitchFamily="34" charset="-120"/>
              </a:rPr>
              <a:t>98.20%</a:t>
            </a:r>
            <a:endParaRPr lang="en-US" sz="3000" dirty="0"/>
          </a:p>
        </p:txBody>
      </p:sp>
      <p:sp>
        <p:nvSpPr>
          <p:cNvPr id="23" name="Text 21"/>
          <p:cNvSpPr/>
          <p:nvPr/>
        </p:nvSpPr>
        <p:spPr>
          <a:xfrm>
            <a:off x="12479987" y="6045228"/>
            <a:ext cx="1332600" cy="284673"/>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FFFFFF">
                    <a:alpha val="78000"/>
                  </a:srgbClr>
                </a:solidFill>
                <a:latin typeface="Arial" pitchFamily="34" charset="0"/>
                <a:ea typeface="Arial" pitchFamily="34" charset="-122"/>
                <a:cs typeface="Arial" pitchFamily="34" charset="-120"/>
              </a:rPr>
              <a:t>Gen. gap</a:t>
            </a:r>
            <a:endParaRPr lang="en-US" sz="1800" dirty="0"/>
          </a:p>
        </p:txBody>
      </p:sp>
      <p:sp>
        <p:nvSpPr>
          <p:cNvPr id="24" name="Text 22"/>
          <p:cNvSpPr/>
          <p:nvPr/>
        </p:nvSpPr>
        <p:spPr>
          <a:xfrm>
            <a:off x="12479987" y="6339426"/>
            <a:ext cx="981282" cy="618545"/>
          </a:xfrm>
          <a:prstGeom prst="rect">
            <a:avLst/>
          </a:prstGeom>
          <a:noFill/>
          <a:ln/>
        </p:spPr>
        <p:txBody>
          <a:bodyPr wrap="square" lIns="25400" tIns="25400" rIns="25400" bIns="25400" rtlCol="0" anchor="t">
            <a:normAutofit/>
          </a:bodyPr>
          <a:lstStyle/>
          <a:p>
            <a:pPr marL="0" indent="0" algn="l">
              <a:buNone/>
            </a:pPr>
            <a:r>
              <a:rPr lang="en-US" sz="3000" b="1" dirty="0">
                <a:solidFill>
                  <a:srgbClr val="FFFFFF"/>
                </a:solidFill>
                <a:latin typeface="Georgia" pitchFamily="34" charset="0"/>
                <a:ea typeface="Georgia" pitchFamily="34" charset="-122"/>
                <a:cs typeface="Georgia" pitchFamily="34" charset="-120"/>
              </a:rPr>
              <a:t>8.05</a:t>
            </a:r>
            <a:endParaRPr lang="en-US" sz="3000" dirty="0"/>
          </a:p>
        </p:txBody>
      </p:sp>
      <p:sp>
        <p:nvSpPr>
          <p:cNvPr id="25" name="Text 23"/>
          <p:cNvSpPr/>
          <p:nvPr/>
        </p:nvSpPr>
        <p:spPr>
          <a:xfrm>
            <a:off x="10674254" y="7148472"/>
            <a:ext cx="6740632" cy="332298"/>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88000"/>
                  </a:srgbClr>
                </a:solidFill>
                <a:latin typeface="Courier New" pitchFamily="34" charset="0"/>
                <a:ea typeface="Courier New" pitchFamily="34" charset="-122"/>
                <a:cs typeface="Courier New" pitchFamily="34" charset="-120"/>
              </a:rPr>
              <a:t>best · lr 0.001 · wd 0.01</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17853661"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METHODOLOGY</a:t>
            </a:r>
            <a:endParaRPr lang="en-US" sz="1800" dirty="0"/>
          </a:p>
        </p:txBody>
      </p:sp>
      <p:sp>
        <p:nvSpPr>
          <p:cNvPr id="3" name="Text 1"/>
          <p:cNvSpPr/>
          <p:nvPr/>
        </p:nvSpPr>
        <p:spPr>
          <a:xfrm>
            <a:off x="1028700" y="1341907"/>
            <a:ext cx="1785366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A fair, repeatable protocol</a:t>
            </a:r>
            <a:endParaRPr lang="en-US" sz="5550" dirty="0"/>
          </a:p>
        </p:txBody>
      </p:sp>
      <p:sp>
        <p:nvSpPr>
          <p:cNvPr id="4" name="Shape 2"/>
          <p:cNvSpPr/>
          <p:nvPr/>
        </p:nvSpPr>
        <p:spPr>
          <a:xfrm>
            <a:off x="1028700" y="2484783"/>
            <a:ext cx="3457575" cy="6093805"/>
          </a:xfrm>
          <a:prstGeom prst="roundRect">
            <a:avLst>
              <a:gd name="adj" fmla="val 2755"/>
            </a:avLst>
          </a:prstGeom>
          <a:solidFill>
            <a:srgbClr val="FFFFFF"/>
          </a:solidFill>
          <a:ln/>
        </p:spPr>
        <p:txBody>
          <a:bodyPr/>
          <a:lstStyle/>
          <a:p>
            <a:endParaRPr lang="en-CA"/>
          </a:p>
        </p:txBody>
      </p:sp>
      <p:sp>
        <p:nvSpPr>
          <p:cNvPr id="5" name="Text 3"/>
          <p:cNvSpPr/>
          <p:nvPr/>
        </p:nvSpPr>
        <p:spPr>
          <a:xfrm>
            <a:off x="1333459" y="2846691"/>
            <a:ext cx="3132864" cy="476291"/>
          </a:xfrm>
          <a:prstGeom prst="rect">
            <a:avLst/>
          </a:prstGeom>
          <a:noFill/>
          <a:ln/>
        </p:spPr>
        <p:txBody>
          <a:bodyPr wrap="square" lIns="25400" tIns="25400" rIns="25400" bIns="25400" rtlCol="0" anchor="t">
            <a:normAutofit/>
          </a:bodyPr>
          <a:lstStyle/>
          <a:p>
            <a:pPr marL="0" indent="0" algn="l">
              <a:lnSpc>
                <a:spcPct val="100000"/>
              </a:lnSpc>
              <a:buNone/>
            </a:pPr>
            <a:r>
              <a:rPr lang="en-US" sz="3450" b="1" dirty="0">
                <a:solidFill>
                  <a:srgbClr val="BD3B25"/>
                </a:solidFill>
                <a:latin typeface="Georgia" pitchFamily="34" charset="0"/>
                <a:ea typeface="Georgia" pitchFamily="34" charset="-122"/>
                <a:cs typeface="Georgia" pitchFamily="34" charset="-120"/>
              </a:rPr>
              <a:t>01</a:t>
            </a:r>
            <a:endParaRPr lang="en-US" sz="3450" dirty="0"/>
          </a:p>
        </p:txBody>
      </p:sp>
      <p:sp>
        <p:nvSpPr>
          <p:cNvPr id="6" name="Text 4"/>
          <p:cNvSpPr/>
          <p:nvPr/>
        </p:nvSpPr>
        <p:spPr>
          <a:xfrm>
            <a:off x="1333459" y="3418191"/>
            <a:ext cx="3132864" cy="507227"/>
          </a:xfrm>
          <a:prstGeom prst="rect">
            <a:avLst/>
          </a:prstGeom>
          <a:noFill/>
          <a:ln/>
        </p:spPr>
        <p:txBody>
          <a:bodyPr wrap="square" lIns="25400" tIns="25400" rIns="25400" bIns="25400" rtlCol="0" anchor="t">
            <a:normAutofit/>
          </a:bodyPr>
          <a:lstStyle/>
          <a:p>
            <a:pPr marL="0" indent="0" algn="l">
              <a:buNone/>
            </a:pPr>
            <a:r>
              <a:rPr lang="en-US" sz="2400" b="1" dirty="0">
                <a:solidFill>
                  <a:srgbClr val="201D18"/>
                </a:solidFill>
                <a:latin typeface="Georgia" pitchFamily="34" charset="0"/>
                <a:ea typeface="Georgia" pitchFamily="34" charset="-122"/>
                <a:cs typeface="Georgia" pitchFamily="34" charset="-120"/>
              </a:rPr>
              <a:t>Search</a:t>
            </a:r>
            <a:endParaRPr lang="en-US" sz="2400" dirty="0"/>
          </a:p>
        </p:txBody>
      </p:sp>
      <p:sp>
        <p:nvSpPr>
          <p:cNvPr id="7" name="Text 5"/>
          <p:cNvSpPr/>
          <p:nvPr/>
        </p:nvSpPr>
        <p:spPr>
          <a:xfrm>
            <a:off x="1333459" y="4001619"/>
            <a:ext cx="2933500" cy="16383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5C564C"/>
                </a:solidFill>
                <a:latin typeface="Arial" pitchFamily="34" charset="0"/>
                <a:ea typeface="Arial" pitchFamily="34" charset="-122"/>
                <a:cs typeface="Arial" pitchFamily="34" charset="-120"/>
              </a:rPr>
              <a:t>≥ 4 configs per optimizer. Learning rate swept across two orders of magnitude, plus one optimizer-specific parameter.</a:t>
            </a:r>
            <a:endParaRPr lang="en-US" sz="1800" dirty="0"/>
          </a:p>
        </p:txBody>
      </p:sp>
      <p:sp>
        <p:nvSpPr>
          <p:cNvPr id="8" name="Text 6"/>
          <p:cNvSpPr/>
          <p:nvPr/>
        </p:nvSpPr>
        <p:spPr>
          <a:xfrm>
            <a:off x="4733884" y="2484783"/>
            <a:ext cx="381083" cy="6131905"/>
          </a:xfrm>
          <a:prstGeom prst="rect">
            <a:avLst/>
          </a:prstGeom>
          <a:noFill/>
          <a:ln/>
        </p:spPr>
        <p:txBody>
          <a:bodyPr wrap="square" lIns="25400" tIns="25400" rIns="25400" bIns="25400" rtlCol="0" anchor="ctr">
            <a:normAutofit/>
          </a:bodyPr>
          <a:lstStyle/>
          <a:p>
            <a:pPr marL="0" indent="0" algn="l">
              <a:buNone/>
            </a:pPr>
            <a:r>
              <a:rPr lang="en-US" sz="2400" dirty="0">
                <a:solidFill>
                  <a:srgbClr val="9A9183"/>
                </a:solidFill>
                <a:latin typeface="Arial" pitchFamily="34" charset="0"/>
                <a:ea typeface="Arial" pitchFamily="34" charset="-122"/>
                <a:cs typeface="Arial" pitchFamily="34" charset="-120"/>
              </a:rPr>
              <a:t>→</a:t>
            </a:r>
            <a:endParaRPr lang="en-US" sz="2400" dirty="0"/>
          </a:p>
        </p:txBody>
      </p:sp>
      <p:sp>
        <p:nvSpPr>
          <p:cNvPr id="9" name="Shape 7"/>
          <p:cNvSpPr/>
          <p:nvPr/>
        </p:nvSpPr>
        <p:spPr>
          <a:xfrm>
            <a:off x="5286376" y="2484783"/>
            <a:ext cx="3457575" cy="6093805"/>
          </a:xfrm>
          <a:prstGeom prst="roundRect">
            <a:avLst>
              <a:gd name="adj" fmla="val 2755"/>
            </a:avLst>
          </a:prstGeom>
          <a:solidFill>
            <a:srgbClr val="FFFFFF"/>
          </a:solidFill>
          <a:ln/>
        </p:spPr>
        <p:txBody>
          <a:bodyPr/>
          <a:lstStyle/>
          <a:p>
            <a:endParaRPr lang="en-CA"/>
          </a:p>
        </p:txBody>
      </p:sp>
      <p:sp>
        <p:nvSpPr>
          <p:cNvPr id="10" name="Text 8"/>
          <p:cNvSpPr/>
          <p:nvPr/>
        </p:nvSpPr>
        <p:spPr>
          <a:xfrm>
            <a:off x="5591134" y="2846691"/>
            <a:ext cx="3132864" cy="476291"/>
          </a:xfrm>
          <a:prstGeom prst="rect">
            <a:avLst/>
          </a:prstGeom>
          <a:noFill/>
          <a:ln/>
        </p:spPr>
        <p:txBody>
          <a:bodyPr wrap="square" lIns="25400" tIns="25400" rIns="25400" bIns="25400" rtlCol="0" anchor="t">
            <a:normAutofit/>
          </a:bodyPr>
          <a:lstStyle/>
          <a:p>
            <a:pPr marL="0" indent="0" algn="l">
              <a:lnSpc>
                <a:spcPct val="100000"/>
              </a:lnSpc>
              <a:buNone/>
            </a:pPr>
            <a:r>
              <a:rPr lang="en-US" sz="3450" b="1" dirty="0">
                <a:solidFill>
                  <a:srgbClr val="BD3B25"/>
                </a:solidFill>
                <a:latin typeface="Georgia" pitchFamily="34" charset="0"/>
                <a:ea typeface="Georgia" pitchFamily="34" charset="-122"/>
                <a:cs typeface="Georgia" pitchFamily="34" charset="-120"/>
              </a:rPr>
              <a:t>02</a:t>
            </a:r>
            <a:endParaRPr lang="en-US" sz="3450" dirty="0"/>
          </a:p>
        </p:txBody>
      </p:sp>
      <p:sp>
        <p:nvSpPr>
          <p:cNvPr id="11" name="Text 9"/>
          <p:cNvSpPr/>
          <p:nvPr/>
        </p:nvSpPr>
        <p:spPr>
          <a:xfrm>
            <a:off x="5591134" y="3418191"/>
            <a:ext cx="3132864" cy="507227"/>
          </a:xfrm>
          <a:prstGeom prst="rect">
            <a:avLst/>
          </a:prstGeom>
          <a:noFill/>
          <a:ln/>
        </p:spPr>
        <p:txBody>
          <a:bodyPr wrap="square" lIns="25400" tIns="25400" rIns="25400" bIns="25400" rtlCol="0" anchor="t">
            <a:normAutofit/>
          </a:bodyPr>
          <a:lstStyle/>
          <a:p>
            <a:pPr marL="0" indent="0" algn="l">
              <a:buNone/>
            </a:pPr>
            <a:r>
              <a:rPr lang="en-US" sz="2400" b="1" dirty="0">
                <a:solidFill>
                  <a:srgbClr val="201D18"/>
                </a:solidFill>
                <a:latin typeface="Georgia" pitchFamily="34" charset="0"/>
                <a:ea typeface="Georgia" pitchFamily="34" charset="-122"/>
                <a:cs typeface="Georgia" pitchFamily="34" charset="-120"/>
              </a:rPr>
              <a:t>Cross-validate</a:t>
            </a:r>
            <a:endParaRPr lang="en-US" sz="2400" dirty="0"/>
          </a:p>
        </p:txBody>
      </p:sp>
      <p:sp>
        <p:nvSpPr>
          <p:cNvPr id="12" name="Text 10"/>
          <p:cNvSpPr/>
          <p:nvPr/>
        </p:nvSpPr>
        <p:spPr>
          <a:xfrm>
            <a:off x="5591134" y="4001619"/>
            <a:ext cx="2933500" cy="163830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5C564C"/>
                </a:solidFill>
                <a:latin typeface="Arial" pitchFamily="34" charset="0"/>
                <a:ea typeface="Arial" pitchFamily="34" charset="-122"/>
                <a:cs typeface="Arial" pitchFamily="34" charset="-120"/>
              </a:rPr>
              <a:t>5-fold cross-validation on the training set; record mean ± std validation accuracy for every configuration.</a:t>
            </a:r>
            <a:endParaRPr lang="en-US" sz="1800" dirty="0"/>
          </a:p>
        </p:txBody>
      </p:sp>
      <p:sp>
        <p:nvSpPr>
          <p:cNvPr id="13" name="Text 11"/>
          <p:cNvSpPr/>
          <p:nvPr/>
        </p:nvSpPr>
        <p:spPr>
          <a:xfrm>
            <a:off x="8991559" y="2484783"/>
            <a:ext cx="381083" cy="6131905"/>
          </a:xfrm>
          <a:prstGeom prst="rect">
            <a:avLst/>
          </a:prstGeom>
          <a:noFill/>
          <a:ln/>
        </p:spPr>
        <p:txBody>
          <a:bodyPr wrap="square" lIns="25400" tIns="25400" rIns="25400" bIns="25400" rtlCol="0" anchor="ctr">
            <a:normAutofit/>
          </a:bodyPr>
          <a:lstStyle/>
          <a:p>
            <a:pPr marL="0" indent="0" algn="l">
              <a:buNone/>
            </a:pPr>
            <a:r>
              <a:rPr lang="en-US" sz="2400" dirty="0">
                <a:solidFill>
                  <a:srgbClr val="9A9183"/>
                </a:solidFill>
                <a:latin typeface="Arial" pitchFamily="34" charset="0"/>
                <a:ea typeface="Arial" pitchFamily="34" charset="-122"/>
                <a:cs typeface="Arial" pitchFamily="34" charset="-120"/>
              </a:rPr>
              <a:t>→</a:t>
            </a:r>
            <a:endParaRPr lang="en-US" sz="2400" dirty="0"/>
          </a:p>
        </p:txBody>
      </p:sp>
      <p:sp>
        <p:nvSpPr>
          <p:cNvPr id="14" name="Shape 12"/>
          <p:cNvSpPr/>
          <p:nvPr/>
        </p:nvSpPr>
        <p:spPr>
          <a:xfrm>
            <a:off x="9544051" y="2484783"/>
            <a:ext cx="3457575" cy="6093805"/>
          </a:xfrm>
          <a:prstGeom prst="roundRect">
            <a:avLst>
              <a:gd name="adj" fmla="val 2755"/>
            </a:avLst>
          </a:prstGeom>
          <a:solidFill>
            <a:srgbClr val="FFFFFF"/>
          </a:solidFill>
          <a:ln/>
        </p:spPr>
        <p:txBody>
          <a:bodyPr/>
          <a:lstStyle/>
          <a:p>
            <a:endParaRPr lang="en-CA"/>
          </a:p>
        </p:txBody>
      </p:sp>
      <p:sp>
        <p:nvSpPr>
          <p:cNvPr id="15" name="Text 13"/>
          <p:cNvSpPr/>
          <p:nvPr/>
        </p:nvSpPr>
        <p:spPr>
          <a:xfrm>
            <a:off x="9848809" y="2846691"/>
            <a:ext cx="3132864" cy="476291"/>
          </a:xfrm>
          <a:prstGeom prst="rect">
            <a:avLst/>
          </a:prstGeom>
          <a:noFill/>
          <a:ln/>
        </p:spPr>
        <p:txBody>
          <a:bodyPr wrap="square" lIns="25400" tIns="25400" rIns="25400" bIns="25400" rtlCol="0" anchor="t">
            <a:normAutofit/>
          </a:bodyPr>
          <a:lstStyle/>
          <a:p>
            <a:pPr marL="0" indent="0" algn="l">
              <a:lnSpc>
                <a:spcPct val="100000"/>
              </a:lnSpc>
              <a:buNone/>
            </a:pPr>
            <a:r>
              <a:rPr lang="en-US" sz="3450" b="1" dirty="0">
                <a:solidFill>
                  <a:srgbClr val="BD3B25"/>
                </a:solidFill>
                <a:latin typeface="Georgia" pitchFamily="34" charset="0"/>
                <a:ea typeface="Georgia" pitchFamily="34" charset="-122"/>
                <a:cs typeface="Georgia" pitchFamily="34" charset="-120"/>
              </a:rPr>
              <a:t>03</a:t>
            </a:r>
            <a:endParaRPr lang="en-US" sz="3450" dirty="0"/>
          </a:p>
        </p:txBody>
      </p:sp>
      <p:sp>
        <p:nvSpPr>
          <p:cNvPr id="16" name="Text 14"/>
          <p:cNvSpPr/>
          <p:nvPr/>
        </p:nvSpPr>
        <p:spPr>
          <a:xfrm>
            <a:off x="9848809" y="3418191"/>
            <a:ext cx="3132864" cy="507227"/>
          </a:xfrm>
          <a:prstGeom prst="rect">
            <a:avLst/>
          </a:prstGeom>
          <a:noFill/>
          <a:ln/>
        </p:spPr>
        <p:txBody>
          <a:bodyPr wrap="square" lIns="25400" tIns="25400" rIns="25400" bIns="25400" rtlCol="0" anchor="t">
            <a:normAutofit/>
          </a:bodyPr>
          <a:lstStyle/>
          <a:p>
            <a:pPr marL="0" indent="0" algn="l">
              <a:buNone/>
            </a:pPr>
            <a:r>
              <a:rPr lang="en-US" sz="2400" b="1" dirty="0">
                <a:solidFill>
                  <a:srgbClr val="201D18"/>
                </a:solidFill>
                <a:latin typeface="Georgia" pitchFamily="34" charset="0"/>
                <a:ea typeface="Georgia" pitchFamily="34" charset="-122"/>
                <a:cs typeface="Georgia" pitchFamily="34" charset="-120"/>
              </a:rPr>
              <a:t>Select</a:t>
            </a:r>
            <a:endParaRPr lang="en-US" sz="2400" dirty="0"/>
          </a:p>
        </p:txBody>
      </p:sp>
      <p:sp>
        <p:nvSpPr>
          <p:cNvPr id="17" name="Text 15"/>
          <p:cNvSpPr/>
          <p:nvPr/>
        </p:nvSpPr>
        <p:spPr>
          <a:xfrm>
            <a:off x="9848809" y="4001619"/>
            <a:ext cx="2933500" cy="131826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5C564C"/>
                </a:solidFill>
                <a:latin typeface="Arial" pitchFamily="34" charset="0"/>
                <a:ea typeface="Arial" pitchFamily="34" charset="-122"/>
                <a:cs typeface="Arial" pitchFamily="34" charset="-120"/>
              </a:rPr>
              <a:t>Keep the single best configuration per optimizer — the one with the highest mean validation accuracy.</a:t>
            </a:r>
            <a:endParaRPr lang="en-US" sz="1800" dirty="0"/>
          </a:p>
        </p:txBody>
      </p:sp>
      <p:sp>
        <p:nvSpPr>
          <p:cNvPr id="18" name="Text 16"/>
          <p:cNvSpPr/>
          <p:nvPr/>
        </p:nvSpPr>
        <p:spPr>
          <a:xfrm>
            <a:off x="13249234" y="2484783"/>
            <a:ext cx="381083" cy="6131905"/>
          </a:xfrm>
          <a:prstGeom prst="rect">
            <a:avLst/>
          </a:prstGeom>
          <a:noFill/>
          <a:ln/>
        </p:spPr>
        <p:txBody>
          <a:bodyPr wrap="square" lIns="25400" tIns="25400" rIns="25400" bIns="25400" rtlCol="0" anchor="ctr">
            <a:normAutofit/>
          </a:bodyPr>
          <a:lstStyle/>
          <a:p>
            <a:pPr marL="0" indent="0" algn="l">
              <a:buNone/>
            </a:pPr>
            <a:r>
              <a:rPr lang="en-US" sz="2400" dirty="0">
                <a:solidFill>
                  <a:srgbClr val="9A9183"/>
                </a:solidFill>
                <a:latin typeface="Arial" pitchFamily="34" charset="0"/>
                <a:ea typeface="Arial" pitchFamily="34" charset="-122"/>
                <a:cs typeface="Arial" pitchFamily="34" charset="-120"/>
              </a:rPr>
              <a:t>→</a:t>
            </a:r>
            <a:endParaRPr lang="en-US" sz="2400" dirty="0"/>
          </a:p>
        </p:txBody>
      </p:sp>
      <p:sp>
        <p:nvSpPr>
          <p:cNvPr id="19" name="Shape 17"/>
          <p:cNvSpPr/>
          <p:nvPr/>
        </p:nvSpPr>
        <p:spPr>
          <a:xfrm>
            <a:off x="13801726" y="2484783"/>
            <a:ext cx="3457575" cy="6093805"/>
          </a:xfrm>
          <a:prstGeom prst="roundRect">
            <a:avLst>
              <a:gd name="adj" fmla="val 2755"/>
            </a:avLst>
          </a:prstGeom>
          <a:solidFill>
            <a:srgbClr val="201D18"/>
          </a:solidFill>
          <a:ln/>
        </p:spPr>
        <p:txBody>
          <a:bodyPr/>
          <a:lstStyle/>
          <a:p>
            <a:endParaRPr lang="en-CA"/>
          </a:p>
        </p:txBody>
      </p:sp>
      <p:sp>
        <p:nvSpPr>
          <p:cNvPr id="20" name="Text 18"/>
          <p:cNvSpPr/>
          <p:nvPr/>
        </p:nvSpPr>
        <p:spPr>
          <a:xfrm>
            <a:off x="14106484" y="2846691"/>
            <a:ext cx="3132864" cy="476291"/>
          </a:xfrm>
          <a:prstGeom prst="rect">
            <a:avLst/>
          </a:prstGeom>
          <a:noFill/>
          <a:ln/>
        </p:spPr>
        <p:txBody>
          <a:bodyPr wrap="square" lIns="25400" tIns="25400" rIns="25400" bIns="25400" rtlCol="0" anchor="t">
            <a:normAutofit/>
          </a:bodyPr>
          <a:lstStyle/>
          <a:p>
            <a:pPr marL="0" indent="0" algn="l">
              <a:lnSpc>
                <a:spcPct val="100000"/>
              </a:lnSpc>
              <a:buNone/>
            </a:pPr>
            <a:r>
              <a:rPr lang="en-US" sz="3450" b="1" dirty="0">
                <a:solidFill>
                  <a:srgbClr val="BD3B25"/>
                </a:solidFill>
                <a:latin typeface="Georgia" pitchFamily="34" charset="0"/>
                <a:ea typeface="Georgia" pitchFamily="34" charset="-122"/>
                <a:cs typeface="Georgia" pitchFamily="34" charset="-120"/>
              </a:rPr>
              <a:t>04</a:t>
            </a:r>
            <a:endParaRPr lang="en-US" sz="3450" dirty="0"/>
          </a:p>
        </p:txBody>
      </p:sp>
      <p:sp>
        <p:nvSpPr>
          <p:cNvPr id="21" name="Text 19"/>
          <p:cNvSpPr/>
          <p:nvPr/>
        </p:nvSpPr>
        <p:spPr>
          <a:xfrm>
            <a:off x="14106484" y="3418191"/>
            <a:ext cx="3132864" cy="507227"/>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Georgia" pitchFamily="34" charset="0"/>
                <a:ea typeface="Georgia" pitchFamily="34" charset="-122"/>
                <a:cs typeface="Georgia" pitchFamily="34" charset="-120"/>
              </a:rPr>
              <a:t>Train &amp; test</a:t>
            </a:r>
            <a:endParaRPr lang="en-US" sz="2400" dirty="0"/>
          </a:p>
        </p:txBody>
      </p:sp>
      <p:sp>
        <p:nvSpPr>
          <p:cNvPr id="22" name="Text 20"/>
          <p:cNvSpPr/>
          <p:nvPr/>
        </p:nvSpPr>
        <p:spPr>
          <a:xfrm>
            <a:off x="14106484" y="4001619"/>
            <a:ext cx="2933500" cy="131826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4F1EA">
                    <a:alpha val="78000"/>
                  </a:srgbClr>
                </a:solidFill>
                <a:latin typeface="Arial" pitchFamily="34" charset="0"/>
                <a:ea typeface="Arial" pitchFamily="34" charset="-122"/>
                <a:cs typeface="Arial" pitchFamily="34" charset="-120"/>
              </a:rPr>
              <a:t>Train the final model on the full set for 20 epochs, then report accuracy and loss on the held-out test set.</a:t>
            </a:r>
            <a:endParaRPr lang="en-US" sz="1800" dirty="0"/>
          </a:p>
        </p:txBody>
      </p:sp>
      <p:sp>
        <p:nvSpPr>
          <p:cNvPr id="23" name="Shape 21"/>
          <p:cNvSpPr/>
          <p:nvPr/>
        </p:nvSpPr>
        <p:spPr>
          <a:xfrm>
            <a:off x="1028700" y="8864338"/>
            <a:ext cx="16230601" cy="9525"/>
          </a:xfrm>
          <a:prstGeom prst="rect">
            <a:avLst/>
          </a:prstGeom>
          <a:solidFill>
            <a:srgbClr val="201D18">
              <a:alpha val="16000"/>
            </a:srgbClr>
          </a:solidFill>
          <a:ln/>
        </p:spPr>
        <p:txBody>
          <a:bodyPr/>
          <a:lstStyle/>
          <a:p>
            <a:endParaRPr lang="en-CA"/>
          </a:p>
        </p:txBody>
      </p:sp>
      <p:sp>
        <p:nvSpPr>
          <p:cNvPr id="24" name="Text 22"/>
          <p:cNvSpPr/>
          <p:nvPr/>
        </p:nvSpPr>
        <p:spPr>
          <a:xfrm>
            <a:off x="1028700" y="9119898"/>
            <a:ext cx="2133600" cy="481385"/>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Courier New" pitchFamily="34" charset="0"/>
                <a:ea typeface="Courier New" pitchFamily="34" charset="-122"/>
                <a:cs typeface="Courier New" pitchFamily="34" charset="-120"/>
              </a:rPr>
              <a:t>Held constant —</a:t>
            </a:r>
            <a:endParaRPr lang="en-US" sz="1800" dirty="0"/>
          </a:p>
        </p:txBody>
      </p:sp>
      <p:sp>
        <p:nvSpPr>
          <p:cNvPr id="25" name="Shape 23"/>
          <p:cNvSpPr/>
          <p:nvPr/>
        </p:nvSpPr>
        <p:spPr>
          <a:xfrm>
            <a:off x="3219409" y="9119898"/>
            <a:ext cx="1242640" cy="443285"/>
          </a:xfrm>
          <a:prstGeom prst="roundRect">
            <a:avLst>
              <a:gd name="adj" fmla="val 12892"/>
            </a:avLst>
          </a:prstGeom>
          <a:solidFill>
            <a:srgbClr val="FFFFFF"/>
          </a:solidFill>
          <a:ln w="7951">
            <a:solidFill>
              <a:srgbClr val="201D18">
                <a:alpha val="16000"/>
              </a:srgbClr>
            </a:solidFill>
            <a:prstDash val="solid"/>
          </a:ln>
        </p:spPr>
        <p:txBody>
          <a:bodyPr/>
          <a:lstStyle/>
          <a:p>
            <a:endParaRPr lang="en-CA"/>
          </a:p>
        </p:txBody>
      </p:sp>
      <p:sp>
        <p:nvSpPr>
          <p:cNvPr id="26" name="Text 24"/>
          <p:cNvSpPr/>
          <p:nvPr/>
        </p:nvSpPr>
        <p:spPr>
          <a:xfrm>
            <a:off x="3360710" y="9194524"/>
            <a:ext cx="1036237" cy="332133"/>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seed 42</a:t>
            </a:r>
            <a:endParaRPr lang="en-US" sz="1800" dirty="0"/>
          </a:p>
        </p:txBody>
      </p:sp>
      <p:sp>
        <p:nvSpPr>
          <p:cNvPr id="27" name="Shape 25"/>
          <p:cNvSpPr/>
          <p:nvPr/>
        </p:nvSpPr>
        <p:spPr>
          <a:xfrm>
            <a:off x="4595357" y="9119898"/>
            <a:ext cx="1516960" cy="443285"/>
          </a:xfrm>
          <a:prstGeom prst="roundRect">
            <a:avLst>
              <a:gd name="adj" fmla="val 12892"/>
            </a:avLst>
          </a:prstGeom>
          <a:solidFill>
            <a:srgbClr val="FFFFFF"/>
          </a:solidFill>
          <a:ln w="7951">
            <a:solidFill>
              <a:srgbClr val="201D18">
                <a:alpha val="16000"/>
              </a:srgbClr>
            </a:solidFill>
            <a:prstDash val="solid"/>
          </a:ln>
        </p:spPr>
        <p:txBody>
          <a:bodyPr/>
          <a:lstStyle/>
          <a:p>
            <a:endParaRPr lang="en-CA"/>
          </a:p>
        </p:txBody>
      </p:sp>
      <p:sp>
        <p:nvSpPr>
          <p:cNvPr id="28" name="Text 26"/>
          <p:cNvSpPr/>
          <p:nvPr/>
        </p:nvSpPr>
        <p:spPr>
          <a:xfrm>
            <a:off x="4736659" y="9194524"/>
            <a:ext cx="1310557" cy="332133"/>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20 epochs</a:t>
            </a:r>
            <a:endParaRPr lang="en-US" sz="1800" dirty="0"/>
          </a:p>
        </p:txBody>
      </p:sp>
      <p:sp>
        <p:nvSpPr>
          <p:cNvPr id="29" name="Shape 27"/>
          <p:cNvSpPr/>
          <p:nvPr/>
        </p:nvSpPr>
        <p:spPr>
          <a:xfrm>
            <a:off x="6245626" y="9119898"/>
            <a:ext cx="1379800" cy="443285"/>
          </a:xfrm>
          <a:prstGeom prst="roundRect">
            <a:avLst>
              <a:gd name="adj" fmla="val 12892"/>
            </a:avLst>
          </a:prstGeom>
          <a:solidFill>
            <a:srgbClr val="FFFFFF"/>
          </a:solidFill>
          <a:ln w="7951">
            <a:solidFill>
              <a:srgbClr val="201D18">
                <a:alpha val="16000"/>
              </a:srgbClr>
            </a:solidFill>
            <a:prstDash val="solid"/>
          </a:ln>
        </p:spPr>
        <p:txBody>
          <a:bodyPr/>
          <a:lstStyle/>
          <a:p>
            <a:endParaRPr lang="en-CA"/>
          </a:p>
        </p:txBody>
      </p:sp>
      <p:sp>
        <p:nvSpPr>
          <p:cNvPr id="30" name="Text 28"/>
          <p:cNvSpPr/>
          <p:nvPr/>
        </p:nvSpPr>
        <p:spPr>
          <a:xfrm>
            <a:off x="6386927" y="9194524"/>
            <a:ext cx="1173397" cy="332133"/>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batch 64</a:t>
            </a:r>
            <a:endParaRPr lang="en-US" sz="1800" dirty="0"/>
          </a:p>
        </p:txBody>
      </p:sp>
      <p:sp>
        <p:nvSpPr>
          <p:cNvPr id="31" name="Shape 29"/>
          <p:cNvSpPr/>
          <p:nvPr/>
        </p:nvSpPr>
        <p:spPr>
          <a:xfrm>
            <a:off x="7758734" y="9119898"/>
            <a:ext cx="2614240" cy="443285"/>
          </a:xfrm>
          <a:prstGeom prst="roundRect">
            <a:avLst>
              <a:gd name="adj" fmla="val 12892"/>
            </a:avLst>
          </a:prstGeom>
          <a:solidFill>
            <a:srgbClr val="FFFFFF"/>
          </a:solidFill>
          <a:ln w="7951">
            <a:solidFill>
              <a:srgbClr val="201D18">
                <a:alpha val="16000"/>
              </a:srgbClr>
            </a:solidFill>
            <a:prstDash val="solid"/>
          </a:ln>
        </p:spPr>
        <p:txBody>
          <a:bodyPr/>
          <a:lstStyle/>
          <a:p>
            <a:endParaRPr lang="en-CA"/>
          </a:p>
        </p:txBody>
      </p:sp>
      <p:sp>
        <p:nvSpPr>
          <p:cNvPr id="32" name="Text 30"/>
          <p:cNvSpPr/>
          <p:nvPr/>
        </p:nvSpPr>
        <p:spPr>
          <a:xfrm>
            <a:off x="7900035" y="9194524"/>
            <a:ext cx="2410064" cy="332133"/>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CrossEntropy loss</a:t>
            </a:r>
            <a:endParaRPr lang="en-US" sz="1800" dirty="0"/>
          </a:p>
        </p:txBody>
      </p:sp>
      <p:sp>
        <p:nvSpPr>
          <p:cNvPr id="33" name="Shape 31"/>
          <p:cNvSpPr/>
          <p:nvPr/>
        </p:nvSpPr>
        <p:spPr>
          <a:xfrm>
            <a:off x="10506283" y="9119898"/>
            <a:ext cx="2614240" cy="443285"/>
          </a:xfrm>
          <a:prstGeom prst="roundRect">
            <a:avLst>
              <a:gd name="adj" fmla="val 12892"/>
            </a:avLst>
          </a:prstGeom>
          <a:solidFill>
            <a:srgbClr val="FFFFFF"/>
          </a:solidFill>
          <a:ln w="7951">
            <a:solidFill>
              <a:srgbClr val="201D18">
                <a:alpha val="16000"/>
              </a:srgbClr>
            </a:solidFill>
            <a:prstDash val="solid"/>
          </a:ln>
        </p:spPr>
        <p:txBody>
          <a:bodyPr/>
          <a:lstStyle/>
          <a:p>
            <a:endParaRPr lang="en-CA"/>
          </a:p>
        </p:txBody>
      </p:sp>
      <p:sp>
        <p:nvSpPr>
          <p:cNvPr id="34" name="Text 32"/>
          <p:cNvSpPr/>
          <p:nvPr/>
        </p:nvSpPr>
        <p:spPr>
          <a:xfrm>
            <a:off x="10647584" y="9194524"/>
            <a:ext cx="2410064" cy="332133"/>
          </a:xfrm>
          <a:prstGeom prst="rect">
            <a:avLst/>
          </a:prstGeom>
          <a:noFill/>
          <a:ln/>
        </p:spPr>
        <p:txBody>
          <a:bodyPr wrap="square" lIns="25400" tIns="25400" rIns="25400" bIns="25400" rtlCol="0" anchor="t">
            <a:normAutofit/>
          </a:bodyPr>
          <a:lstStyle/>
          <a:p>
            <a:pPr marL="0" indent="0" algn="l">
              <a:buNone/>
            </a:pPr>
            <a:r>
              <a:rPr lang="en-US" sz="1800" dirty="0">
                <a:solidFill>
                  <a:srgbClr val="201D18"/>
                </a:solidFill>
                <a:latin typeface="Courier New" pitchFamily="34" charset="0"/>
                <a:ea typeface="Courier New" pitchFamily="34" charset="-122"/>
                <a:cs typeface="Courier New" pitchFamily="34" charset="-120"/>
              </a:rPr>
              <a:t>identical network</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17853661"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RESULTS</a:t>
            </a:r>
            <a:endParaRPr lang="en-US" sz="1800" dirty="0"/>
          </a:p>
        </p:txBody>
      </p:sp>
      <p:sp>
        <p:nvSpPr>
          <p:cNvPr id="3" name="Text 1"/>
          <p:cNvSpPr/>
          <p:nvPr/>
        </p:nvSpPr>
        <p:spPr>
          <a:xfrm>
            <a:off x="1028700" y="1341907"/>
            <a:ext cx="1785366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Head-to-head </a:t>
            </a:r>
            <a:r>
              <a:rPr lang="en-US" sz="2550" kern="0" spc="-55" dirty="0">
                <a:solidFill>
                  <a:srgbClr val="9A9183"/>
                </a:solidFill>
                <a:latin typeface="Georgia" pitchFamily="34" charset="0"/>
                <a:ea typeface="Georgia" pitchFamily="34" charset="-122"/>
                <a:cs typeface="Georgia" pitchFamily="34" charset="-120"/>
              </a:rPr>
              <a:t>best configuration of each</a:t>
            </a:r>
            <a:endParaRPr lang="en-US" sz="5550" dirty="0"/>
          </a:p>
        </p:txBody>
      </p:sp>
      <p:sp>
        <p:nvSpPr>
          <p:cNvPr id="4" name="Text 2"/>
          <p:cNvSpPr/>
          <p:nvPr/>
        </p:nvSpPr>
        <p:spPr>
          <a:xfrm>
            <a:off x="1028700" y="3369241"/>
            <a:ext cx="5121287" cy="649274"/>
          </a:xfrm>
          <a:prstGeom prst="rect">
            <a:avLst/>
          </a:prstGeom>
          <a:noFill/>
          <a:ln/>
        </p:spPr>
        <p:txBody>
          <a:bodyPr wrap="square" lIns="25400" tIns="25400" rIns="25400" bIns="25400" rtlCol="0" anchor="ctr">
            <a:normAutofit/>
          </a:bodyPr>
          <a:lstStyle/>
          <a:p>
            <a:pPr marL="0" indent="0" algn="l">
              <a:buNone/>
            </a:pPr>
            <a:r>
              <a:rPr lang="en-US" sz="1800" kern="0" spc="144" dirty="0">
                <a:solidFill>
                  <a:srgbClr val="9A9183"/>
                </a:solidFill>
                <a:latin typeface="Arial" pitchFamily="34" charset="0"/>
                <a:ea typeface="Arial" pitchFamily="34" charset="-122"/>
                <a:cs typeface="Arial" pitchFamily="34" charset="-120"/>
              </a:rPr>
              <a:t>METRIC</a:t>
            </a:r>
            <a:endParaRPr lang="en-US" sz="1800" dirty="0"/>
          </a:p>
        </p:txBody>
      </p:sp>
      <p:sp>
        <p:nvSpPr>
          <p:cNvPr id="5" name="Text 3"/>
          <p:cNvSpPr/>
          <p:nvPr/>
        </p:nvSpPr>
        <p:spPr>
          <a:xfrm>
            <a:off x="6359706" y="3369241"/>
            <a:ext cx="3296752" cy="649274"/>
          </a:xfrm>
          <a:prstGeom prst="rect">
            <a:avLst/>
          </a:prstGeom>
          <a:noFill/>
          <a:ln/>
        </p:spPr>
        <p:txBody>
          <a:bodyPr wrap="square" lIns="25400" tIns="25400" rIns="25400" bIns="25400" rtlCol="0" anchor="ctr">
            <a:normAutofit/>
          </a:bodyPr>
          <a:lstStyle/>
          <a:p>
            <a:pPr marL="0" indent="0" algn="ctr">
              <a:buNone/>
            </a:pPr>
            <a:r>
              <a:rPr lang="en-US" sz="2550" b="1" dirty="0">
                <a:solidFill>
                  <a:srgbClr val="2F5FA8"/>
                </a:solidFill>
                <a:latin typeface="Georgia" pitchFamily="34" charset="0"/>
                <a:ea typeface="Georgia" pitchFamily="34" charset="-122"/>
                <a:cs typeface="Georgia" pitchFamily="34" charset="-120"/>
              </a:rPr>
              <a:t>Adam</a:t>
            </a:r>
            <a:endParaRPr lang="en-US" sz="2550" dirty="0"/>
          </a:p>
        </p:txBody>
      </p:sp>
      <p:sp>
        <p:nvSpPr>
          <p:cNvPr id="6" name="Text 4"/>
          <p:cNvSpPr/>
          <p:nvPr/>
        </p:nvSpPr>
        <p:spPr>
          <a:xfrm>
            <a:off x="9930339" y="3369241"/>
            <a:ext cx="3296752" cy="649274"/>
          </a:xfrm>
          <a:prstGeom prst="rect">
            <a:avLst/>
          </a:prstGeom>
          <a:noFill/>
          <a:ln/>
        </p:spPr>
        <p:txBody>
          <a:bodyPr wrap="square" lIns="25400" tIns="25400" rIns="25400" bIns="25400" rtlCol="0" anchor="ctr">
            <a:normAutofit/>
          </a:bodyPr>
          <a:lstStyle/>
          <a:p>
            <a:pPr marL="0" indent="0" algn="ctr">
              <a:buNone/>
            </a:pPr>
            <a:r>
              <a:rPr lang="en-US" sz="2550" b="1" dirty="0">
                <a:solidFill>
                  <a:srgbClr val="1F7A5C"/>
                </a:solidFill>
                <a:latin typeface="Georgia" pitchFamily="34" charset="0"/>
                <a:ea typeface="Georgia" pitchFamily="34" charset="-122"/>
                <a:cs typeface="Georgia" pitchFamily="34" charset="-120"/>
              </a:rPr>
              <a:t>RMSprop</a:t>
            </a:r>
            <a:endParaRPr lang="en-US" sz="2550" dirty="0"/>
          </a:p>
        </p:txBody>
      </p:sp>
      <p:sp>
        <p:nvSpPr>
          <p:cNvPr id="7" name="Shape 5"/>
          <p:cNvSpPr/>
          <p:nvPr/>
        </p:nvSpPr>
        <p:spPr>
          <a:xfrm>
            <a:off x="13364031" y="3369241"/>
            <a:ext cx="3895270" cy="820724"/>
          </a:xfrm>
          <a:prstGeom prst="roundRect">
            <a:avLst>
              <a:gd name="adj" fmla="val 11606"/>
            </a:avLst>
          </a:prstGeom>
          <a:solidFill>
            <a:srgbClr val="BD3B25">
              <a:alpha val="7000"/>
            </a:srgbClr>
          </a:solidFill>
          <a:ln/>
        </p:spPr>
        <p:txBody>
          <a:bodyPr/>
          <a:lstStyle/>
          <a:p>
            <a:endParaRPr lang="en-CA"/>
          </a:p>
        </p:txBody>
      </p:sp>
      <p:sp>
        <p:nvSpPr>
          <p:cNvPr id="8" name="Text 6"/>
          <p:cNvSpPr/>
          <p:nvPr/>
        </p:nvSpPr>
        <p:spPr>
          <a:xfrm>
            <a:off x="14383144" y="3639628"/>
            <a:ext cx="1568106" cy="603057"/>
          </a:xfrm>
          <a:prstGeom prst="rect">
            <a:avLst/>
          </a:prstGeom>
          <a:noFill/>
          <a:ln/>
        </p:spPr>
        <p:txBody>
          <a:bodyPr wrap="square" lIns="25400" tIns="25400" rIns="25400" bIns="25400" rtlCol="0" anchor="t">
            <a:normAutofit/>
          </a:bodyPr>
          <a:lstStyle/>
          <a:p>
            <a:pPr marL="0" indent="0" algn="ctr">
              <a:buNone/>
            </a:pPr>
            <a:r>
              <a:rPr lang="en-US" sz="2550" b="1" dirty="0">
                <a:solidFill>
                  <a:srgbClr val="BD3B25"/>
                </a:solidFill>
                <a:latin typeface="Georgia" pitchFamily="34" charset="0"/>
                <a:ea typeface="Georgia" pitchFamily="34" charset="-122"/>
                <a:cs typeface="Georgia" pitchFamily="34" charset="-120"/>
              </a:rPr>
              <a:t>AdamW</a:t>
            </a:r>
            <a:endParaRPr lang="en-US" sz="2550" dirty="0"/>
          </a:p>
        </p:txBody>
      </p:sp>
      <p:sp>
        <p:nvSpPr>
          <p:cNvPr id="9" name="Text 7"/>
          <p:cNvSpPr/>
          <p:nvPr/>
        </p:nvSpPr>
        <p:spPr>
          <a:xfrm>
            <a:off x="15817921" y="3710029"/>
            <a:ext cx="266659" cy="300493"/>
          </a:xfrm>
          <a:prstGeom prst="rect">
            <a:avLst/>
          </a:prstGeom>
          <a:noFill/>
          <a:ln/>
        </p:spPr>
        <p:txBody>
          <a:bodyPr wrap="square" lIns="25400" tIns="25400" rIns="25400" bIns="25400" rtlCol="0" anchor="t">
            <a:normAutofit/>
          </a:bodyPr>
          <a:lstStyle/>
          <a:p>
            <a:pPr marL="0" indent="0" algn="ctr">
              <a:buNone/>
            </a:pPr>
            <a:r>
              <a:rPr lang="en-US" sz="1800" b="1" dirty="0">
                <a:solidFill>
                  <a:srgbClr val="BD3B25"/>
                </a:solidFill>
                <a:latin typeface="Courier New" pitchFamily="34" charset="0"/>
                <a:ea typeface="Courier New" pitchFamily="34" charset="-122"/>
                <a:cs typeface="Courier New" pitchFamily="34" charset="-120"/>
              </a:rPr>
              <a:t>★</a:t>
            </a:r>
            <a:endParaRPr lang="en-US" sz="1800" dirty="0"/>
          </a:p>
        </p:txBody>
      </p:sp>
      <p:sp>
        <p:nvSpPr>
          <p:cNvPr id="10" name="Shape 8"/>
          <p:cNvSpPr/>
          <p:nvPr/>
        </p:nvSpPr>
        <p:spPr>
          <a:xfrm>
            <a:off x="1028700" y="4189965"/>
            <a:ext cx="16230601" cy="9525"/>
          </a:xfrm>
          <a:prstGeom prst="rect">
            <a:avLst/>
          </a:prstGeom>
          <a:solidFill>
            <a:srgbClr val="201D18">
              <a:alpha val="16000"/>
            </a:srgbClr>
          </a:solidFill>
          <a:ln/>
        </p:spPr>
        <p:txBody>
          <a:bodyPr/>
          <a:lstStyle/>
          <a:p>
            <a:endParaRPr lang="en-CA"/>
          </a:p>
        </p:txBody>
      </p:sp>
      <p:sp>
        <p:nvSpPr>
          <p:cNvPr id="11" name="Text 9"/>
          <p:cNvSpPr/>
          <p:nvPr/>
        </p:nvSpPr>
        <p:spPr>
          <a:xfrm>
            <a:off x="1028700" y="4380465"/>
            <a:ext cx="5121287" cy="387875"/>
          </a:xfrm>
          <a:prstGeom prst="rect">
            <a:avLst/>
          </a:prstGeom>
          <a:noFill/>
          <a:ln/>
        </p:spPr>
        <p:txBody>
          <a:bodyPr wrap="square" lIns="25400" tIns="25400" rIns="25400" bIns="25400" rtlCol="0" anchor="ctr">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Best configuration</a:t>
            </a:r>
            <a:endParaRPr lang="en-US" sz="2100" dirty="0"/>
          </a:p>
        </p:txBody>
      </p:sp>
      <p:sp>
        <p:nvSpPr>
          <p:cNvPr id="12" name="Text 10"/>
          <p:cNvSpPr/>
          <p:nvPr/>
        </p:nvSpPr>
        <p:spPr>
          <a:xfrm>
            <a:off x="6359706" y="4380465"/>
            <a:ext cx="3296752" cy="387875"/>
          </a:xfrm>
          <a:prstGeom prst="rect">
            <a:avLst/>
          </a:prstGeom>
          <a:noFill/>
          <a:ln/>
        </p:spPr>
        <p:txBody>
          <a:bodyPr wrap="square" lIns="25400" tIns="25400" rIns="25400" bIns="25400" rtlCol="0" anchor="ctr">
            <a:normAutofit/>
          </a:bodyPr>
          <a:lstStyle/>
          <a:p>
            <a:pPr marL="0" indent="0" algn="ctr">
              <a:buNone/>
            </a:pPr>
            <a:r>
              <a:rPr lang="en-US" sz="1800" dirty="0">
                <a:solidFill>
                  <a:srgbClr val="201D18"/>
                </a:solidFill>
                <a:latin typeface="Courier New" pitchFamily="34" charset="0"/>
                <a:ea typeface="Courier New" pitchFamily="34" charset="-122"/>
                <a:cs typeface="Courier New" pitchFamily="34" charset="-120"/>
              </a:rPr>
              <a:t>lr .001 · β₁ .9</a:t>
            </a:r>
            <a:endParaRPr lang="en-US" sz="1800" dirty="0"/>
          </a:p>
        </p:txBody>
      </p:sp>
      <p:sp>
        <p:nvSpPr>
          <p:cNvPr id="13" name="Text 11"/>
          <p:cNvSpPr/>
          <p:nvPr/>
        </p:nvSpPr>
        <p:spPr>
          <a:xfrm>
            <a:off x="9930339" y="4380465"/>
            <a:ext cx="3296752" cy="387875"/>
          </a:xfrm>
          <a:prstGeom prst="rect">
            <a:avLst/>
          </a:prstGeom>
          <a:noFill/>
          <a:ln/>
        </p:spPr>
        <p:txBody>
          <a:bodyPr wrap="square" lIns="25400" tIns="25400" rIns="25400" bIns="25400" rtlCol="0" anchor="ctr">
            <a:normAutofit/>
          </a:bodyPr>
          <a:lstStyle/>
          <a:p>
            <a:pPr marL="0" indent="0" algn="ctr">
              <a:buNone/>
            </a:pPr>
            <a:r>
              <a:rPr lang="en-US" sz="1800" dirty="0">
                <a:solidFill>
                  <a:srgbClr val="201D18"/>
                </a:solidFill>
                <a:latin typeface="Courier New" pitchFamily="34" charset="0"/>
                <a:ea typeface="Courier New" pitchFamily="34" charset="-122"/>
                <a:cs typeface="Courier New" pitchFamily="34" charset="-120"/>
              </a:rPr>
              <a:t>lr .001 · α .99</a:t>
            </a:r>
            <a:endParaRPr lang="en-US" sz="1800" dirty="0"/>
          </a:p>
        </p:txBody>
      </p:sp>
      <p:sp>
        <p:nvSpPr>
          <p:cNvPr id="14" name="Shape 12"/>
          <p:cNvSpPr/>
          <p:nvPr/>
        </p:nvSpPr>
        <p:spPr>
          <a:xfrm>
            <a:off x="13364031" y="4189965"/>
            <a:ext cx="3895270" cy="730775"/>
          </a:xfrm>
          <a:prstGeom prst="rect">
            <a:avLst/>
          </a:prstGeom>
          <a:solidFill>
            <a:srgbClr val="BD3B25">
              <a:alpha val="7000"/>
            </a:srgbClr>
          </a:solidFill>
          <a:ln/>
        </p:spPr>
        <p:txBody>
          <a:bodyPr/>
          <a:lstStyle/>
          <a:p>
            <a:endParaRPr lang="en-CA"/>
          </a:p>
        </p:txBody>
      </p:sp>
      <p:sp>
        <p:nvSpPr>
          <p:cNvPr id="15" name="Text 13"/>
          <p:cNvSpPr/>
          <p:nvPr/>
        </p:nvSpPr>
        <p:spPr>
          <a:xfrm>
            <a:off x="13496102" y="4380465"/>
            <a:ext cx="3631128" cy="387875"/>
          </a:xfrm>
          <a:prstGeom prst="rect">
            <a:avLst/>
          </a:prstGeom>
          <a:noFill/>
          <a:ln/>
        </p:spPr>
        <p:txBody>
          <a:bodyPr wrap="square" lIns="25400" tIns="25400" rIns="25400" bIns="25400" rtlCol="0" anchor="ctr">
            <a:normAutofit/>
          </a:bodyPr>
          <a:lstStyle/>
          <a:p>
            <a:pPr marL="0" indent="0" algn="ctr">
              <a:buNone/>
            </a:pPr>
            <a:r>
              <a:rPr lang="en-US" sz="1800" dirty="0">
                <a:solidFill>
                  <a:srgbClr val="201D18"/>
                </a:solidFill>
                <a:latin typeface="Courier New" pitchFamily="34" charset="0"/>
                <a:ea typeface="Courier New" pitchFamily="34" charset="-122"/>
                <a:cs typeface="Courier New" pitchFamily="34" charset="-120"/>
              </a:rPr>
              <a:t>lr .001 · wd .01</a:t>
            </a:r>
            <a:endParaRPr lang="en-US" sz="1800" dirty="0"/>
          </a:p>
        </p:txBody>
      </p:sp>
      <p:sp>
        <p:nvSpPr>
          <p:cNvPr id="16" name="Shape 14"/>
          <p:cNvSpPr/>
          <p:nvPr/>
        </p:nvSpPr>
        <p:spPr>
          <a:xfrm>
            <a:off x="1028700" y="4920740"/>
            <a:ext cx="16230601" cy="9525"/>
          </a:xfrm>
          <a:prstGeom prst="rect">
            <a:avLst/>
          </a:prstGeom>
          <a:solidFill>
            <a:srgbClr val="201D18">
              <a:alpha val="16000"/>
            </a:srgbClr>
          </a:solidFill>
          <a:ln/>
        </p:spPr>
        <p:txBody>
          <a:bodyPr/>
          <a:lstStyle/>
          <a:p>
            <a:endParaRPr lang="en-CA"/>
          </a:p>
        </p:txBody>
      </p:sp>
      <p:sp>
        <p:nvSpPr>
          <p:cNvPr id="17" name="Text 15"/>
          <p:cNvSpPr/>
          <p:nvPr/>
        </p:nvSpPr>
        <p:spPr>
          <a:xfrm>
            <a:off x="1028700" y="5111240"/>
            <a:ext cx="5121287" cy="419680"/>
          </a:xfrm>
          <a:prstGeom prst="rect">
            <a:avLst/>
          </a:prstGeom>
          <a:noFill/>
          <a:ln/>
        </p:spPr>
        <p:txBody>
          <a:bodyPr wrap="square" lIns="25400" tIns="25400" rIns="25400" bIns="25400" rtlCol="0" anchor="ctr">
            <a:normAutofit/>
          </a:bodyPr>
          <a:lstStyle/>
          <a:p>
            <a:pPr marL="0" indent="0" algn="l">
              <a:buNone/>
            </a:pPr>
            <a:r>
              <a:rPr lang="en-US" sz="2100" b="1" dirty="0">
                <a:solidFill>
                  <a:srgbClr val="201D18"/>
                </a:solidFill>
                <a:latin typeface="Arial" pitchFamily="34" charset="0"/>
                <a:ea typeface="Arial" pitchFamily="34" charset="-122"/>
                <a:cs typeface="Arial" pitchFamily="34" charset="-120"/>
              </a:rPr>
              <a:t>Test accuracy</a:t>
            </a:r>
            <a:endParaRPr lang="en-US" sz="2100" dirty="0"/>
          </a:p>
        </p:txBody>
      </p:sp>
      <p:sp>
        <p:nvSpPr>
          <p:cNvPr id="18" name="Text 16"/>
          <p:cNvSpPr/>
          <p:nvPr/>
        </p:nvSpPr>
        <p:spPr>
          <a:xfrm>
            <a:off x="6359706" y="5111240"/>
            <a:ext cx="3296752" cy="419680"/>
          </a:xfrm>
          <a:prstGeom prst="rect">
            <a:avLst/>
          </a:prstGeom>
          <a:noFill/>
          <a:ln/>
        </p:spPr>
        <p:txBody>
          <a:bodyPr wrap="square" lIns="25400" tIns="25400" rIns="25400" bIns="25400" rtlCol="0" anchor="ctr">
            <a:normAutofit/>
          </a:bodyPr>
          <a:lstStyle/>
          <a:p>
            <a:pPr marL="0" indent="0" algn="ctr">
              <a:buNone/>
            </a:pPr>
            <a:r>
              <a:rPr lang="en-US" sz="2250" dirty="0">
                <a:solidFill>
                  <a:srgbClr val="201D18"/>
                </a:solidFill>
                <a:latin typeface="Courier New" pitchFamily="34" charset="0"/>
                <a:ea typeface="Courier New" pitchFamily="34" charset="-122"/>
                <a:cs typeface="Courier New" pitchFamily="34" charset="-120"/>
              </a:rPr>
              <a:t>88.69%</a:t>
            </a:r>
            <a:endParaRPr lang="en-US" sz="2250" dirty="0"/>
          </a:p>
        </p:txBody>
      </p:sp>
      <p:sp>
        <p:nvSpPr>
          <p:cNvPr id="19" name="Text 17"/>
          <p:cNvSpPr/>
          <p:nvPr/>
        </p:nvSpPr>
        <p:spPr>
          <a:xfrm>
            <a:off x="9930339" y="5111240"/>
            <a:ext cx="3296752" cy="419680"/>
          </a:xfrm>
          <a:prstGeom prst="rect">
            <a:avLst/>
          </a:prstGeom>
          <a:noFill/>
          <a:ln/>
        </p:spPr>
        <p:txBody>
          <a:bodyPr wrap="square" lIns="25400" tIns="25400" rIns="25400" bIns="25400" rtlCol="0" anchor="ctr">
            <a:normAutofit/>
          </a:bodyPr>
          <a:lstStyle/>
          <a:p>
            <a:pPr marL="0" indent="0" algn="ctr">
              <a:buNone/>
            </a:pPr>
            <a:r>
              <a:rPr lang="en-US" sz="2250" dirty="0">
                <a:solidFill>
                  <a:srgbClr val="201D18"/>
                </a:solidFill>
                <a:latin typeface="Courier New" pitchFamily="34" charset="0"/>
                <a:ea typeface="Courier New" pitchFamily="34" charset="-122"/>
                <a:cs typeface="Courier New" pitchFamily="34" charset="-120"/>
              </a:rPr>
              <a:t>89.76%</a:t>
            </a:r>
            <a:endParaRPr lang="en-US" sz="2250" dirty="0"/>
          </a:p>
        </p:txBody>
      </p:sp>
      <p:sp>
        <p:nvSpPr>
          <p:cNvPr id="20" name="Shape 18"/>
          <p:cNvSpPr/>
          <p:nvPr/>
        </p:nvSpPr>
        <p:spPr>
          <a:xfrm>
            <a:off x="13364031" y="4920740"/>
            <a:ext cx="3895270" cy="762580"/>
          </a:xfrm>
          <a:prstGeom prst="rect">
            <a:avLst/>
          </a:prstGeom>
          <a:solidFill>
            <a:srgbClr val="BD3B25">
              <a:alpha val="7000"/>
            </a:srgbClr>
          </a:solidFill>
          <a:ln/>
        </p:spPr>
        <p:txBody>
          <a:bodyPr/>
          <a:lstStyle/>
          <a:p>
            <a:endParaRPr lang="en-CA"/>
          </a:p>
        </p:txBody>
      </p:sp>
      <p:sp>
        <p:nvSpPr>
          <p:cNvPr id="21" name="Text 19"/>
          <p:cNvSpPr/>
          <p:nvPr/>
        </p:nvSpPr>
        <p:spPr>
          <a:xfrm>
            <a:off x="13496102" y="5111240"/>
            <a:ext cx="3631128" cy="419680"/>
          </a:xfrm>
          <a:prstGeom prst="rect">
            <a:avLst/>
          </a:prstGeom>
          <a:noFill/>
          <a:ln/>
        </p:spPr>
        <p:txBody>
          <a:bodyPr wrap="square" lIns="25400" tIns="25400" rIns="25400" bIns="25400" rtlCol="0" anchor="ctr">
            <a:normAutofit/>
          </a:bodyPr>
          <a:lstStyle/>
          <a:p>
            <a:pPr marL="0" indent="0" algn="ctr">
              <a:buNone/>
            </a:pPr>
            <a:r>
              <a:rPr lang="en-US" sz="2550" b="1" dirty="0">
                <a:solidFill>
                  <a:srgbClr val="BD3B25"/>
                </a:solidFill>
                <a:latin typeface="Courier New" pitchFamily="34" charset="0"/>
                <a:ea typeface="Courier New" pitchFamily="34" charset="-122"/>
                <a:cs typeface="Courier New" pitchFamily="34" charset="-120"/>
              </a:rPr>
              <a:t>90.15%</a:t>
            </a:r>
            <a:endParaRPr lang="en-US" sz="2550" dirty="0"/>
          </a:p>
        </p:txBody>
      </p:sp>
      <p:sp>
        <p:nvSpPr>
          <p:cNvPr id="22" name="Shape 20"/>
          <p:cNvSpPr/>
          <p:nvPr/>
        </p:nvSpPr>
        <p:spPr>
          <a:xfrm>
            <a:off x="1028700" y="5683319"/>
            <a:ext cx="16230601" cy="9525"/>
          </a:xfrm>
          <a:prstGeom prst="rect">
            <a:avLst/>
          </a:prstGeom>
          <a:solidFill>
            <a:srgbClr val="201D18">
              <a:alpha val="16000"/>
            </a:srgbClr>
          </a:solidFill>
          <a:ln/>
        </p:spPr>
        <p:txBody>
          <a:bodyPr/>
          <a:lstStyle/>
          <a:p>
            <a:endParaRPr lang="en-CA"/>
          </a:p>
        </p:txBody>
      </p:sp>
      <p:sp>
        <p:nvSpPr>
          <p:cNvPr id="23" name="Text 21"/>
          <p:cNvSpPr/>
          <p:nvPr/>
        </p:nvSpPr>
        <p:spPr>
          <a:xfrm>
            <a:off x="1028700" y="5873819"/>
            <a:ext cx="5121287" cy="387875"/>
          </a:xfrm>
          <a:prstGeom prst="rect">
            <a:avLst/>
          </a:prstGeom>
          <a:noFill/>
          <a:ln/>
        </p:spPr>
        <p:txBody>
          <a:bodyPr wrap="square" lIns="25400" tIns="25400" rIns="25400" bIns="25400" rtlCol="0" anchor="ctr">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Train accuracy</a:t>
            </a:r>
            <a:endParaRPr lang="en-US" sz="2100" dirty="0"/>
          </a:p>
        </p:txBody>
      </p:sp>
      <p:sp>
        <p:nvSpPr>
          <p:cNvPr id="24" name="Text 22"/>
          <p:cNvSpPr/>
          <p:nvPr/>
        </p:nvSpPr>
        <p:spPr>
          <a:xfrm>
            <a:off x="6359706" y="5873819"/>
            <a:ext cx="3296752" cy="387875"/>
          </a:xfrm>
          <a:prstGeom prst="rect">
            <a:avLst/>
          </a:prstGeom>
          <a:noFill/>
          <a:ln/>
        </p:spPr>
        <p:txBody>
          <a:bodyPr wrap="square" lIns="25400" tIns="25400" rIns="25400" bIns="25400" rtlCol="0" anchor="ctr">
            <a:normAutofit/>
          </a:bodyPr>
          <a:lstStyle/>
          <a:p>
            <a:pPr marL="0" indent="0" algn="ctr">
              <a:buNone/>
            </a:pPr>
            <a:r>
              <a:rPr lang="en-US" sz="2100" dirty="0">
                <a:solidFill>
                  <a:srgbClr val="201D18"/>
                </a:solidFill>
                <a:latin typeface="Courier New" pitchFamily="34" charset="0"/>
                <a:ea typeface="Courier New" pitchFamily="34" charset="-122"/>
                <a:cs typeface="Courier New" pitchFamily="34" charset="-120"/>
              </a:rPr>
              <a:t>99.53%</a:t>
            </a:r>
            <a:endParaRPr lang="en-US" sz="2100" dirty="0"/>
          </a:p>
        </p:txBody>
      </p:sp>
      <p:sp>
        <p:nvSpPr>
          <p:cNvPr id="25" name="Text 23"/>
          <p:cNvSpPr/>
          <p:nvPr/>
        </p:nvSpPr>
        <p:spPr>
          <a:xfrm>
            <a:off x="9930339" y="5873819"/>
            <a:ext cx="3296752" cy="387875"/>
          </a:xfrm>
          <a:prstGeom prst="rect">
            <a:avLst/>
          </a:prstGeom>
          <a:noFill/>
          <a:ln/>
        </p:spPr>
        <p:txBody>
          <a:bodyPr wrap="square" lIns="25400" tIns="25400" rIns="25400" bIns="25400" rtlCol="0" anchor="ctr">
            <a:normAutofit/>
          </a:bodyPr>
          <a:lstStyle/>
          <a:p>
            <a:pPr marL="0" indent="0" algn="ctr">
              <a:buNone/>
            </a:pPr>
            <a:r>
              <a:rPr lang="en-US" sz="2100" dirty="0">
                <a:solidFill>
                  <a:srgbClr val="201D18"/>
                </a:solidFill>
                <a:latin typeface="Courier New" pitchFamily="34" charset="0"/>
                <a:ea typeface="Courier New" pitchFamily="34" charset="-122"/>
                <a:cs typeface="Courier New" pitchFamily="34" charset="-120"/>
              </a:rPr>
              <a:t>99.62%</a:t>
            </a:r>
            <a:endParaRPr lang="en-US" sz="2100" dirty="0"/>
          </a:p>
        </p:txBody>
      </p:sp>
      <p:sp>
        <p:nvSpPr>
          <p:cNvPr id="26" name="Shape 24"/>
          <p:cNvSpPr/>
          <p:nvPr/>
        </p:nvSpPr>
        <p:spPr>
          <a:xfrm>
            <a:off x="13364031" y="5683319"/>
            <a:ext cx="3895270" cy="730775"/>
          </a:xfrm>
          <a:prstGeom prst="rect">
            <a:avLst/>
          </a:prstGeom>
          <a:solidFill>
            <a:srgbClr val="BD3B25">
              <a:alpha val="7000"/>
            </a:srgbClr>
          </a:solidFill>
          <a:ln/>
        </p:spPr>
        <p:txBody>
          <a:bodyPr/>
          <a:lstStyle/>
          <a:p>
            <a:endParaRPr lang="en-CA"/>
          </a:p>
        </p:txBody>
      </p:sp>
      <p:sp>
        <p:nvSpPr>
          <p:cNvPr id="27" name="Text 25"/>
          <p:cNvSpPr/>
          <p:nvPr/>
        </p:nvSpPr>
        <p:spPr>
          <a:xfrm>
            <a:off x="13496102" y="5873819"/>
            <a:ext cx="3631128" cy="387875"/>
          </a:xfrm>
          <a:prstGeom prst="rect">
            <a:avLst/>
          </a:prstGeom>
          <a:noFill/>
          <a:ln/>
        </p:spPr>
        <p:txBody>
          <a:bodyPr wrap="square" lIns="25400" tIns="25400" rIns="25400" bIns="25400" rtlCol="0" anchor="ctr">
            <a:normAutofit/>
          </a:bodyPr>
          <a:lstStyle/>
          <a:p>
            <a:pPr marL="0" indent="0" algn="ctr">
              <a:buNone/>
            </a:pPr>
            <a:r>
              <a:rPr lang="en-US" sz="2100" dirty="0">
                <a:solidFill>
                  <a:srgbClr val="201D18"/>
                </a:solidFill>
                <a:latin typeface="Courier New" pitchFamily="34" charset="0"/>
                <a:ea typeface="Courier New" pitchFamily="34" charset="-122"/>
                <a:cs typeface="Courier New" pitchFamily="34" charset="-120"/>
              </a:rPr>
              <a:t>98.20%</a:t>
            </a:r>
            <a:endParaRPr lang="en-US" sz="2100" dirty="0"/>
          </a:p>
        </p:txBody>
      </p:sp>
      <p:sp>
        <p:nvSpPr>
          <p:cNvPr id="28" name="Shape 26"/>
          <p:cNvSpPr/>
          <p:nvPr/>
        </p:nvSpPr>
        <p:spPr>
          <a:xfrm>
            <a:off x="1028700" y="6414094"/>
            <a:ext cx="16230601" cy="9525"/>
          </a:xfrm>
          <a:prstGeom prst="rect">
            <a:avLst/>
          </a:prstGeom>
          <a:solidFill>
            <a:srgbClr val="201D18">
              <a:alpha val="16000"/>
            </a:srgbClr>
          </a:solidFill>
          <a:ln/>
        </p:spPr>
        <p:txBody>
          <a:bodyPr/>
          <a:lstStyle/>
          <a:p>
            <a:endParaRPr lang="en-CA"/>
          </a:p>
        </p:txBody>
      </p:sp>
      <p:sp>
        <p:nvSpPr>
          <p:cNvPr id="29" name="Text 27"/>
          <p:cNvSpPr/>
          <p:nvPr/>
        </p:nvSpPr>
        <p:spPr>
          <a:xfrm>
            <a:off x="1028700" y="6604594"/>
            <a:ext cx="5121287" cy="387875"/>
          </a:xfrm>
          <a:prstGeom prst="rect">
            <a:avLst/>
          </a:prstGeom>
          <a:noFill/>
          <a:ln/>
        </p:spPr>
        <p:txBody>
          <a:bodyPr wrap="square" lIns="25400" tIns="25400" rIns="25400" bIns="25400" rtlCol="0" anchor="ctr">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Generalization gap</a:t>
            </a:r>
            <a:endParaRPr lang="en-US" sz="2100" dirty="0"/>
          </a:p>
        </p:txBody>
      </p:sp>
      <p:sp>
        <p:nvSpPr>
          <p:cNvPr id="30" name="Text 28"/>
          <p:cNvSpPr/>
          <p:nvPr/>
        </p:nvSpPr>
        <p:spPr>
          <a:xfrm>
            <a:off x="6359706" y="6604594"/>
            <a:ext cx="3296752" cy="387875"/>
          </a:xfrm>
          <a:prstGeom prst="rect">
            <a:avLst/>
          </a:prstGeom>
          <a:noFill/>
          <a:ln/>
        </p:spPr>
        <p:txBody>
          <a:bodyPr wrap="square" lIns="25400" tIns="25400" rIns="25400" bIns="25400" rtlCol="0" anchor="ctr">
            <a:normAutofit/>
          </a:bodyPr>
          <a:lstStyle/>
          <a:p>
            <a:pPr marL="0" indent="0" algn="ctr">
              <a:buNone/>
            </a:pPr>
            <a:r>
              <a:rPr lang="en-US" sz="2100" dirty="0">
                <a:solidFill>
                  <a:srgbClr val="201D18"/>
                </a:solidFill>
                <a:latin typeface="Courier New" pitchFamily="34" charset="0"/>
                <a:ea typeface="Courier New" pitchFamily="34" charset="-122"/>
                <a:cs typeface="Courier New" pitchFamily="34" charset="-120"/>
              </a:rPr>
              <a:t>10.84</a:t>
            </a:r>
            <a:endParaRPr lang="en-US" sz="2100" dirty="0"/>
          </a:p>
        </p:txBody>
      </p:sp>
      <p:sp>
        <p:nvSpPr>
          <p:cNvPr id="31" name="Text 29"/>
          <p:cNvSpPr/>
          <p:nvPr/>
        </p:nvSpPr>
        <p:spPr>
          <a:xfrm>
            <a:off x="9930339" y="6604594"/>
            <a:ext cx="3296752" cy="387875"/>
          </a:xfrm>
          <a:prstGeom prst="rect">
            <a:avLst/>
          </a:prstGeom>
          <a:noFill/>
          <a:ln/>
        </p:spPr>
        <p:txBody>
          <a:bodyPr wrap="square" lIns="25400" tIns="25400" rIns="25400" bIns="25400" rtlCol="0" anchor="ctr">
            <a:normAutofit/>
          </a:bodyPr>
          <a:lstStyle/>
          <a:p>
            <a:pPr marL="0" indent="0" algn="ctr">
              <a:buNone/>
            </a:pPr>
            <a:r>
              <a:rPr lang="en-US" sz="2100" dirty="0">
                <a:solidFill>
                  <a:srgbClr val="201D18"/>
                </a:solidFill>
                <a:latin typeface="Courier New" pitchFamily="34" charset="0"/>
                <a:ea typeface="Courier New" pitchFamily="34" charset="-122"/>
                <a:cs typeface="Courier New" pitchFamily="34" charset="-120"/>
              </a:rPr>
              <a:t>9.86</a:t>
            </a:r>
            <a:endParaRPr lang="en-US" sz="2100" dirty="0"/>
          </a:p>
        </p:txBody>
      </p:sp>
      <p:sp>
        <p:nvSpPr>
          <p:cNvPr id="32" name="Shape 30"/>
          <p:cNvSpPr/>
          <p:nvPr/>
        </p:nvSpPr>
        <p:spPr>
          <a:xfrm>
            <a:off x="13364031" y="6414094"/>
            <a:ext cx="3895270" cy="730775"/>
          </a:xfrm>
          <a:prstGeom prst="rect">
            <a:avLst/>
          </a:prstGeom>
          <a:solidFill>
            <a:srgbClr val="BD3B25">
              <a:alpha val="7000"/>
            </a:srgbClr>
          </a:solidFill>
          <a:ln/>
        </p:spPr>
        <p:txBody>
          <a:bodyPr/>
          <a:lstStyle/>
          <a:p>
            <a:endParaRPr lang="en-CA"/>
          </a:p>
        </p:txBody>
      </p:sp>
      <p:sp>
        <p:nvSpPr>
          <p:cNvPr id="33" name="Text 31"/>
          <p:cNvSpPr/>
          <p:nvPr/>
        </p:nvSpPr>
        <p:spPr>
          <a:xfrm>
            <a:off x="13496102" y="6604594"/>
            <a:ext cx="3631128" cy="387875"/>
          </a:xfrm>
          <a:prstGeom prst="rect">
            <a:avLst/>
          </a:prstGeom>
          <a:noFill/>
          <a:ln/>
        </p:spPr>
        <p:txBody>
          <a:bodyPr wrap="square" lIns="25400" tIns="25400" rIns="25400" bIns="25400" rtlCol="0" anchor="ctr">
            <a:normAutofit/>
          </a:bodyPr>
          <a:lstStyle/>
          <a:p>
            <a:pPr marL="0" indent="0" algn="ctr">
              <a:buNone/>
            </a:pPr>
            <a:r>
              <a:rPr lang="en-US" sz="2100" b="1" dirty="0">
                <a:solidFill>
                  <a:srgbClr val="BD3B25"/>
                </a:solidFill>
                <a:latin typeface="Courier New" pitchFamily="34" charset="0"/>
                <a:ea typeface="Courier New" pitchFamily="34" charset="-122"/>
                <a:cs typeface="Courier New" pitchFamily="34" charset="-120"/>
              </a:rPr>
              <a:t>8.05</a:t>
            </a:r>
            <a:endParaRPr lang="en-US" sz="2100" dirty="0"/>
          </a:p>
        </p:txBody>
      </p:sp>
      <p:sp>
        <p:nvSpPr>
          <p:cNvPr id="34" name="Shape 32"/>
          <p:cNvSpPr/>
          <p:nvPr/>
        </p:nvSpPr>
        <p:spPr>
          <a:xfrm>
            <a:off x="1028700" y="7144869"/>
            <a:ext cx="16230601" cy="9525"/>
          </a:xfrm>
          <a:prstGeom prst="rect">
            <a:avLst/>
          </a:prstGeom>
          <a:solidFill>
            <a:srgbClr val="201D18">
              <a:alpha val="16000"/>
            </a:srgbClr>
          </a:solidFill>
          <a:ln/>
        </p:spPr>
        <p:txBody>
          <a:bodyPr/>
          <a:lstStyle/>
          <a:p>
            <a:endParaRPr lang="en-CA"/>
          </a:p>
        </p:txBody>
      </p:sp>
      <p:sp>
        <p:nvSpPr>
          <p:cNvPr id="35" name="Text 33"/>
          <p:cNvSpPr/>
          <p:nvPr/>
        </p:nvSpPr>
        <p:spPr>
          <a:xfrm>
            <a:off x="1028700" y="7335369"/>
            <a:ext cx="5121287" cy="387875"/>
          </a:xfrm>
          <a:prstGeom prst="rect">
            <a:avLst/>
          </a:prstGeom>
          <a:noFill/>
          <a:ln/>
        </p:spPr>
        <p:txBody>
          <a:bodyPr wrap="square" lIns="25400" tIns="25400" rIns="25400" bIns="25400" rtlCol="0" anchor="ctr">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Convergence</a:t>
            </a:r>
            <a:endParaRPr lang="en-US" sz="2100" dirty="0"/>
          </a:p>
        </p:txBody>
      </p:sp>
      <p:sp>
        <p:nvSpPr>
          <p:cNvPr id="36" name="Text 34"/>
          <p:cNvSpPr/>
          <p:nvPr/>
        </p:nvSpPr>
        <p:spPr>
          <a:xfrm>
            <a:off x="6359706" y="7335369"/>
            <a:ext cx="3296752" cy="387875"/>
          </a:xfrm>
          <a:prstGeom prst="rect">
            <a:avLst/>
          </a:prstGeom>
          <a:noFill/>
          <a:ln/>
        </p:spPr>
        <p:txBody>
          <a:bodyPr wrap="square" lIns="25400" tIns="25400" rIns="25400" bIns="25400" rtlCol="0" anchor="ctr">
            <a:normAutofit/>
          </a:bodyPr>
          <a:lstStyle/>
          <a:p>
            <a:pPr marL="0" indent="0" algn="ctr">
              <a:buNone/>
            </a:pPr>
            <a:r>
              <a:rPr lang="en-US" sz="1800" dirty="0">
                <a:solidFill>
                  <a:srgbClr val="201D18"/>
                </a:solidFill>
                <a:latin typeface="Arial" pitchFamily="34" charset="0"/>
                <a:ea typeface="Arial" pitchFamily="34" charset="-122"/>
                <a:cs typeface="Arial" pitchFamily="34" charset="-120"/>
              </a:rPr>
              <a:t>Fast</a:t>
            </a:r>
            <a:endParaRPr lang="en-US" sz="1800" dirty="0"/>
          </a:p>
        </p:txBody>
      </p:sp>
      <p:sp>
        <p:nvSpPr>
          <p:cNvPr id="37" name="Text 35"/>
          <p:cNvSpPr/>
          <p:nvPr/>
        </p:nvSpPr>
        <p:spPr>
          <a:xfrm>
            <a:off x="9930339" y="7335369"/>
            <a:ext cx="3296752" cy="387875"/>
          </a:xfrm>
          <a:prstGeom prst="rect">
            <a:avLst/>
          </a:prstGeom>
          <a:noFill/>
          <a:ln/>
        </p:spPr>
        <p:txBody>
          <a:bodyPr wrap="square" lIns="25400" tIns="25400" rIns="25400" bIns="25400" rtlCol="0" anchor="ctr">
            <a:normAutofit/>
          </a:bodyPr>
          <a:lstStyle/>
          <a:p>
            <a:pPr marL="0" indent="0" algn="ctr">
              <a:buNone/>
            </a:pPr>
            <a:r>
              <a:rPr lang="en-US" sz="1800" dirty="0">
                <a:solidFill>
                  <a:srgbClr val="201D18"/>
                </a:solidFill>
                <a:latin typeface="Arial" pitchFamily="34" charset="0"/>
                <a:ea typeface="Arial" pitchFamily="34" charset="-122"/>
                <a:cs typeface="Arial" pitchFamily="34" charset="-120"/>
              </a:rPr>
              <a:t>Fastest</a:t>
            </a:r>
            <a:endParaRPr lang="en-US" sz="1800" dirty="0"/>
          </a:p>
        </p:txBody>
      </p:sp>
      <p:sp>
        <p:nvSpPr>
          <p:cNvPr id="38" name="Shape 36"/>
          <p:cNvSpPr/>
          <p:nvPr/>
        </p:nvSpPr>
        <p:spPr>
          <a:xfrm>
            <a:off x="13364031" y="7144869"/>
            <a:ext cx="3895270" cy="730775"/>
          </a:xfrm>
          <a:prstGeom prst="rect">
            <a:avLst/>
          </a:prstGeom>
          <a:solidFill>
            <a:srgbClr val="BD3B25">
              <a:alpha val="7000"/>
            </a:srgbClr>
          </a:solidFill>
          <a:ln/>
        </p:spPr>
        <p:txBody>
          <a:bodyPr/>
          <a:lstStyle/>
          <a:p>
            <a:endParaRPr lang="en-CA"/>
          </a:p>
        </p:txBody>
      </p:sp>
      <p:sp>
        <p:nvSpPr>
          <p:cNvPr id="39" name="Text 37"/>
          <p:cNvSpPr/>
          <p:nvPr/>
        </p:nvSpPr>
        <p:spPr>
          <a:xfrm>
            <a:off x="13496102" y="7335369"/>
            <a:ext cx="3631128" cy="387875"/>
          </a:xfrm>
          <a:prstGeom prst="rect">
            <a:avLst/>
          </a:prstGeom>
          <a:noFill/>
          <a:ln/>
        </p:spPr>
        <p:txBody>
          <a:bodyPr wrap="square" lIns="25400" tIns="25400" rIns="25400" bIns="25400" rtlCol="0" anchor="ctr">
            <a:normAutofit/>
          </a:bodyPr>
          <a:lstStyle/>
          <a:p>
            <a:pPr marL="0" indent="0" algn="ctr">
              <a:buNone/>
            </a:pPr>
            <a:r>
              <a:rPr lang="en-US" sz="1800" dirty="0">
                <a:solidFill>
                  <a:srgbClr val="201D18"/>
                </a:solidFill>
                <a:latin typeface="Arial" pitchFamily="34" charset="0"/>
                <a:ea typeface="Arial" pitchFamily="34" charset="-122"/>
                <a:cs typeface="Arial" pitchFamily="34" charset="-120"/>
              </a:rPr>
              <a:t>Steady</a:t>
            </a:r>
            <a:endParaRPr lang="en-US" sz="1800" dirty="0"/>
          </a:p>
        </p:txBody>
      </p:sp>
      <p:sp>
        <p:nvSpPr>
          <p:cNvPr id="40" name="Shape 38"/>
          <p:cNvSpPr/>
          <p:nvPr/>
        </p:nvSpPr>
        <p:spPr>
          <a:xfrm>
            <a:off x="1028700" y="7875643"/>
            <a:ext cx="16230601" cy="9525"/>
          </a:xfrm>
          <a:prstGeom prst="rect">
            <a:avLst/>
          </a:prstGeom>
          <a:solidFill>
            <a:srgbClr val="201D18">
              <a:alpha val="16000"/>
            </a:srgbClr>
          </a:solidFill>
          <a:ln/>
        </p:spPr>
        <p:txBody>
          <a:bodyPr/>
          <a:lstStyle/>
          <a:p>
            <a:endParaRPr lang="en-CA"/>
          </a:p>
        </p:txBody>
      </p:sp>
      <p:sp>
        <p:nvSpPr>
          <p:cNvPr id="41" name="Text 39"/>
          <p:cNvSpPr/>
          <p:nvPr/>
        </p:nvSpPr>
        <p:spPr>
          <a:xfrm>
            <a:off x="1028700" y="8066143"/>
            <a:ext cx="5121287" cy="402908"/>
          </a:xfrm>
          <a:prstGeom prst="rect">
            <a:avLst/>
          </a:prstGeom>
          <a:noFill/>
          <a:ln/>
        </p:spPr>
        <p:txBody>
          <a:bodyPr wrap="square" lIns="25400" tIns="25400" rIns="25400" bIns="25400" rtlCol="0" anchor="ctr">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Best learning rate</a:t>
            </a:r>
            <a:endParaRPr lang="en-US" sz="2100" dirty="0"/>
          </a:p>
        </p:txBody>
      </p:sp>
      <p:sp>
        <p:nvSpPr>
          <p:cNvPr id="42" name="Text 40"/>
          <p:cNvSpPr/>
          <p:nvPr/>
        </p:nvSpPr>
        <p:spPr>
          <a:xfrm>
            <a:off x="6359706" y="8066143"/>
            <a:ext cx="3296752" cy="402908"/>
          </a:xfrm>
          <a:prstGeom prst="rect">
            <a:avLst/>
          </a:prstGeom>
          <a:noFill/>
          <a:ln/>
        </p:spPr>
        <p:txBody>
          <a:bodyPr wrap="square" lIns="25400" tIns="25400" rIns="25400" bIns="25400" rtlCol="0" anchor="ctr">
            <a:normAutofit/>
          </a:bodyPr>
          <a:lstStyle/>
          <a:p>
            <a:pPr marL="0" indent="0" algn="ctr">
              <a:buNone/>
            </a:pPr>
            <a:r>
              <a:rPr lang="en-US" sz="2100" dirty="0">
                <a:solidFill>
                  <a:srgbClr val="201D18"/>
                </a:solidFill>
                <a:latin typeface="Courier New" pitchFamily="34" charset="0"/>
                <a:ea typeface="Courier New" pitchFamily="34" charset="-122"/>
                <a:cs typeface="Courier New" pitchFamily="34" charset="-120"/>
              </a:rPr>
              <a:t>0.001</a:t>
            </a:r>
            <a:endParaRPr lang="en-US" sz="2100" dirty="0"/>
          </a:p>
        </p:txBody>
      </p:sp>
      <p:sp>
        <p:nvSpPr>
          <p:cNvPr id="43" name="Text 41"/>
          <p:cNvSpPr/>
          <p:nvPr/>
        </p:nvSpPr>
        <p:spPr>
          <a:xfrm>
            <a:off x="9930339" y="8066143"/>
            <a:ext cx="3296752" cy="402908"/>
          </a:xfrm>
          <a:prstGeom prst="rect">
            <a:avLst/>
          </a:prstGeom>
          <a:noFill/>
          <a:ln/>
        </p:spPr>
        <p:txBody>
          <a:bodyPr wrap="square" lIns="25400" tIns="25400" rIns="25400" bIns="25400" rtlCol="0" anchor="ctr">
            <a:normAutofit/>
          </a:bodyPr>
          <a:lstStyle/>
          <a:p>
            <a:pPr marL="0" indent="0" algn="ctr">
              <a:buNone/>
            </a:pPr>
            <a:r>
              <a:rPr lang="en-US" sz="2100" dirty="0">
                <a:solidFill>
                  <a:srgbClr val="201D18"/>
                </a:solidFill>
                <a:latin typeface="Courier New" pitchFamily="34" charset="0"/>
                <a:ea typeface="Courier New" pitchFamily="34" charset="-122"/>
                <a:cs typeface="Courier New" pitchFamily="34" charset="-120"/>
              </a:rPr>
              <a:t>0.001</a:t>
            </a:r>
            <a:endParaRPr lang="en-US" sz="2100" dirty="0"/>
          </a:p>
        </p:txBody>
      </p:sp>
      <p:sp>
        <p:nvSpPr>
          <p:cNvPr id="44" name="Shape 42"/>
          <p:cNvSpPr/>
          <p:nvPr/>
        </p:nvSpPr>
        <p:spPr>
          <a:xfrm>
            <a:off x="13364031" y="7875643"/>
            <a:ext cx="3895270" cy="745808"/>
          </a:xfrm>
          <a:prstGeom prst="rect">
            <a:avLst/>
          </a:prstGeom>
          <a:solidFill>
            <a:srgbClr val="BD3B25">
              <a:alpha val="7000"/>
            </a:srgbClr>
          </a:solidFill>
          <a:ln/>
        </p:spPr>
        <p:txBody>
          <a:bodyPr/>
          <a:lstStyle/>
          <a:p>
            <a:endParaRPr lang="en-CA"/>
          </a:p>
        </p:txBody>
      </p:sp>
      <p:sp>
        <p:nvSpPr>
          <p:cNvPr id="45" name="Text 43"/>
          <p:cNvSpPr/>
          <p:nvPr/>
        </p:nvSpPr>
        <p:spPr>
          <a:xfrm>
            <a:off x="13496102" y="8066143"/>
            <a:ext cx="3631128" cy="383858"/>
          </a:xfrm>
          <a:prstGeom prst="rect">
            <a:avLst/>
          </a:prstGeom>
          <a:noFill/>
          <a:ln/>
        </p:spPr>
        <p:txBody>
          <a:bodyPr wrap="square" lIns="25400" tIns="25400" rIns="25400" bIns="25400" rtlCol="0" anchor="ctr">
            <a:normAutofit/>
          </a:bodyPr>
          <a:lstStyle/>
          <a:p>
            <a:pPr marL="0" indent="0" algn="ctr">
              <a:buNone/>
            </a:pPr>
            <a:r>
              <a:rPr lang="en-US" sz="2100" dirty="0">
                <a:solidFill>
                  <a:srgbClr val="201D18"/>
                </a:solidFill>
                <a:latin typeface="Courier New" pitchFamily="34" charset="0"/>
                <a:ea typeface="Courier New" pitchFamily="34" charset="-122"/>
                <a:cs typeface="Courier New" pitchFamily="34" charset="-120"/>
              </a:rPr>
              <a:t>0.001</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17853661"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RESULTS · PLOT 1</a:t>
            </a:r>
            <a:endParaRPr lang="en-US" sz="1800" dirty="0"/>
          </a:p>
        </p:txBody>
      </p:sp>
      <p:sp>
        <p:nvSpPr>
          <p:cNvPr id="3" name="Text 1"/>
          <p:cNvSpPr/>
          <p:nvPr/>
        </p:nvSpPr>
        <p:spPr>
          <a:xfrm>
            <a:off x="1028700" y="1341907"/>
            <a:ext cx="1785366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Final test accuracy</a:t>
            </a:r>
            <a:endParaRPr lang="en-US" sz="5550" dirty="0"/>
          </a:p>
        </p:txBody>
      </p:sp>
      <p:sp>
        <p:nvSpPr>
          <p:cNvPr id="4" name="Text 2"/>
          <p:cNvSpPr/>
          <p:nvPr/>
        </p:nvSpPr>
        <p:spPr>
          <a:xfrm>
            <a:off x="1287739" y="4049202"/>
            <a:ext cx="350520" cy="332298"/>
          </a:xfrm>
          <a:prstGeom prst="rect">
            <a:avLst/>
          </a:prstGeom>
          <a:noFill/>
          <a:ln/>
        </p:spPr>
        <p:txBody>
          <a:bodyPr wrap="square" lIns="25400" tIns="25400" rIns="25400" bIns="25400" rtlCol="0" anchor="t">
            <a:normAutofit/>
          </a:bodyPr>
          <a:lstStyle/>
          <a:p>
            <a:pPr marL="0" indent="0" algn="l">
              <a:buNone/>
            </a:pPr>
            <a:r>
              <a:rPr lang="en-US" sz="1800" dirty="0">
                <a:solidFill>
                  <a:srgbClr val="9A9183"/>
                </a:solidFill>
                <a:latin typeface="Courier New" pitchFamily="34" charset="0"/>
                <a:ea typeface="Courier New" pitchFamily="34" charset="-122"/>
                <a:cs typeface="Courier New" pitchFamily="34" charset="-120"/>
              </a:rPr>
              <a:t>90</a:t>
            </a:r>
            <a:endParaRPr lang="en-US" sz="1800" dirty="0"/>
          </a:p>
        </p:txBody>
      </p:sp>
      <p:sp>
        <p:nvSpPr>
          <p:cNvPr id="5" name="Text 3"/>
          <p:cNvSpPr/>
          <p:nvPr/>
        </p:nvSpPr>
        <p:spPr>
          <a:xfrm>
            <a:off x="1287739" y="5735251"/>
            <a:ext cx="350520" cy="332298"/>
          </a:xfrm>
          <a:prstGeom prst="rect">
            <a:avLst/>
          </a:prstGeom>
          <a:noFill/>
          <a:ln/>
        </p:spPr>
        <p:txBody>
          <a:bodyPr wrap="square" lIns="25400" tIns="25400" rIns="25400" bIns="25400" rtlCol="0" anchor="t">
            <a:normAutofit/>
          </a:bodyPr>
          <a:lstStyle/>
          <a:p>
            <a:pPr marL="0" indent="0" algn="l">
              <a:buNone/>
            </a:pPr>
            <a:r>
              <a:rPr lang="en-US" sz="1800" dirty="0">
                <a:solidFill>
                  <a:srgbClr val="9A9183"/>
                </a:solidFill>
                <a:latin typeface="Courier New" pitchFamily="34" charset="0"/>
                <a:ea typeface="Courier New" pitchFamily="34" charset="-122"/>
                <a:cs typeface="Courier New" pitchFamily="34" charset="-120"/>
              </a:rPr>
              <a:t>85</a:t>
            </a:r>
            <a:endParaRPr lang="en-US" sz="1800" dirty="0"/>
          </a:p>
        </p:txBody>
      </p:sp>
      <p:sp>
        <p:nvSpPr>
          <p:cNvPr id="6" name="Text 4"/>
          <p:cNvSpPr/>
          <p:nvPr/>
        </p:nvSpPr>
        <p:spPr>
          <a:xfrm>
            <a:off x="1287739" y="7421052"/>
            <a:ext cx="350520" cy="332298"/>
          </a:xfrm>
          <a:prstGeom prst="rect">
            <a:avLst/>
          </a:prstGeom>
          <a:noFill/>
          <a:ln/>
        </p:spPr>
        <p:txBody>
          <a:bodyPr wrap="square" lIns="25400" tIns="25400" rIns="25400" bIns="25400" rtlCol="0" anchor="t">
            <a:normAutofit/>
          </a:bodyPr>
          <a:lstStyle/>
          <a:p>
            <a:pPr marL="0" indent="0" algn="l">
              <a:buNone/>
            </a:pPr>
            <a:r>
              <a:rPr lang="en-US" sz="1800" dirty="0">
                <a:solidFill>
                  <a:srgbClr val="9A9183"/>
                </a:solidFill>
                <a:latin typeface="Courier New" pitchFamily="34" charset="0"/>
                <a:ea typeface="Courier New" pitchFamily="34" charset="-122"/>
                <a:cs typeface="Courier New" pitchFamily="34" charset="-120"/>
              </a:rPr>
              <a:t>80</a:t>
            </a:r>
            <a:endParaRPr lang="en-US" sz="1800" dirty="0"/>
          </a:p>
        </p:txBody>
      </p:sp>
      <p:sp>
        <p:nvSpPr>
          <p:cNvPr id="7" name="Shape 5"/>
          <p:cNvSpPr/>
          <p:nvPr/>
        </p:nvSpPr>
        <p:spPr>
          <a:xfrm>
            <a:off x="1771526" y="7956523"/>
            <a:ext cx="15487776" cy="15903"/>
          </a:xfrm>
          <a:prstGeom prst="rect">
            <a:avLst/>
          </a:prstGeom>
          <a:solidFill>
            <a:srgbClr val="201D18"/>
          </a:solidFill>
          <a:ln/>
        </p:spPr>
        <p:txBody>
          <a:bodyPr/>
          <a:lstStyle/>
          <a:p>
            <a:endParaRPr lang="en-CA"/>
          </a:p>
        </p:txBody>
      </p:sp>
      <p:sp>
        <p:nvSpPr>
          <p:cNvPr id="8" name="Shape 6"/>
          <p:cNvSpPr/>
          <p:nvPr/>
        </p:nvSpPr>
        <p:spPr>
          <a:xfrm>
            <a:off x="1771526" y="4243388"/>
            <a:ext cx="15487776" cy="9525"/>
          </a:xfrm>
          <a:prstGeom prst="rect">
            <a:avLst/>
          </a:prstGeom>
          <a:solidFill>
            <a:srgbClr val="201D18">
              <a:alpha val="16000"/>
            </a:srgbClr>
          </a:solidFill>
          <a:ln/>
        </p:spPr>
        <p:txBody>
          <a:bodyPr/>
          <a:lstStyle/>
          <a:p>
            <a:endParaRPr lang="en-CA"/>
          </a:p>
        </p:txBody>
      </p:sp>
      <p:sp>
        <p:nvSpPr>
          <p:cNvPr id="9" name="Shape 7"/>
          <p:cNvSpPr/>
          <p:nvPr/>
        </p:nvSpPr>
        <p:spPr>
          <a:xfrm>
            <a:off x="1771526" y="5929313"/>
            <a:ext cx="15487776" cy="9525"/>
          </a:xfrm>
          <a:prstGeom prst="rect">
            <a:avLst/>
          </a:prstGeom>
          <a:solidFill>
            <a:srgbClr val="201D18">
              <a:alpha val="16000"/>
            </a:srgbClr>
          </a:solidFill>
          <a:ln/>
        </p:spPr>
        <p:txBody>
          <a:bodyPr/>
          <a:lstStyle/>
          <a:p>
            <a:endParaRPr lang="en-CA"/>
          </a:p>
        </p:txBody>
      </p:sp>
      <p:sp>
        <p:nvSpPr>
          <p:cNvPr id="10" name="Shape 8"/>
          <p:cNvSpPr/>
          <p:nvPr/>
        </p:nvSpPr>
        <p:spPr>
          <a:xfrm>
            <a:off x="1771526" y="7615238"/>
            <a:ext cx="15487776" cy="9525"/>
          </a:xfrm>
          <a:prstGeom prst="rect">
            <a:avLst/>
          </a:prstGeom>
          <a:solidFill>
            <a:srgbClr val="201D18">
              <a:alpha val="16000"/>
            </a:srgbClr>
          </a:solidFill>
          <a:ln/>
        </p:spPr>
        <p:txBody>
          <a:bodyPr/>
          <a:lstStyle/>
          <a:p>
            <a:endParaRPr lang="en-CA"/>
          </a:p>
        </p:txBody>
      </p:sp>
      <p:sp>
        <p:nvSpPr>
          <p:cNvPr id="11" name="Text 9"/>
          <p:cNvSpPr/>
          <p:nvPr/>
        </p:nvSpPr>
        <p:spPr>
          <a:xfrm>
            <a:off x="4227609" y="3697854"/>
            <a:ext cx="1904958" cy="706010"/>
          </a:xfrm>
          <a:prstGeom prst="rect">
            <a:avLst/>
          </a:prstGeom>
          <a:noFill/>
          <a:ln/>
        </p:spPr>
        <p:txBody>
          <a:bodyPr wrap="square" lIns="25400" tIns="25400" rIns="25400" bIns="25400" rtlCol="0" anchor="t">
            <a:normAutofit/>
          </a:bodyPr>
          <a:lstStyle/>
          <a:p>
            <a:pPr marL="0" indent="0" algn="l">
              <a:buNone/>
            </a:pPr>
            <a:r>
              <a:rPr lang="en-US" sz="3450" b="1" dirty="0">
                <a:solidFill>
                  <a:srgbClr val="2F5FA8"/>
                </a:solidFill>
                <a:latin typeface="Georgia" pitchFamily="34" charset="0"/>
                <a:ea typeface="Georgia" pitchFamily="34" charset="-122"/>
                <a:cs typeface="Georgia" pitchFamily="34" charset="-120"/>
              </a:rPr>
              <a:t>88.69%</a:t>
            </a:r>
            <a:endParaRPr lang="en-US" sz="3450" dirty="0"/>
          </a:p>
        </p:txBody>
      </p:sp>
      <p:sp>
        <p:nvSpPr>
          <p:cNvPr id="12" name="Shape 10"/>
          <p:cNvSpPr/>
          <p:nvPr/>
        </p:nvSpPr>
        <p:spPr>
          <a:xfrm>
            <a:off x="3818781" y="4476834"/>
            <a:ext cx="2466932" cy="3495592"/>
          </a:xfrm>
          <a:prstGeom prst="roundRect">
            <a:avLst>
              <a:gd name="adj" fmla="val 4000"/>
            </a:avLst>
          </a:prstGeom>
          <a:solidFill>
            <a:srgbClr val="2F5FA8"/>
          </a:solidFill>
          <a:ln/>
        </p:spPr>
        <p:txBody>
          <a:bodyPr/>
          <a:lstStyle/>
          <a:p>
            <a:endParaRPr lang="en-CA"/>
          </a:p>
        </p:txBody>
      </p:sp>
      <p:sp>
        <p:nvSpPr>
          <p:cNvPr id="13" name="Text 11"/>
          <p:cNvSpPr/>
          <p:nvPr/>
        </p:nvSpPr>
        <p:spPr>
          <a:xfrm>
            <a:off x="4511993" y="6660957"/>
            <a:ext cx="1364892" cy="478652"/>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Georgia" pitchFamily="34" charset="0"/>
                <a:ea typeface="Georgia" pitchFamily="34" charset="-122"/>
                <a:cs typeface="Georgia" pitchFamily="34" charset="-120"/>
              </a:rPr>
              <a:t>Adam</a:t>
            </a:r>
            <a:endParaRPr lang="en-US" sz="2400" dirty="0"/>
          </a:p>
        </p:txBody>
      </p:sp>
      <p:sp>
        <p:nvSpPr>
          <p:cNvPr id="14" name="Text 12"/>
          <p:cNvSpPr/>
          <p:nvPr/>
        </p:nvSpPr>
        <p:spPr>
          <a:xfrm>
            <a:off x="4013152" y="7139526"/>
            <a:ext cx="2160766" cy="626497"/>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80000"/>
                  </a:srgbClr>
                </a:solidFill>
                <a:latin typeface="Courier New" pitchFamily="34" charset="0"/>
                <a:ea typeface="Courier New" pitchFamily="34" charset="-122"/>
                <a:cs typeface="Courier New" pitchFamily="34" charset="-120"/>
              </a:rPr>
              <a:t>lr .001 · β₁ .9</a:t>
            </a:r>
            <a:endParaRPr lang="en-US" sz="1800" dirty="0"/>
          </a:p>
        </p:txBody>
      </p:sp>
      <p:sp>
        <p:nvSpPr>
          <p:cNvPr id="15" name="Text 13"/>
          <p:cNvSpPr/>
          <p:nvPr/>
        </p:nvSpPr>
        <p:spPr>
          <a:xfrm>
            <a:off x="8818743" y="3335821"/>
            <a:ext cx="1904958" cy="706010"/>
          </a:xfrm>
          <a:prstGeom prst="rect">
            <a:avLst/>
          </a:prstGeom>
          <a:noFill/>
          <a:ln/>
        </p:spPr>
        <p:txBody>
          <a:bodyPr wrap="square" lIns="25400" tIns="25400" rIns="25400" bIns="25400" rtlCol="0" anchor="t">
            <a:normAutofit/>
          </a:bodyPr>
          <a:lstStyle/>
          <a:p>
            <a:pPr marL="0" indent="0" algn="l">
              <a:buNone/>
            </a:pPr>
            <a:r>
              <a:rPr lang="en-US" sz="3450" b="1" dirty="0">
                <a:solidFill>
                  <a:srgbClr val="1F7A5C"/>
                </a:solidFill>
                <a:latin typeface="Georgia" pitchFamily="34" charset="0"/>
                <a:ea typeface="Georgia" pitchFamily="34" charset="-122"/>
                <a:cs typeface="Georgia" pitchFamily="34" charset="-120"/>
              </a:rPr>
              <a:t>89.76%</a:t>
            </a:r>
            <a:endParaRPr lang="en-US" sz="3450" dirty="0"/>
          </a:p>
        </p:txBody>
      </p:sp>
      <p:sp>
        <p:nvSpPr>
          <p:cNvPr id="16" name="Shape 14"/>
          <p:cNvSpPr/>
          <p:nvPr/>
        </p:nvSpPr>
        <p:spPr>
          <a:xfrm>
            <a:off x="8376035" y="4114801"/>
            <a:ext cx="2466807" cy="3857625"/>
          </a:xfrm>
          <a:prstGeom prst="roundRect">
            <a:avLst>
              <a:gd name="adj" fmla="val 4000"/>
            </a:avLst>
          </a:prstGeom>
          <a:solidFill>
            <a:srgbClr val="1F7A5C"/>
          </a:solidFill>
          <a:ln/>
        </p:spPr>
        <p:txBody>
          <a:bodyPr/>
          <a:lstStyle/>
          <a:p>
            <a:endParaRPr lang="en-CA"/>
          </a:p>
        </p:txBody>
      </p:sp>
      <p:sp>
        <p:nvSpPr>
          <p:cNvPr id="17" name="Text 15"/>
          <p:cNvSpPr/>
          <p:nvPr/>
        </p:nvSpPr>
        <p:spPr>
          <a:xfrm>
            <a:off x="8852163" y="6632382"/>
            <a:ext cx="1871538" cy="507227"/>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Georgia" pitchFamily="34" charset="0"/>
                <a:ea typeface="Georgia" pitchFamily="34" charset="-122"/>
                <a:cs typeface="Georgia" pitchFamily="34" charset="-120"/>
              </a:rPr>
              <a:t>RMSprop</a:t>
            </a:r>
            <a:endParaRPr lang="en-US" sz="2400" dirty="0"/>
          </a:p>
        </p:txBody>
      </p:sp>
      <p:sp>
        <p:nvSpPr>
          <p:cNvPr id="18" name="Text 16"/>
          <p:cNvSpPr/>
          <p:nvPr/>
        </p:nvSpPr>
        <p:spPr>
          <a:xfrm>
            <a:off x="8562934" y="7139526"/>
            <a:ext cx="2653706" cy="626497"/>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80000"/>
                  </a:srgbClr>
                </a:solidFill>
                <a:latin typeface="Courier New" pitchFamily="34" charset="0"/>
                <a:ea typeface="Courier New" pitchFamily="34" charset="-122"/>
                <a:cs typeface="Courier New" pitchFamily="34" charset="-120"/>
              </a:rPr>
              <a:t>lr .001 · α .99</a:t>
            </a:r>
            <a:endParaRPr lang="en-US" sz="1800" dirty="0"/>
          </a:p>
        </p:txBody>
      </p:sp>
      <p:sp>
        <p:nvSpPr>
          <p:cNvPr id="19" name="Text 17"/>
          <p:cNvSpPr/>
          <p:nvPr/>
        </p:nvSpPr>
        <p:spPr>
          <a:xfrm>
            <a:off x="13409751" y="3202512"/>
            <a:ext cx="1904959" cy="706010"/>
          </a:xfrm>
          <a:prstGeom prst="rect">
            <a:avLst/>
          </a:prstGeom>
          <a:noFill/>
          <a:ln/>
        </p:spPr>
        <p:txBody>
          <a:bodyPr wrap="square" lIns="25400" tIns="25400" rIns="25400" bIns="25400" rtlCol="0" anchor="t">
            <a:normAutofit/>
          </a:bodyPr>
          <a:lstStyle/>
          <a:p>
            <a:pPr marL="0" indent="0" algn="l">
              <a:buNone/>
            </a:pPr>
            <a:r>
              <a:rPr lang="en-US" sz="3450" b="1" dirty="0">
                <a:solidFill>
                  <a:srgbClr val="BD3B25"/>
                </a:solidFill>
                <a:latin typeface="Georgia" pitchFamily="34" charset="0"/>
                <a:ea typeface="Georgia" pitchFamily="34" charset="-122"/>
                <a:cs typeface="Georgia" pitchFamily="34" charset="-120"/>
              </a:rPr>
              <a:t>90.15%</a:t>
            </a:r>
            <a:endParaRPr lang="en-US" sz="3450" dirty="0"/>
          </a:p>
        </p:txBody>
      </p:sp>
      <p:sp>
        <p:nvSpPr>
          <p:cNvPr id="20" name="Shape 18"/>
          <p:cNvSpPr/>
          <p:nvPr/>
        </p:nvSpPr>
        <p:spPr>
          <a:xfrm>
            <a:off x="12948404" y="3980333"/>
            <a:ext cx="2466807" cy="3990934"/>
          </a:xfrm>
          <a:prstGeom prst="roundRect">
            <a:avLst>
              <a:gd name="adj" fmla="val 4000"/>
            </a:avLst>
          </a:prstGeom>
          <a:solidFill>
            <a:srgbClr val="BD3B25"/>
          </a:solidFill>
          <a:ln/>
        </p:spPr>
        <p:txBody>
          <a:bodyPr/>
          <a:lstStyle/>
          <a:p>
            <a:endParaRPr lang="en-CA"/>
          </a:p>
        </p:txBody>
      </p:sp>
      <p:sp>
        <p:nvSpPr>
          <p:cNvPr id="21" name="Text 19"/>
          <p:cNvSpPr/>
          <p:nvPr/>
        </p:nvSpPr>
        <p:spPr>
          <a:xfrm>
            <a:off x="13613380" y="4117906"/>
            <a:ext cx="1062162" cy="348201"/>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FFFFFF">
                    <a:alpha val="92000"/>
                  </a:srgbClr>
                </a:solidFill>
                <a:latin typeface="Courier New" pitchFamily="34" charset="0"/>
                <a:ea typeface="Courier New" pitchFamily="34" charset="-122"/>
                <a:cs typeface="Courier New" pitchFamily="34" charset="-120"/>
              </a:rPr>
              <a:t>★ BEST</a:t>
            </a:r>
            <a:endParaRPr lang="en-US" sz="1800" dirty="0"/>
          </a:p>
        </p:txBody>
      </p:sp>
      <p:sp>
        <p:nvSpPr>
          <p:cNvPr id="22" name="Text 20"/>
          <p:cNvSpPr/>
          <p:nvPr/>
        </p:nvSpPr>
        <p:spPr>
          <a:xfrm>
            <a:off x="13539207" y="6660957"/>
            <a:ext cx="1595893" cy="478652"/>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Georgia" pitchFamily="34" charset="0"/>
                <a:ea typeface="Georgia" pitchFamily="34" charset="-122"/>
                <a:cs typeface="Georgia" pitchFamily="34" charset="-120"/>
              </a:rPr>
              <a:t>AdamW</a:t>
            </a:r>
            <a:endParaRPr lang="en-US" sz="2400" dirty="0"/>
          </a:p>
        </p:txBody>
      </p:sp>
      <p:sp>
        <p:nvSpPr>
          <p:cNvPr id="23" name="Text 21"/>
          <p:cNvSpPr/>
          <p:nvPr/>
        </p:nvSpPr>
        <p:spPr>
          <a:xfrm>
            <a:off x="13067545" y="7139526"/>
            <a:ext cx="2466807" cy="626497"/>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85000"/>
                  </a:srgbClr>
                </a:solidFill>
                <a:latin typeface="Courier New" pitchFamily="34" charset="0"/>
                <a:ea typeface="Courier New" pitchFamily="34" charset="-122"/>
                <a:cs typeface="Courier New" pitchFamily="34" charset="-120"/>
              </a:rPr>
              <a:t>lr .001 · wd .01</a:t>
            </a:r>
            <a:endParaRPr lang="en-US" sz="1800" dirty="0"/>
          </a:p>
        </p:txBody>
      </p:sp>
      <p:sp>
        <p:nvSpPr>
          <p:cNvPr id="24" name="Text 22"/>
          <p:cNvSpPr/>
          <p:nvPr/>
        </p:nvSpPr>
        <p:spPr>
          <a:xfrm>
            <a:off x="1771650" y="8143876"/>
            <a:ext cx="17036416" cy="332298"/>
          </a:xfrm>
          <a:prstGeom prst="rect">
            <a:avLst/>
          </a:prstGeom>
          <a:noFill/>
          <a:ln/>
        </p:spPr>
        <p:txBody>
          <a:bodyPr wrap="square" lIns="25400" tIns="25400" rIns="25400" bIns="25400" rtlCol="0" anchor="t">
            <a:normAutofit/>
          </a:bodyPr>
          <a:lstStyle/>
          <a:p>
            <a:pPr marL="0" indent="0" algn="l">
              <a:buNone/>
            </a:pPr>
            <a:r>
              <a:rPr lang="en-US" sz="1800" dirty="0">
                <a:solidFill>
                  <a:srgbClr val="9A9183"/>
                </a:solidFill>
                <a:latin typeface="Courier New" pitchFamily="34" charset="0"/>
                <a:ea typeface="Courier New" pitchFamily="34" charset="-122"/>
                <a:cs typeface="Courier New" pitchFamily="34" charset="-120"/>
              </a:rPr>
              <a:t>Test accuracy (%) · vertical axis begins at 80% to show the spread</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17853661"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RESULTS · PLOT 2</a:t>
            </a:r>
            <a:endParaRPr lang="en-US" sz="1800" dirty="0"/>
          </a:p>
        </p:txBody>
      </p:sp>
      <p:sp>
        <p:nvSpPr>
          <p:cNvPr id="3" name="Text 1"/>
          <p:cNvSpPr/>
          <p:nvPr/>
        </p:nvSpPr>
        <p:spPr>
          <a:xfrm>
            <a:off x="1028700" y="1303765"/>
            <a:ext cx="9674788"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Convergence over 20 epochs</a:t>
            </a:r>
            <a:endParaRPr lang="en-US" sz="5550" dirty="0"/>
          </a:p>
        </p:txBody>
      </p:sp>
      <p:sp>
        <p:nvSpPr>
          <p:cNvPr id="4" name="Shape 2"/>
          <p:cNvSpPr/>
          <p:nvPr/>
        </p:nvSpPr>
        <p:spPr>
          <a:xfrm>
            <a:off x="13356205" y="1842466"/>
            <a:ext cx="247609" cy="38017"/>
          </a:xfrm>
          <a:prstGeom prst="roundRect">
            <a:avLst>
              <a:gd name="adj" fmla="val 50000"/>
            </a:avLst>
          </a:prstGeom>
          <a:solidFill>
            <a:srgbClr val="2F5FA8"/>
          </a:solidFill>
          <a:ln/>
        </p:spPr>
        <p:txBody>
          <a:bodyPr/>
          <a:lstStyle/>
          <a:p>
            <a:endParaRPr lang="en-CA"/>
          </a:p>
        </p:txBody>
      </p:sp>
      <p:sp>
        <p:nvSpPr>
          <p:cNvPr id="5" name="Text 3"/>
          <p:cNvSpPr/>
          <p:nvPr/>
        </p:nvSpPr>
        <p:spPr>
          <a:xfrm>
            <a:off x="13698980" y="1714376"/>
            <a:ext cx="677020" cy="332298"/>
          </a:xfrm>
          <a:prstGeom prst="rect">
            <a:avLst/>
          </a:prstGeom>
          <a:noFill/>
          <a:ln/>
        </p:spPr>
        <p:txBody>
          <a:bodyPr wrap="square" lIns="0" tIns="0" rIns="0" bIns="0" rtlCol="0" anchor="t">
            <a:normAutofit/>
          </a:bodyPr>
          <a:lstStyle/>
          <a:p>
            <a:pPr marL="0" indent="0" algn="l">
              <a:buNone/>
            </a:pPr>
            <a:r>
              <a:rPr lang="en-US" sz="1800" dirty="0">
                <a:solidFill>
                  <a:srgbClr val="201D18"/>
                </a:solidFill>
                <a:latin typeface="Arial" pitchFamily="34" charset="0"/>
                <a:ea typeface="Arial" pitchFamily="34" charset="-122"/>
                <a:cs typeface="Arial" pitchFamily="34" charset="-120"/>
              </a:rPr>
              <a:t>Adam</a:t>
            </a:r>
            <a:endParaRPr lang="en-US" sz="1800" dirty="0"/>
          </a:p>
        </p:txBody>
      </p:sp>
      <p:sp>
        <p:nvSpPr>
          <p:cNvPr id="6" name="Shape 4"/>
          <p:cNvSpPr/>
          <p:nvPr/>
        </p:nvSpPr>
        <p:spPr>
          <a:xfrm>
            <a:off x="14566418" y="1842466"/>
            <a:ext cx="247609" cy="38017"/>
          </a:xfrm>
          <a:prstGeom prst="roundRect">
            <a:avLst>
              <a:gd name="adj" fmla="val 50000"/>
            </a:avLst>
          </a:prstGeom>
          <a:solidFill>
            <a:srgbClr val="1F7A5C"/>
          </a:solidFill>
          <a:ln/>
        </p:spPr>
        <p:txBody>
          <a:bodyPr/>
          <a:lstStyle/>
          <a:p>
            <a:endParaRPr lang="en-CA"/>
          </a:p>
        </p:txBody>
      </p:sp>
      <p:sp>
        <p:nvSpPr>
          <p:cNvPr id="7" name="Text 5"/>
          <p:cNvSpPr/>
          <p:nvPr/>
        </p:nvSpPr>
        <p:spPr>
          <a:xfrm>
            <a:off x="14909193" y="1714376"/>
            <a:ext cx="1016939" cy="332298"/>
          </a:xfrm>
          <a:prstGeom prst="rect">
            <a:avLst/>
          </a:prstGeom>
          <a:noFill/>
          <a:ln/>
        </p:spPr>
        <p:txBody>
          <a:bodyPr wrap="square" lIns="0" tIns="0" rIns="0" bIns="0" rtlCol="0" anchor="t">
            <a:normAutofit/>
          </a:bodyPr>
          <a:lstStyle/>
          <a:p>
            <a:pPr marL="0" indent="0" algn="l">
              <a:buNone/>
            </a:pPr>
            <a:r>
              <a:rPr lang="en-US" sz="1800" dirty="0">
                <a:solidFill>
                  <a:srgbClr val="201D18"/>
                </a:solidFill>
                <a:latin typeface="Arial" pitchFamily="34" charset="0"/>
                <a:ea typeface="Arial" pitchFamily="34" charset="-122"/>
                <a:cs typeface="Arial" pitchFamily="34" charset="-120"/>
              </a:rPr>
              <a:t>RMSprop</a:t>
            </a:r>
            <a:endParaRPr lang="en-US" sz="1800" dirty="0"/>
          </a:p>
        </p:txBody>
      </p:sp>
      <p:sp>
        <p:nvSpPr>
          <p:cNvPr id="8" name="Shape 6"/>
          <p:cNvSpPr/>
          <p:nvPr/>
        </p:nvSpPr>
        <p:spPr>
          <a:xfrm>
            <a:off x="16116550" y="1842466"/>
            <a:ext cx="247609" cy="38017"/>
          </a:xfrm>
          <a:prstGeom prst="roundRect">
            <a:avLst>
              <a:gd name="adj" fmla="val 50000"/>
            </a:avLst>
          </a:prstGeom>
          <a:solidFill>
            <a:srgbClr val="BD3B25"/>
          </a:solidFill>
          <a:ln/>
        </p:spPr>
        <p:txBody>
          <a:bodyPr/>
          <a:lstStyle/>
          <a:p>
            <a:endParaRPr lang="en-CA"/>
          </a:p>
        </p:txBody>
      </p:sp>
      <p:sp>
        <p:nvSpPr>
          <p:cNvPr id="9" name="Text 7"/>
          <p:cNvSpPr/>
          <p:nvPr/>
        </p:nvSpPr>
        <p:spPr>
          <a:xfrm>
            <a:off x="16459326" y="1714376"/>
            <a:ext cx="876176" cy="332298"/>
          </a:xfrm>
          <a:prstGeom prst="rect">
            <a:avLst/>
          </a:prstGeom>
          <a:noFill/>
          <a:ln/>
        </p:spPr>
        <p:txBody>
          <a:bodyPr wrap="square" lIns="0" tIns="0" rIns="0" bIns="0" rtlCol="0" anchor="t">
            <a:normAutofit/>
          </a:bodyPr>
          <a:lstStyle/>
          <a:p>
            <a:pPr marL="0" indent="0" algn="l">
              <a:buNone/>
            </a:pPr>
            <a:r>
              <a:rPr lang="en-US" sz="1800" dirty="0">
                <a:solidFill>
                  <a:srgbClr val="201D18"/>
                </a:solidFill>
                <a:latin typeface="Arial" pitchFamily="34" charset="0"/>
                <a:ea typeface="Arial" pitchFamily="34" charset="-122"/>
                <a:cs typeface="Arial" pitchFamily="34" charset="-120"/>
              </a:rPr>
              <a:t>AdamW</a:t>
            </a:r>
            <a:endParaRPr lang="en-US" sz="1800" dirty="0"/>
          </a:p>
        </p:txBody>
      </p:sp>
      <p:sp>
        <p:nvSpPr>
          <p:cNvPr id="10" name="Shape 8"/>
          <p:cNvSpPr/>
          <p:nvPr/>
        </p:nvSpPr>
        <p:spPr>
          <a:xfrm>
            <a:off x="1028700" y="2275191"/>
            <a:ext cx="7924842" cy="7287992"/>
          </a:xfrm>
          <a:prstGeom prst="roundRect">
            <a:avLst>
              <a:gd name="adj" fmla="val 1307"/>
            </a:avLst>
          </a:prstGeom>
          <a:solidFill>
            <a:srgbClr val="FFFFFF"/>
          </a:solidFill>
          <a:ln/>
        </p:spPr>
        <p:txBody>
          <a:bodyPr/>
          <a:lstStyle/>
          <a:p>
            <a:endParaRPr lang="en-CA"/>
          </a:p>
        </p:txBody>
      </p:sp>
      <p:sp>
        <p:nvSpPr>
          <p:cNvPr id="11" name="Text 9"/>
          <p:cNvSpPr/>
          <p:nvPr/>
        </p:nvSpPr>
        <p:spPr>
          <a:xfrm>
            <a:off x="1352467" y="2560941"/>
            <a:ext cx="8005038" cy="332298"/>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Courier New" pitchFamily="34" charset="0"/>
                <a:ea typeface="Courier New" pitchFamily="34" charset="-122"/>
                <a:cs typeface="Courier New" pitchFamily="34" charset="-120"/>
              </a:rPr>
              <a:t>Test accuracy (%)</a:t>
            </a:r>
            <a:endParaRPr lang="en-US" sz="1800" dirty="0"/>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52467" y="2950307"/>
            <a:ext cx="7277308" cy="6032928"/>
          </a:xfrm>
          <a:prstGeom prst="rect">
            <a:avLst/>
          </a:prstGeom>
        </p:spPr>
      </p:pic>
      <p:sp>
        <p:nvSpPr>
          <p:cNvPr id="13" name="Text 10"/>
          <p:cNvSpPr/>
          <p:nvPr/>
        </p:nvSpPr>
        <p:spPr>
          <a:xfrm>
            <a:off x="988602" y="9040385"/>
            <a:ext cx="8005038" cy="332298"/>
          </a:xfrm>
          <a:prstGeom prst="rect">
            <a:avLst/>
          </a:prstGeom>
          <a:noFill/>
          <a:ln/>
        </p:spPr>
        <p:txBody>
          <a:bodyPr wrap="square" lIns="25400" tIns="25400" rIns="25400" bIns="25400" rtlCol="0" anchor="t">
            <a:normAutofit/>
          </a:bodyPr>
          <a:lstStyle/>
          <a:p>
            <a:pPr marL="0" indent="0" algn="ctr">
              <a:buNone/>
            </a:pPr>
            <a:r>
              <a:rPr lang="en-US" sz="1800" dirty="0">
                <a:solidFill>
                  <a:srgbClr val="9A9183"/>
                </a:solidFill>
                <a:latin typeface="Courier New" pitchFamily="34" charset="0"/>
                <a:ea typeface="Courier New" pitchFamily="34" charset="-122"/>
                <a:cs typeface="Courier New" pitchFamily="34" charset="-120"/>
              </a:rPr>
              <a:t>Epoch 1 → 20</a:t>
            </a:r>
            <a:endParaRPr lang="en-US" sz="1800" dirty="0"/>
          </a:p>
        </p:txBody>
      </p:sp>
      <p:sp>
        <p:nvSpPr>
          <p:cNvPr id="14" name="Shape 11"/>
          <p:cNvSpPr/>
          <p:nvPr/>
        </p:nvSpPr>
        <p:spPr>
          <a:xfrm>
            <a:off x="9334459" y="2275191"/>
            <a:ext cx="7924842" cy="7287992"/>
          </a:xfrm>
          <a:prstGeom prst="roundRect">
            <a:avLst>
              <a:gd name="adj" fmla="val 1307"/>
            </a:avLst>
          </a:prstGeom>
          <a:solidFill>
            <a:srgbClr val="FFFFFF"/>
          </a:solidFill>
          <a:ln/>
        </p:spPr>
        <p:txBody>
          <a:bodyPr/>
          <a:lstStyle/>
          <a:p>
            <a:endParaRPr lang="en-CA"/>
          </a:p>
        </p:txBody>
      </p:sp>
      <p:sp>
        <p:nvSpPr>
          <p:cNvPr id="15" name="Text 12"/>
          <p:cNvSpPr/>
          <p:nvPr/>
        </p:nvSpPr>
        <p:spPr>
          <a:xfrm>
            <a:off x="9658226" y="2560941"/>
            <a:ext cx="8005038" cy="332298"/>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Courier New" pitchFamily="34" charset="0"/>
                <a:ea typeface="Courier New" pitchFamily="34" charset="-122"/>
                <a:cs typeface="Courier New" pitchFamily="34" charset="-120"/>
              </a:rPr>
              <a:t>Test loss</a:t>
            </a:r>
            <a:endParaRPr lang="en-US" sz="1800"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58226" y="2950307"/>
            <a:ext cx="7277308" cy="6032928"/>
          </a:xfrm>
          <a:prstGeom prst="rect">
            <a:avLst/>
          </a:prstGeom>
        </p:spPr>
      </p:pic>
      <p:sp>
        <p:nvSpPr>
          <p:cNvPr id="17" name="Text 13"/>
          <p:cNvSpPr/>
          <p:nvPr/>
        </p:nvSpPr>
        <p:spPr>
          <a:xfrm>
            <a:off x="9294361" y="9040385"/>
            <a:ext cx="8005038" cy="332298"/>
          </a:xfrm>
          <a:prstGeom prst="rect">
            <a:avLst/>
          </a:prstGeom>
          <a:noFill/>
          <a:ln/>
        </p:spPr>
        <p:txBody>
          <a:bodyPr wrap="square" lIns="25400" tIns="25400" rIns="25400" bIns="25400" rtlCol="0" anchor="t">
            <a:normAutofit/>
          </a:bodyPr>
          <a:lstStyle/>
          <a:p>
            <a:pPr marL="0" indent="0" algn="ctr">
              <a:buNone/>
            </a:pPr>
            <a:r>
              <a:rPr lang="en-US" sz="1800" dirty="0">
                <a:solidFill>
                  <a:srgbClr val="9A9183"/>
                </a:solidFill>
                <a:latin typeface="Courier New" pitchFamily="34" charset="0"/>
                <a:ea typeface="Courier New" pitchFamily="34" charset="-122"/>
                <a:cs typeface="Courier New" pitchFamily="34" charset="-120"/>
              </a:rPr>
              <a:t>Epoch 1 → 20</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17853661"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DISCUSSION</a:t>
            </a:r>
            <a:endParaRPr lang="en-US" sz="1800" dirty="0"/>
          </a:p>
        </p:txBody>
      </p:sp>
      <p:sp>
        <p:nvSpPr>
          <p:cNvPr id="3" name="Text 1"/>
          <p:cNvSpPr/>
          <p:nvPr/>
        </p:nvSpPr>
        <p:spPr>
          <a:xfrm>
            <a:off x="1028700" y="1341907"/>
            <a:ext cx="1785366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The generalization gap</a:t>
            </a:r>
            <a:endParaRPr lang="en-US" sz="5550" dirty="0"/>
          </a:p>
        </p:txBody>
      </p:sp>
      <p:sp>
        <p:nvSpPr>
          <p:cNvPr id="4" name="Text 2"/>
          <p:cNvSpPr/>
          <p:nvPr/>
        </p:nvSpPr>
        <p:spPr>
          <a:xfrm>
            <a:off x="1028700" y="2122874"/>
            <a:ext cx="17853661" cy="380006"/>
          </a:xfrm>
          <a:prstGeom prst="rect">
            <a:avLst/>
          </a:prstGeom>
          <a:noFill/>
          <a:ln/>
        </p:spPr>
        <p:txBody>
          <a:bodyPr wrap="square" lIns="25400" tIns="25400" rIns="25400" bIns="25400" rtlCol="0" anchor="t">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Train accuracy minus test accuracy — how much each optimizer memorized rather than learned.</a:t>
            </a:r>
            <a:endParaRPr lang="en-US" sz="2100" dirty="0"/>
          </a:p>
        </p:txBody>
      </p:sp>
      <p:sp>
        <p:nvSpPr>
          <p:cNvPr id="5" name="Shape 3"/>
          <p:cNvSpPr/>
          <p:nvPr/>
        </p:nvSpPr>
        <p:spPr>
          <a:xfrm>
            <a:off x="1028700" y="2826689"/>
            <a:ext cx="5232456" cy="2075291"/>
          </a:xfrm>
          <a:prstGeom prst="roundRect">
            <a:avLst>
              <a:gd name="adj" fmla="val 4590"/>
            </a:avLst>
          </a:prstGeom>
          <a:solidFill>
            <a:srgbClr val="FFFFFF"/>
          </a:solidFill>
          <a:ln/>
        </p:spPr>
        <p:txBody>
          <a:bodyPr/>
          <a:lstStyle/>
          <a:p>
            <a:endParaRPr lang="en-CA"/>
          </a:p>
        </p:txBody>
      </p:sp>
      <p:sp>
        <p:nvSpPr>
          <p:cNvPr id="6" name="Shape 4"/>
          <p:cNvSpPr/>
          <p:nvPr/>
        </p:nvSpPr>
        <p:spPr>
          <a:xfrm>
            <a:off x="1028700" y="2826689"/>
            <a:ext cx="39756" cy="2075291"/>
          </a:xfrm>
          <a:prstGeom prst="rect">
            <a:avLst/>
          </a:prstGeom>
          <a:solidFill>
            <a:srgbClr val="2F5FA8"/>
          </a:solidFill>
          <a:ln/>
        </p:spPr>
        <p:txBody>
          <a:bodyPr/>
          <a:lstStyle/>
          <a:p>
            <a:endParaRPr lang="en-CA"/>
          </a:p>
        </p:txBody>
      </p:sp>
      <p:sp>
        <p:nvSpPr>
          <p:cNvPr id="7" name="Text 5"/>
          <p:cNvSpPr/>
          <p:nvPr/>
        </p:nvSpPr>
        <p:spPr>
          <a:xfrm>
            <a:off x="1392224" y="3131448"/>
            <a:ext cx="4999681" cy="475422"/>
          </a:xfrm>
          <a:prstGeom prst="rect">
            <a:avLst/>
          </a:prstGeom>
          <a:noFill/>
          <a:ln/>
        </p:spPr>
        <p:txBody>
          <a:bodyPr wrap="square" lIns="25400" tIns="25400" rIns="25400" bIns="25400" rtlCol="0" anchor="t">
            <a:normAutofit/>
          </a:bodyPr>
          <a:lstStyle/>
          <a:p>
            <a:pPr marL="0" indent="0" algn="l">
              <a:buNone/>
            </a:pPr>
            <a:r>
              <a:rPr lang="en-US" sz="2250" b="1" dirty="0">
                <a:solidFill>
                  <a:srgbClr val="2F5FA8"/>
                </a:solidFill>
                <a:latin typeface="Georgia" pitchFamily="34" charset="0"/>
                <a:ea typeface="Georgia" pitchFamily="34" charset="-122"/>
                <a:cs typeface="Georgia" pitchFamily="34" charset="-120"/>
              </a:rPr>
              <a:t>Adam</a:t>
            </a:r>
            <a:endParaRPr lang="en-US" sz="2250" dirty="0"/>
          </a:p>
        </p:txBody>
      </p:sp>
      <p:sp>
        <p:nvSpPr>
          <p:cNvPr id="8" name="Text 6"/>
          <p:cNvSpPr/>
          <p:nvPr/>
        </p:nvSpPr>
        <p:spPr>
          <a:xfrm>
            <a:off x="1392224" y="3644928"/>
            <a:ext cx="499968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dirty="0">
                <a:solidFill>
                  <a:srgbClr val="201D18"/>
                </a:solidFill>
                <a:latin typeface="Georgia" pitchFamily="34" charset="0"/>
                <a:ea typeface="Georgia" pitchFamily="34" charset="-122"/>
                <a:cs typeface="Georgia" pitchFamily="34" charset="-120"/>
              </a:rPr>
              <a:t>10.84</a:t>
            </a:r>
            <a:endParaRPr lang="en-US" sz="5550" dirty="0"/>
          </a:p>
        </p:txBody>
      </p:sp>
      <p:sp>
        <p:nvSpPr>
          <p:cNvPr id="9" name="Shape 7"/>
          <p:cNvSpPr/>
          <p:nvPr/>
        </p:nvSpPr>
        <p:spPr>
          <a:xfrm>
            <a:off x="1392224" y="4502054"/>
            <a:ext cx="4545165" cy="95167"/>
          </a:xfrm>
          <a:prstGeom prst="roundRect">
            <a:avLst>
              <a:gd name="adj" fmla="val 50000"/>
            </a:avLst>
          </a:prstGeom>
          <a:solidFill>
            <a:srgbClr val="EAE3D3"/>
          </a:solidFill>
          <a:ln/>
        </p:spPr>
        <p:txBody>
          <a:bodyPr/>
          <a:lstStyle/>
          <a:p>
            <a:endParaRPr lang="en-CA"/>
          </a:p>
        </p:txBody>
      </p:sp>
      <p:sp>
        <p:nvSpPr>
          <p:cNvPr id="10" name="Shape 8"/>
          <p:cNvSpPr/>
          <p:nvPr/>
        </p:nvSpPr>
        <p:spPr>
          <a:xfrm>
            <a:off x="1392224" y="4502054"/>
            <a:ext cx="4545165" cy="95167"/>
          </a:xfrm>
          <a:prstGeom prst="rect">
            <a:avLst/>
          </a:prstGeom>
          <a:solidFill>
            <a:srgbClr val="2F5FA8"/>
          </a:solidFill>
          <a:ln/>
        </p:spPr>
        <p:txBody>
          <a:bodyPr/>
          <a:lstStyle/>
          <a:p>
            <a:endParaRPr lang="en-CA"/>
          </a:p>
        </p:txBody>
      </p:sp>
      <p:sp>
        <p:nvSpPr>
          <p:cNvPr id="11" name="Shape 9"/>
          <p:cNvSpPr/>
          <p:nvPr/>
        </p:nvSpPr>
        <p:spPr>
          <a:xfrm>
            <a:off x="6527773" y="2826689"/>
            <a:ext cx="5232456" cy="2075291"/>
          </a:xfrm>
          <a:prstGeom prst="roundRect">
            <a:avLst>
              <a:gd name="adj" fmla="val 4590"/>
            </a:avLst>
          </a:prstGeom>
          <a:solidFill>
            <a:srgbClr val="FFFFFF"/>
          </a:solidFill>
          <a:ln/>
        </p:spPr>
        <p:txBody>
          <a:bodyPr/>
          <a:lstStyle/>
          <a:p>
            <a:endParaRPr lang="en-CA"/>
          </a:p>
        </p:txBody>
      </p:sp>
      <p:sp>
        <p:nvSpPr>
          <p:cNvPr id="12" name="Shape 10"/>
          <p:cNvSpPr/>
          <p:nvPr/>
        </p:nvSpPr>
        <p:spPr>
          <a:xfrm>
            <a:off x="6527773" y="2826689"/>
            <a:ext cx="39756" cy="2075291"/>
          </a:xfrm>
          <a:prstGeom prst="rect">
            <a:avLst/>
          </a:prstGeom>
          <a:solidFill>
            <a:srgbClr val="1F7A5C"/>
          </a:solidFill>
          <a:ln/>
        </p:spPr>
        <p:txBody>
          <a:bodyPr/>
          <a:lstStyle/>
          <a:p>
            <a:endParaRPr lang="en-CA"/>
          </a:p>
        </p:txBody>
      </p:sp>
      <p:sp>
        <p:nvSpPr>
          <p:cNvPr id="13" name="Text 11"/>
          <p:cNvSpPr/>
          <p:nvPr/>
        </p:nvSpPr>
        <p:spPr>
          <a:xfrm>
            <a:off x="6891296" y="3131448"/>
            <a:ext cx="4999681" cy="475422"/>
          </a:xfrm>
          <a:prstGeom prst="rect">
            <a:avLst/>
          </a:prstGeom>
          <a:noFill/>
          <a:ln/>
        </p:spPr>
        <p:txBody>
          <a:bodyPr wrap="square" lIns="25400" tIns="25400" rIns="25400" bIns="25400" rtlCol="0" anchor="t">
            <a:normAutofit/>
          </a:bodyPr>
          <a:lstStyle/>
          <a:p>
            <a:pPr marL="0" indent="0" algn="l">
              <a:buNone/>
            </a:pPr>
            <a:r>
              <a:rPr lang="en-US" sz="2250" b="1" dirty="0">
                <a:solidFill>
                  <a:srgbClr val="1F7A5C"/>
                </a:solidFill>
                <a:latin typeface="Georgia" pitchFamily="34" charset="0"/>
                <a:ea typeface="Georgia" pitchFamily="34" charset="-122"/>
                <a:cs typeface="Georgia" pitchFamily="34" charset="-120"/>
              </a:rPr>
              <a:t>RMSprop</a:t>
            </a:r>
            <a:endParaRPr lang="en-US" sz="2250" dirty="0"/>
          </a:p>
        </p:txBody>
      </p:sp>
      <p:sp>
        <p:nvSpPr>
          <p:cNvPr id="14" name="Text 12"/>
          <p:cNvSpPr/>
          <p:nvPr/>
        </p:nvSpPr>
        <p:spPr>
          <a:xfrm>
            <a:off x="6891296" y="3644928"/>
            <a:ext cx="499968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dirty="0">
                <a:solidFill>
                  <a:srgbClr val="201D18"/>
                </a:solidFill>
                <a:latin typeface="Georgia" pitchFamily="34" charset="0"/>
                <a:ea typeface="Georgia" pitchFamily="34" charset="-122"/>
                <a:cs typeface="Georgia" pitchFamily="34" charset="-120"/>
              </a:rPr>
              <a:t>9.86</a:t>
            </a:r>
            <a:endParaRPr lang="en-US" sz="5550" dirty="0"/>
          </a:p>
        </p:txBody>
      </p:sp>
      <p:sp>
        <p:nvSpPr>
          <p:cNvPr id="15" name="Shape 13"/>
          <p:cNvSpPr/>
          <p:nvPr/>
        </p:nvSpPr>
        <p:spPr>
          <a:xfrm>
            <a:off x="6891296" y="4502054"/>
            <a:ext cx="4545165" cy="95167"/>
          </a:xfrm>
          <a:prstGeom prst="roundRect">
            <a:avLst>
              <a:gd name="adj" fmla="val 50000"/>
            </a:avLst>
          </a:prstGeom>
          <a:solidFill>
            <a:srgbClr val="EAE3D3"/>
          </a:solidFill>
          <a:ln/>
        </p:spPr>
        <p:txBody>
          <a:bodyPr/>
          <a:lstStyle/>
          <a:p>
            <a:endParaRPr lang="en-CA"/>
          </a:p>
        </p:txBody>
      </p:sp>
      <p:sp>
        <p:nvSpPr>
          <p:cNvPr id="16" name="Shape 14"/>
          <p:cNvSpPr/>
          <p:nvPr/>
        </p:nvSpPr>
        <p:spPr>
          <a:xfrm>
            <a:off x="6891296" y="4502054"/>
            <a:ext cx="4136045" cy="95167"/>
          </a:xfrm>
          <a:prstGeom prst="rect">
            <a:avLst/>
          </a:prstGeom>
          <a:solidFill>
            <a:srgbClr val="1F7A5C"/>
          </a:solidFill>
          <a:ln/>
        </p:spPr>
        <p:txBody>
          <a:bodyPr/>
          <a:lstStyle/>
          <a:p>
            <a:endParaRPr lang="en-CA"/>
          </a:p>
        </p:txBody>
      </p:sp>
      <p:sp>
        <p:nvSpPr>
          <p:cNvPr id="17" name="Shape 15"/>
          <p:cNvSpPr/>
          <p:nvPr/>
        </p:nvSpPr>
        <p:spPr>
          <a:xfrm>
            <a:off x="12026845" y="2826689"/>
            <a:ext cx="5232456" cy="2075291"/>
          </a:xfrm>
          <a:prstGeom prst="roundRect">
            <a:avLst>
              <a:gd name="adj" fmla="val 4590"/>
            </a:avLst>
          </a:prstGeom>
          <a:solidFill>
            <a:srgbClr val="FFFFFF"/>
          </a:solidFill>
          <a:ln/>
        </p:spPr>
        <p:txBody>
          <a:bodyPr/>
          <a:lstStyle/>
          <a:p>
            <a:endParaRPr lang="en-CA"/>
          </a:p>
        </p:txBody>
      </p:sp>
      <p:sp>
        <p:nvSpPr>
          <p:cNvPr id="18" name="Shape 16"/>
          <p:cNvSpPr/>
          <p:nvPr/>
        </p:nvSpPr>
        <p:spPr>
          <a:xfrm>
            <a:off x="12026845" y="2826689"/>
            <a:ext cx="39756" cy="2075291"/>
          </a:xfrm>
          <a:prstGeom prst="rect">
            <a:avLst/>
          </a:prstGeom>
          <a:solidFill>
            <a:srgbClr val="BD3B25"/>
          </a:solidFill>
          <a:ln/>
        </p:spPr>
        <p:txBody>
          <a:bodyPr/>
          <a:lstStyle/>
          <a:p>
            <a:endParaRPr lang="en-CA"/>
          </a:p>
        </p:txBody>
      </p:sp>
      <p:sp>
        <p:nvSpPr>
          <p:cNvPr id="19" name="Text 17"/>
          <p:cNvSpPr/>
          <p:nvPr/>
        </p:nvSpPr>
        <p:spPr>
          <a:xfrm>
            <a:off x="12390369" y="3131448"/>
            <a:ext cx="4999681" cy="475422"/>
          </a:xfrm>
          <a:prstGeom prst="rect">
            <a:avLst/>
          </a:prstGeom>
          <a:noFill/>
          <a:ln/>
        </p:spPr>
        <p:txBody>
          <a:bodyPr wrap="square" lIns="25400" tIns="25400" rIns="25400" bIns="25400" rtlCol="0" anchor="t">
            <a:normAutofit/>
          </a:bodyPr>
          <a:lstStyle/>
          <a:p>
            <a:pPr marL="0" indent="0" algn="l">
              <a:buNone/>
            </a:pPr>
            <a:r>
              <a:rPr lang="en-US" sz="2250" b="1" dirty="0">
                <a:solidFill>
                  <a:srgbClr val="BD3B25"/>
                </a:solidFill>
                <a:latin typeface="Georgia" pitchFamily="34" charset="0"/>
                <a:ea typeface="Georgia" pitchFamily="34" charset="-122"/>
                <a:cs typeface="Georgia" pitchFamily="34" charset="-120"/>
              </a:rPr>
              <a:t>AdamW </a:t>
            </a:r>
            <a:r>
              <a:rPr lang="en-US" sz="1800" b="1" dirty="0">
                <a:solidFill>
                  <a:srgbClr val="BD3B25"/>
                </a:solidFill>
                <a:latin typeface="Courier New" pitchFamily="34" charset="0"/>
                <a:ea typeface="Courier New" pitchFamily="34" charset="-122"/>
                <a:cs typeface="Courier New" pitchFamily="34" charset="-120"/>
              </a:rPr>
              <a:t>★ SMALLEST</a:t>
            </a:r>
            <a:endParaRPr lang="en-US" sz="2250" dirty="0"/>
          </a:p>
        </p:txBody>
      </p:sp>
      <p:sp>
        <p:nvSpPr>
          <p:cNvPr id="20" name="Text 18"/>
          <p:cNvSpPr/>
          <p:nvPr/>
        </p:nvSpPr>
        <p:spPr>
          <a:xfrm>
            <a:off x="12390369" y="3644928"/>
            <a:ext cx="499968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dirty="0">
                <a:solidFill>
                  <a:srgbClr val="201D18"/>
                </a:solidFill>
                <a:latin typeface="Georgia" pitchFamily="34" charset="0"/>
                <a:ea typeface="Georgia" pitchFamily="34" charset="-122"/>
                <a:cs typeface="Georgia" pitchFamily="34" charset="-120"/>
              </a:rPr>
              <a:t>8.05</a:t>
            </a:r>
            <a:endParaRPr lang="en-US" sz="5550" dirty="0"/>
          </a:p>
        </p:txBody>
      </p:sp>
      <p:sp>
        <p:nvSpPr>
          <p:cNvPr id="21" name="Shape 19"/>
          <p:cNvSpPr/>
          <p:nvPr/>
        </p:nvSpPr>
        <p:spPr>
          <a:xfrm>
            <a:off x="12390369" y="4502054"/>
            <a:ext cx="4545165" cy="95167"/>
          </a:xfrm>
          <a:prstGeom prst="roundRect">
            <a:avLst>
              <a:gd name="adj" fmla="val 50000"/>
            </a:avLst>
          </a:prstGeom>
          <a:solidFill>
            <a:srgbClr val="EAE3D3"/>
          </a:solidFill>
          <a:ln/>
        </p:spPr>
        <p:txBody>
          <a:bodyPr/>
          <a:lstStyle/>
          <a:p>
            <a:endParaRPr lang="en-CA"/>
          </a:p>
        </p:txBody>
      </p:sp>
      <p:sp>
        <p:nvSpPr>
          <p:cNvPr id="22" name="Shape 20"/>
          <p:cNvSpPr/>
          <p:nvPr/>
        </p:nvSpPr>
        <p:spPr>
          <a:xfrm>
            <a:off x="12390369" y="4502054"/>
            <a:ext cx="3363402" cy="95167"/>
          </a:xfrm>
          <a:prstGeom prst="rect">
            <a:avLst/>
          </a:prstGeom>
          <a:solidFill>
            <a:srgbClr val="BD3B25"/>
          </a:solidFill>
          <a:ln/>
        </p:spPr>
        <p:txBody>
          <a:bodyPr/>
          <a:lstStyle/>
          <a:p>
            <a:endParaRPr lang="en-CA"/>
          </a:p>
        </p:txBody>
      </p:sp>
      <p:sp>
        <p:nvSpPr>
          <p:cNvPr id="23" name="Shape 21"/>
          <p:cNvSpPr/>
          <p:nvPr/>
        </p:nvSpPr>
        <p:spPr>
          <a:xfrm>
            <a:off x="1028700" y="5244879"/>
            <a:ext cx="7981992" cy="4318304"/>
          </a:xfrm>
          <a:prstGeom prst="roundRect">
            <a:avLst>
              <a:gd name="adj" fmla="val 2206"/>
            </a:avLst>
          </a:prstGeom>
          <a:solidFill>
            <a:srgbClr val="201D18"/>
          </a:solidFill>
          <a:ln/>
        </p:spPr>
        <p:txBody>
          <a:bodyPr/>
          <a:lstStyle/>
          <a:p>
            <a:endParaRPr lang="en-CA"/>
          </a:p>
        </p:txBody>
      </p:sp>
      <p:sp>
        <p:nvSpPr>
          <p:cNvPr id="24" name="Text 22"/>
          <p:cNvSpPr/>
          <p:nvPr/>
        </p:nvSpPr>
        <p:spPr>
          <a:xfrm>
            <a:off x="1390609" y="5568647"/>
            <a:ext cx="7983992" cy="507227"/>
          </a:xfrm>
          <a:prstGeom prst="rect">
            <a:avLst/>
          </a:prstGeom>
          <a:noFill/>
          <a:ln/>
        </p:spPr>
        <p:txBody>
          <a:bodyPr wrap="square" lIns="25400" tIns="25400" rIns="25400" bIns="25400" rtlCol="0" anchor="t">
            <a:normAutofit/>
          </a:bodyPr>
          <a:lstStyle/>
          <a:p>
            <a:pPr marL="0" indent="0" algn="l">
              <a:buNone/>
            </a:pPr>
            <a:r>
              <a:rPr lang="en-US" sz="2400" b="1" dirty="0">
                <a:solidFill>
                  <a:srgbClr val="FFFFFF"/>
                </a:solidFill>
                <a:latin typeface="Georgia" pitchFamily="34" charset="0"/>
                <a:ea typeface="Georgia" pitchFamily="34" charset="-122"/>
                <a:cs typeface="Georgia" pitchFamily="34" charset="-120"/>
              </a:rPr>
              <a:t>Weight decay closes the gap</a:t>
            </a:r>
            <a:endParaRPr lang="en-US" sz="2400" dirty="0"/>
          </a:p>
        </p:txBody>
      </p:sp>
      <p:sp>
        <p:nvSpPr>
          <p:cNvPr id="25" name="Text 23"/>
          <p:cNvSpPr/>
          <p:nvPr/>
        </p:nvSpPr>
        <p:spPr>
          <a:xfrm>
            <a:off x="1390609" y="6171082"/>
            <a:ext cx="7475920" cy="1158116"/>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F4F1EA">
                    <a:alpha val="80000"/>
                  </a:srgbClr>
                </a:solidFill>
                <a:latin typeface="Arial" pitchFamily="34" charset="0"/>
                <a:ea typeface="Arial" pitchFamily="34" charset="-122"/>
                <a:cs typeface="Arial" pitchFamily="34" charset="-120"/>
              </a:rPr>
              <a:t>AdamW's decoupled weight decay penalizes large weights cleanly — so it generalizes best, even though its train accuracy is the lowest.</a:t>
            </a:r>
            <a:endParaRPr lang="en-US" sz="2100" dirty="0"/>
          </a:p>
        </p:txBody>
      </p:sp>
      <p:sp>
        <p:nvSpPr>
          <p:cNvPr id="26" name="Shape 24"/>
          <p:cNvSpPr/>
          <p:nvPr/>
        </p:nvSpPr>
        <p:spPr>
          <a:xfrm>
            <a:off x="9277309" y="5244879"/>
            <a:ext cx="7981992" cy="4318304"/>
          </a:xfrm>
          <a:prstGeom prst="roundRect">
            <a:avLst>
              <a:gd name="adj" fmla="val 2206"/>
            </a:avLst>
          </a:prstGeom>
          <a:solidFill>
            <a:srgbClr val="FFFFFF"/>
          </a:solidFill>
          <a:ln/>
        </p:spPr>
        <p:txBody>
          <a:bodyPr/>
          <a:lstStyle/>
          <a:p>
            <a:endParaRPr lang="en-CA"/>
          </a:p>
        </p:txBody>
      </p:sp>
      <p:sp>
        <p:nvSpPr>
          <p:cNvPr id="27" name="Text 25"/>
          <p:cNvSpPr/>
          <p:nvPr/>
        </p:nvSpPr>
        <p:spPr>
          <a:xfrm>
            <a:off x="9639218" y="5568647"/>
            <a:ext cx="7983992" cy="507227"/>
          </a:xfrm>
          <a:prstGeom prst="rect">
            <a:avLst/>
          </a:prstGeom>
          <a:noFill/>
          <a:ln/>
        </p:spPr>
        <p:txBody>
          <a:bodyPr wrap="square" lIns="25400" tIns="25400" rIns="25400" bIns="25400" rtlCol="0" anchor="t">
            <a:normAutofit/>
          </a:bodyPr>
          <a:lstStyle/>
          <a:p>
            <a:pPr marL="0" indent="0" algn="l">
              <a:buNone/>
            </a:pPr>
            <a:r>
              <a:rPr lang="en-US" sz="2400" b="1" dirty="0">
                <a:solidFill>
                  <a:srgbClr val="201D18"/>
                </a:solidFill>
                <a:latin typeface="Georgia" pitchFamily="34" charset="0"/>
                <a:ea typeface="Georgia" pitchFamily="34" charset="-122"/>
                <a:cs typeface="Georgia" pitchFamily="34" charset="-120"/>
              </a:rPr>
              <a:t>Learning rate was the biggest lever</a:t>
            </a:r>
            <a:endParaRPr lang="en-US" sz="2400" dirty="0"/>
          </a:p>
        </p:txBody>
      </p:sp>
      <p:sp>
        <p:nvSpPr>
          <p:cNvPr id="28" name="Text 26"/>
          <p:cNvSpPr/>
          <p:nvPr/>
        </p:nvSpPr>
        <p:spPr>
          <a:xfrm>
            <a:off x="9639218" y="6171082"/>
            <a:ext cx="7475920" cy="1158116"/>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5C564C"/>
                </a:solidFill>
                <a:latin typeface="Arial" pitchFamily="34" charset="0"/>
                <a:ea typeface="Arial" pitchFamily="34" charset="-122"/>
                <a:cs typeface="Arial" pitchFamily="34" charset="-120"/>
              </a:rPr>
              <a:t>All three peaked at </a:t>
            </a:r>
            <a:r>
              <a:rPr lang="en-US" sz="2100" dirty="0">
                <a:solidFill>
                  <a:srgbClr val="201D18"/>
                </a:solidFill>
                <a:latin typeface="Courier New" pitchFamily="34" charset="0"/>
                <a:ea typeface="Courier New" pitchFamily="34" charset="-122"/>
                <a:cs typeface="Courier New" pitchFamily="34" charset="-120"/>
              </a:rPr>
              <a:t>lr = 0.001 </a:t>
            </a:r>
            <a:r>
              <a:rPr lang="en-US" sz="2100" dirty="0">
                <a:solidFill>
                  <a:srgbClr val="5C564C"/>
                </a:solidFill>
                <a:latin typeface="Arial" pitchFamily="34" charset="0"/>
                <a:ea typeface="Arial" pitchFamily="34" charset="-122"/>
                <a:cs typeface="Arial" pitchFamily="34" charset="-120"/>
              </a:rPr>
              <a:t>; a rate of 0.1 was unstable or failed outright — more impactful than any optimizer default.</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17853661"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RECOMMENDATION</a:t>
            </a:r>
            <a:endParaRPr lang="en-US" sz="1800" dirty="0"/>
          </a:p>
        </p:txBody>
      </p:sp>
      <p:sp>
        <p:nvSpPr>
          <p:cNvPr id="3" name="Text 1"/>
          <p:cNvSpPr/>
          <p:nvPr/>
        </p:nvSpPr>
        <p:spPr>
          <a:xfrm>
            <a:off x="1028700" y="1341907"/>
            <a:ext cx="1785366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Choosing an optimizer</a:t>
            </a:r>
            <a:endParaRPr lang="en-US" sz="5550" dirty="0"/>
          </a:p>
        </p:txBody>
      </p:sp>
      <p:sp>
        <p:nvSpPr>
          <p:cNvPr id="4" name="Shape 2"/>
          <p:cNvSpPr/>
          <p:nvPr/>
        </p:nvSpPr>
        <p:spPr>
          <a:xfrm>
            <a:off x="1028700" y="2446765"/>
            <a:ext cx="5194314" cy="7116418"/>
          </a:xfrm>
          <a:prstGeom prst="roundRect">
            <a:avLst>
              <a:gd name="adj" fmla="val 1834"/>
            </a:avLst>
          </a:prstGeom>
          <a:solidFill>
            <a:srgbClr val="FFFFFF"/>
          </a:solidFill>
          <a:ln/>
        </p:spPr>
        <p:txBody>
          <a:bodyPr/>
          <a:lstStyle/>
          <a:p>
            <a:endParaRPr lang="en-CA"/>
          </a:p>
        </p:txBody>
      </p:sp>
      <p:sp>
        <p:nvSpPr>
          <p:cNvPr id="5" name="Shape 3"/>
          <p:cNvSpPr/>
          <p:nvPr/>
        </p:nvSpPr>
        <p:spPr>
          <a:xfrm>
            <a:off x="1028700" y="2446765"/>
            <a:ext cx="5194314" cy="55659"/>
          </a:xfrm>
          <a:prstGeom prst="rect">
            <a:avLst/>
          </a:prstGeom>
          <a:solidFill>
            <a:srgbClr val="2F5FA8"/>
          </a:solidFill>
          <a:ln/>
        </p:spPr>
        <p:txBody>
          <a:bodyPr/>
          <a:lstStyle/>
          <a:p>
            <a:endParaRPr lang="en-CA"/>
          </a:p>
        </p:txBody>
      </p:sp>
      <p:sp>
        <p:nvSpPr>
          <p:cNvPr id="6" name="Text 4"/>
          <p:cNvSpPr/>
          <p:nvPr/>
        </p:nvSpPr>
        <p:spPr>
          <a:xfrm>
            <a:off x="1371600" y="2883342"/>
            <a:ext cx="4959365" cy="642399"/>
          </a:xfrm>
          <a:prstGeom prst="rect">
            <a:avLst/>
          </a:prstGeom>
          <a:noFill/>
          <a:ln/>
        </p:spPr>
        <p:txBody>
          <a:bodyPr wrap="square" lIns="25400" tIns="25400" rIns="25400" bIns="25400" rtlCol="0" anchor="t">
            <a:normAutofit/>
          </a:bodyPr>
          <a:lstStyle/>
          <a:p>
            <a:pPr marL="0" indent="0" algn="l">
              <a:buNone/>
            </a:pPr>
            <a:r>
              <a:rPr lang="en-US" sz="3150" b="1" dirty="0">
                <a:solidFill>
                  <a:srgbClr val="2F5FA8"/>
                </a:solidFill>
                <a:latin typeface="Georgia" pitchFamily="34" charset="0"/>
                <a:ea typeface="Georgia" pitchFamily="34" charset="-122"/>
                <a:cs typeface="Georgia" pitchFamily="34" charset="-120"/>
              </a:rPr>
              <a:t>Adam</a:t>
            </a:r>
            <a:endParaRPr lang="en-US" sz="3150" dirty="0"/>
          </a:p>
        </p:txBody>
      </p:sp>
      <p:sp>
        <p:nvSpPr>
          <p:cNvPr id="7" name="Text 5"/>
          <p:cNvSpPr/>
          <p:nvPr/>
        </p:nvSpPr>
        <p:spPr>
          <a:xfrm>
            <a:off x="1371600" y="3544791"/>
            <a:ext cx="4959365" cy="332298"/>
          </a:xfrm>
          <a:prstGeom prst="rect">
            <a:avLst/>
          </a:prstGeom>
          <a:noFill/>
          <a:ln/>
        </p:spPr>
        <p:txBody>
          <a:bodyPr wrap="square" lIns="25400" tIns="25400" rIns="25400" bIns="25400" rtlCol="0" anchor="t">
            <a:normAutofit/>
          </a:bodyPr>
          <a:lstStyle/>
          <a:p>
            <a:pPr marL="0" indent="0" algn="l">
              <a:buNone/>
            </a:pPr>
            <a:r>
              <a:rPr lang="en-US" sz="1800" dirty="0">
                <a:solidFill>
                  <a:srgbClr val="9A9183"/>
                </a:solidFill>
                <a:latin typeface="Arial" pitchFamily="34" charset="0"/>
                <a:ea typeface="Arial" pitchFamily="34" charset="-122"/>
                <a:cs typeface="Arial" pitchFamily="34" charset="-120"/>
              </a:rPr>
              <a:t>Reliable default</a:t>
            </a:r>
            <a:endParaRPr lang="en-US" sz="1800" dirty="0"/>
          </a:p>
        </p:txBody>
      </p:sp>
      <p:sp>
        <p:nvSpPr>
          <p:cNvPr id="8" name="Text 6"/>
          <p:cNvSpPr/>
          <p:nvPr/>
        </p:nvSpPr>
        <p:spPr>
          <a:xfrm>
            <a:off x="1371600" y="4067590"/>
            <a:ext cx="4643769" cy="4507727"/>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5C564C"/>
                </a:solidFill>
                <a:latin typeface="Arial" pitchFamily="34" charset="0"/>
                <a:ea typeface="Arial" pitchFamily="34" charset="-122"/>
                <a:cs typeface="Arial" pitchFamily="34" charset="-120"/>
              </a:rPr>
              <a:t>Fast convergence and low tuning effort. The safe first choice when prototyping a new model.</a:t>
            </a:r>
            <a:endParaRPr lang="en-US" sz="2100" dirty="0"/>
          </a:p>
        </p:txBody>
      </p:sp>
      <p:sp>
        <p:nvSpPr>
          <p:cNvPr id="9" name="Shape 7"/>
          <p:cNvSpPr/>
          <p:nvPr/>
        </p:nvSpPr>
        <p:spPr>
          <a:xfrm>
            <a:off x="1371600" y="8708667"/>
            <a:ext cx="4508514" cy="9525"/>
          </a:xfrm>
          <a:prstGeom prst="rect">
            <a:avLst/>
          </a:prstGeom>
          <a:solidFill>
            <a:srgbClr val="201D18">
              <a:alpha val="16000"/>
            </a:srgbClr>
          </a:solidFill>
          <a:ln/>
        </p:spPr>
        <p:txBody>
          <a:bodyPr/>
          <a:lstStyle/>
          <a:p>
            <a:endParaRPr lang="en-CA"/>
          </a:p>
        </p:txBody>
      </p:sp>
      <p:sp>
        <p:nvSpPr>
          <p:cNvPr id="10" name="Text 8"/>
          <p:cNvSpPr/>
          <p:nvPr/>
        </p:nvSpPr>
        <p:spPr>
          <a:xfrm>
            <a:off x="1371600" y="8888068"/>
            <a:ext cx="4643769" cy="332298"/>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Arial" pitchFamily="34" charset="0"/>
                <a:ea typeface="Arial" pitchFamily="34" charset="-122"/>
                <a:cs typeface="Arial" pitchFamily="34" charset="-120"/>
              </a:rPr>
              <a:t>CNNs · Transformers · first attempts</a:t>
            </a:r>
            <a:endParaRPr lang="en-US" sz="1800" dirty="0"/>
          </a:p>
        </p:txBody>
      </p:sp>
      <p:sp>
        <p:nvSpPr>
          <p:cNvPr id="11" name="Shape 9"/>
          <p:cNvSpPr/>
          <p:nvPr/>
        </p:nvSpPr>
        <p:spPr>
          <a:xfrm>
            <a:off x="6546781" y="2446765"/>
            <a:ext cx="5194438" cy="7116418"/>
          </a:xfrm>
          <a:prstGeom prst="roundRect">
            <a:avLst>
              <a:gd name="adj" fmla="val 1834"/>
            </a:avLst>
          </a:prstGeom>
          <a:solidFill>
            <a:srgbClr val="FFFFFF"/>
          </a:solidFill>
          <a:ln/>
        </p:spPr>
        <p:txBody>
          <a:bodyPr/>
          <a:lstStyle/>
          <a:p>
            <a:endParaRPr lang="en-CA"/>
          </a:p>
        </p:txBody>
      </p:sp>
      <p:sp>
        <p:nvSpPr>
          <p:cNvPr id="12" name="Shape 10"/>
          <p:cNvSpPr/>
          <p:nvPr/>
        </p:nvSpPr>
        <p:spPr>
          <a:xfrm>
            <a:off x="6546781" y="2446765"/>
            <a:ext cx="5194438" cy="55659"/>
          </a:xfrm>
          <a:prstGeom prst="rect">
            <a:avLst/>
          </a:prstGeom>
          <a:solidFill>
            <a:srgbClr val="1F7A5C"/>
          </a:solidFill>
          <a:ln/>
        </p:spPr>
        <p:txBody>
          <a:bodyPr/>
          <a:lstStyle/>
          <a:p>
            <a:endParaRPr lang="en-CA"/>
          </a:p>
        </p:txBody>
      </p:sp>
      <p:sp>
        <p:nvSpPr>
          <p:cNvPr id="13" name="Text 11"/>
          <p:cNvSpPr/>
          <p:nvPr/>
        </p:nvSpPr>
        <p:spPr>
          <a:xfrm>
            <a:off x="6889681" y="2883342"/>
            <a:ext cx="4959502" cy="642399"/>
          </a:xfrm>
          <a:prstGeom prst="rect">
            <a:avLst/>
          </a:prstGeom>
          <a:noFill/>
          <a:ln/>
        </p:spPr>
        <p:txBody>
          <a:bodyPr wrap="square" lIns="25400" tIns="25400" rIns="25400" bIns="25400" rtlCol="0" anchor="t">
            <a:normAutofit/>
          </a:bodyPr>
          <a:lstStyle/>
          <a:p>
            <a:pPr marL="0" indent="0" algn="l">
              <a:buNone/>
            </a:pPr>
            <a:r>
              <a:rPr lang="en-US" sz="3150" b="1" dirty="0">
                <a:solidFill>
                  <a:srgbClr val="1F7A5C"/>
                </a:solidFill>
                <a:latin typeface="Georgia" pitchFamily="34" charset="0"/>
                <a:ea typeface="Georgia" pitchFamily="34" charset="-122"/>
                <a:cs typeface="Georgia" pitchFamily="34" charset="-120"/>
              </a:rPr>
              <a:t>RMSprop</a:t>
            </a:r>
            <a:endParaRPr lang="en-US" sz="3150" dirty="0"/>
          </a:p>
        </p:txBody>
      </p:sp>
      <p:sp>
        <p:nvSpPr>
          <p:cNvPr id="14" name="Text 12"/>
          <p:cNvSpPr/>
          <p:nvPr/>
        </p:nvSpPr>
        <p:spPr>
          <a:xfrm>
            <a:off x="6889681" y="3544791"/>
            <a:ext cx="4959502" cy="332298"/>
          </a:xfrm>
          <a:prstGeom prst="rect">
            <a:avLst/>
          </a:prstGeom>
          <a:noFill/>
          <a:ln/>
        </p:spPr>
        <p:txBody>
          <a:bodyPr wrap="square" lIns="25400" tIns="25400" rIns="25400" bIns="25400" rtlCol="0" anchor="t">
            <a:normAutofit/>
          </a:bodyPr>
          <a:lstStyle/>
          <a:p>
            <a:pPr marL="0" indent="0" algn="l">
              <a:buNone/>
            </a:pPr>
            <a:r>
              <a:rPr lang="en-US" sz="1800" dirty="0">
                <a:solidFill>
                  <a:srgbClr val="9A9183"/>
                </a:solidFill>
                <a:latin typeface="Arial" pitchFamily="34" charset="0"/>
                <a:ea typeface="Arial" pitchFamily="34" charset="-122"/>
                <a:cs typeface="Arial" pitchFamily="34" charset="-120"/>
              </a:rPr>
              <a:t>Speed &amp; non-stationary</a:t>
            </a:r>
            <a:endParaRPr lang="en-US" sz="1800" dirty="0"/>
          </a:p>
        </p:txBody>
      </p:sp>
      <p:sp>
        <p:nvSpPr>
          <p:cNvPr id="15" name="Text 13"/>
          <p:cNvSpPr/>
          <p:nvPr/>
        </p:nvSpPr>
        <p:spPr>
          <a:xfrm>
            <a:off x="6889681" y="4067590"/>
            <a:ext cx="4643898" cy="4507727"/>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5C564C"/>
                </a:solidFill>
                <a:latin typeface="Arial" pitchFamily="34" charset="0"/>
                <a:ea typeface="Arial" pitchFamily="34" charset="-122"/>
                <a:cs typeface="Arial" pitchFamily="34" charset="-120"/>
              </a:rPr>
              <a:t>When training speed matters or the objective is noisy and shifting. Needs a little more lr tuning.</a:t>
            </a:r>
            <a:endParaRPr lang="en-US" sz="2100" dirty="0"/>
          </a:p>
        </p:txBody>
      </p:sp>
      <p:sp>
        <p:nvSpPr>
          <p:cNvPr id="16" name="Shape 14"/>
          <p:cNvSpPr/>
          <p:nvPr/>
        </p:nvSpPr>
        <p:spPr>
          <a:xfrm>
            <a:off x="6889681" y="8708667"/>
            <a:ext cx="4508638" cy="9525"/>
          </a:xfrm>
          <a:prstGeom prst="rect">
            <a:avLst/>
          </a:prstGeom>
          <a:solidFill>
            <a:srgbClr val="201D18">
              <a:alpha val="16000"/>
            </a:srgbClr>
          </a:solidFill>
          <a:ln/>
        </p:spPr>
        <p:txBody>
          <a:bodyPr/>
          <a:lstStyle/>
          <a:p>
            <a:endParaRPr lang="en-CA"/>
          </a:p>
        </p:txBody>
      </p:sp>
      <p:sp>
        <p:nvSpPr>
          <p:cNvPr id="17" name="Text 15"/>
          <p:cNvSpPr/>
          <p:nvPr/>
        </p:nvSpPr>
        <p:spPr>
          <a:xfrm>
            <a:off x="6889681" y="8888068"/>
            <a:ext cx="4643898" cy="332298"/>
          </a:xfrm>
          <a:prstGeom prst="rect">
            <a:avLst/>
          </a:prstGeom>
          <a:noFill/>
          <a:ln/>
        </p:spPr>
        <p:txBody>
          <a:bodyPr wrap="square" lIns="25400" tIns="25400" rIns="25400" bIns="25400" rtlCol="0" anchor="t">
            <a:normAutofit/>
          </a:bodyPr>
          <a:lstStyle/>
          <a:p>
            <a:pPr marL="0" indent="0" algn="l">
              <a:buNone/>
            </a:pPr>
            <a:r>
              <a:rPr lang="en-US" sz="1800" dirty="0">
                <a:solidFill>
                  <a:srgbClr val="5C564C"/>
                </a:solidFill>
                <a:latin typeface="Arial" pitchFamily="34" charset="0"/>
                <a:ea typeface="Arial" pitchFamily="34" charset="-122"/>
                <a:cs typeface="Arial" pitchFamily="34" charset="-120"/>
              </a:rPr>
              <a:t>RNNs · real-time · noisy signals</a:t>
            </a:r>
            <a:endParaRPr lang="en-US" sz="1800" dirty="0"/>
          </a:p>
        </p:txBody>
      </p:sp>
      <p:sp>
        <p:nvSpPr>
          <p:cNvPr id="18" name="Shape 16"/>
          <p:cNvSpPr/>
          <p:nvPr/>
        </p:nvSpPr>
        <p:spPr>
          <a:xfrm>
            <a:off x="12064987" y="2446765"/>
            <a:ext cx="5194314" cy="7116418"/>
          </a:xfrm>
          <a:prstGeom prst="roundRect">
            <a:avLst>
              <a:gd name="adj" fmla="val 1834"/>
            </a:avLst>
          </a:prstGeom>
          <a:solidFill>
            <a:srgbClr val="BD3B25"/>
          </a:solidFill>
          <a:ln/>
        </p:spPr>
        <p:txBody>
          <a:bodyPr/>
          <a:lstStyle/>
          <a:p>
            <a:endParaRPr lang="en-CA"/>
          </a:p>
        </p:txBody>
      </p:sp>
      <p:sp>
        <p:nvSpPr>
          <p:cNvPr id="19" name="Text 17"/>
          <p:cNvSpPr/>
          <p:nvPr/>
        </p:nvSpPr>
        <p:spPr>
          <a:xfrm>
            <a:off x="12407887" y="2827683"/>
            <a:ext cx="4959365" cy="642399"/>
          </a:xfrm>
          <a:prstGeom prst="rect">
            <a:avLst/>
          </a:prstGeom>
          <a:noFill/>
          <a:ln/>
        </p:spPr>
        <p:txBody>
          <a:bodyPr wrap="square" lIns="25400" tIns="25400" rIns="25400" bIns="25400" rtlCol="0" anchor="t">
            <a:normAutofit/>
          </a:bodyPr>
          <a:lstStyle/>
          <a:p>
            <a:pPr marL="0" indent="0" algn="l">
              <a:buNone/>
            </a:pPr>
            <a:r>
              <a:rPr lang="en-US" sz="3150" b="1" dirty="0">
                <a:solidFill>
                  <a:srgbClr val="FFFFFF"/>
                </a:solidFill>
                <a:latin typeface="Georgia" pitchFamily="34" charset="0"/>
                <a:ea typeface="Georgia" pitchFamily="34" charset="-122"/>
                <a:cs typeface="Georgia" pitchFamily="34" charset="-120"/>
              </a:rPr>
              <a:t>AdamW</a:t>
            </a:r>
            <a:endParaRPr lang="en-US" sz="3150" dirty="0"/>
          </a:p>
        </p:txBody>
      </p:sp>
      <p:sp>
        <p:nvSpPr>
          <p:cNvPr id="20" name="Text 18"/>
          <p:cNvSpPr/>
          <p:nvPr/>
        </p:nvSpPr>
        <p:spPr>
          <a:xfrm>
            <a:off x="12407887" y="3489132"/>
            <a:ext cx="4959365" cy="332298"/>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80000"/>
                  </a:srgbClr>
                </a:solidFill>
                <a:latin typeface="Arial" pitchFamily="34" charset="0"/>
                <a:ea typeface="Arial" pitchFamily="34" charset="-122"/>
                <a:cs typeface="Arial" pitchFamily="34" charset="-120"/>
              </a:rPr>
              <a:t>When generalization matters · our pick</a:t>
            </a:r>
            <a:endParaRPr lang="en-US" sz="1800" dirty="0"/>
          </a:p>
        </p:txBody>
      </p:sp>
      <p:sp>
        <p:nvSpPr>
          <p:cNvPr id="21" name="Text 19"/>
          <p:cNvSpPr/>
          <p:nvPr/>
        </p:nvSpPr>
        <p:spPr>
          <a:xfrm>
            <a:off x="12407887" y="4011930"/>
            <a:ext cx="4643769" cy="4563386"/>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FFFFFF">
                    <a:alpha val="90000"/>
                  </a:srgbClr>
                </a:solidFill>
                <a:latin typeface="Arial" pitchFamily="34" charset="0"/>
                <a:ea typeface="Arial" pitchFamily="34" charset="-122"/>
                <a:cs typeface="Arial" pitchFamily="34" charset="-120"/>
              </a:rPr>
              <a:t>The modern default when overfitting is a concern. Best test accuracy and smallest gap on KMNIST.</a:t>
            </a:r>
            <a:endParaRPr lang="en-US" sz="2100" dirty="0"/>
          </a:p>
        </p:txBody>
      </p:sp>
      <p:sp>
        <p:nvSpPr>
          <p:cNvPr id="22" name="Shape 20"/>
          <p:cNvSpPr/>
          <p:nvPr/>
        </p:nvSpPr>
        <p:spPr>
          <a:xfrm>
            <a:off x="12407887" y="8708667"/>
            <a:ext cx="4508514" cy="9525"/>
          </a:xfrm>
          <a:prstGeom prst="rect">
            <a:avLst/>
          </a:prstGeom>
          <a:solidFill>
            <a:srgbClr val="FFFFFF">
              <a:alpha val="30000"/>
            </a:srgbClr>
          </a:solidFill>
          <a:ln/>
        </p:spPr>
        <p:txBody>
          <a:bodyPr/>
          <a:lstStyle/>
          <a:p>
            <a:endParaRPr lang="en-CA"/>
          </a:p>
        </p:txBody>
      </p:sp>
      <p:sp>
        <p:nvSpPr>
          <p:cNvPr id="23" name="Text 21"/>
          <p:cNvSpPr/>
          <p:nvPr/>
        </p:nvSpPr>
        <p:spPr>
          <a:xfrm>
            <a:off x="12407887" y="8888068"/>
            <a:ext cx="4643769" cy="332298"/>
          </a:xfrm>
          <a:prstGeom prst="rect">
            <a:avLst/>
          </a:prstGeom>
          <a:noFill/>
          <a:ln/>
        </p:spPr>
        <p:txBody>
          <a:bodyPr wrap="square" lIns="25400" tIns="25400" rIns="25400" bIns="25400" rtlCol="0" anchor="t">
            <a:normAutofit/>
          </a:bodyPr>
          <a:lstStyle/>
          <a:p>
            <a:pPr marL="0" indent="0" algn="l">
              <a:buNone/>
            </a:pPr>
            <a:r>
              <a:rPr lang="en-US" sz="1800" dirty="0">
                <a:solidFill>
                  <a:srgbClr val="FFFFFF">
                    <a:alpha val="90000"/>
                  </a:srgbClr>
                </a:solidFill>
                <a:latin typeface="Arial" pitchFamily="34" charset="0"/>
                <a:ea typeface="Arial" pitchFamily="34" charset="-122"/>
                <a:cs typeface="Arial" pitchFamily="34" charset="-120"/>
              </a:rPr>
              <a:t>Large models · fine-tuning · production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17853661"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LIMITATIONS &amp; FUTURE WORK</a:t>
            </a:r>
            <a:endParaRPr lang="en-US" sz="1800" dirty="0"/>
          </a:p>
        </p:txBody>
      </p:sp>
      <p:sp>
        <p:nvSpPr>
          <p:cNvPr id="3" name="Text 1"/>
          <p:cNvSpPr/>
          <p:nvPr/>
        </p:nvSpPr>
        <p:spPr>
          <a:xfrm>
            <a:off x="1028700" y="1341907"/>
            <a:ext cx="1785366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What we'd do with more time</a:t>
            </a:r>
            <a:endParaRPr lang="en-US" sz="5550" dirty="0"/>
          </a:p>
        </p:txBody>
      </p:sp>
      <p:sp>
        <p:nvSpPr>
          <p:cNvPr id="4" name="Shape 2"/>
          <p:cNvSpPr/>
          <p:nvPr/>
        </p:nvSpPr>
        <p:spPr>
          <a:xfrm>
            <a:off x="1028700" y="2465774"/>
            <a:ext cx="7924842" cy="7097409"/>
          </a:xfrm>
          <a:prstGeom prst="roundRect">
            <a:avLst>
              <a:gd name="adj" fmla="val 1342"/>
            </a:avLst>
          </a:prstGeom>
          <a:solidFill>
            <a:srgbClr val="FFFFFF"/>
          </a:solidFill>
          <a:ln/>
        </p:spPr>
        <p:txBody>
          <a:bodyPr/>
          <a:lstStyle/>
          <a:p>
            <a:endParaRPr lang="en-CA"/>
          </a:p>
        </p:txBody>
      </p:sp>
      <p:sp>
        <p:nvSpPr>
          <p:cNvPr id="5" name="Text 3"/>
          <p:cNvSpPr/>
          <p:nvPr/>
        </p:nvSpPr>
        <p:spPr>
          <a:xfrm>
            <a:off x="1466767" y="2884833"/>
            <a:ext cx="7753578" cy="531081"/>
          </a:xfrm>
          <a:prstGeom prst="rect">
            <a:avLst/>
          </a:prstGeom>
          <a:noFill/>
          <a:ln/>
        </p:spPr>
        <p:txBody>
          <a:bodyPr wrap="square" lIns="25400" tIns="25400" rIns="25400" bIns="25400" rtlCol="0" anchor="t">
            <a:normAutofit/>
          </a:bodyPr>
          <a:lstStyle/>
          <a:p>
            <a:pPr marL="0" indent="0" algn="l">
              <a:buNone/>
            </a:pPr>
            <a:r>
              <a:rPr lang="en-US" sz="2550" b="1" dirty="0">
                <a:solidFill>
                  <a:srgbClr val="201D18"/>
                </a:solidFill>
                <a:latin typeface="Georgia" pitchFamily="34" charset="0"/>
                <a:ea typeface="Georgia" pitchFamily="34" charset="-122"/>
                <a:cs typeface="Georgia" pitchFamily="34" charset="-120"/>
              </a:rPr>
              <a:t>Limitations</a:t>
            </a:r>
            <a:endParaRPr lang="en-US" sz="2550" dirty="0"/>
          </a:p>
        </p:txBody>
      </p:sp>
      <p:sp>
        <p:nvSpPr>
          <p:cNvPr id="6" name="Text 4"/>
          <p:cNvSpPr/>
          <p:nvPr/>
        </p:nvSpPr>
        <p:spPr>
          <a:xfrm>
            <a:off x="1466767" y="3644431"/>
            <a:ext cx="284301" cy="380006"/>
          </a:xfrm>
          <a:prstGeom prst="rect">
            <a:avLst/>
          </a:prstGeom>
          <a:noFill/>
          <a:ln/>
        </p:spPr>
        <p:txBody>
          <a:bodyPr wrap="square" lIns="25400" tIns="25400" rIns="25400" bIns="25400" rtlCol="0" anchor="t">
            <a:normAutofit/>
          </a:bodyPr>
          <a:lstStyle/>
          <a:p>
            <a:pPr marL="0" indent="0" algn="l">
              <a:buNone/>
            </a:pPr>
            <a:r>
              <a:rPr lang="en-US" sz="2100" dirty="0">
                <a:solidFill>
                  <a:srgbClr val="9A9183"/>
                </a:solidFill>
                <a:latin typeface="Arial" pitchFamily="34" charset="0"/>
                <a:ea typeface="Arial" pitchFamily="34" charset="-122"/>
                <a:cs typeface="Arial" pitchFamily="34" charset="-120"/>
              </a:rPr>
              <a:t>—</a:t>
            </a:r>
            <a:endParaRPr lang="en-US" sz="2100" dirty="0"/>
          </a:p>
        </p:txBody>
      </p:sp>
      <p:sp>
        <p:nvSpPr>
          <p:cNvPr id="7" name="Text 5"/>
          <p:cNvSpPr/>
          <p:nvPr/>
        </p:nvSpPr>
        <p:spPr>
          <a:xfrm>
            <a:off x="1846318" y="3644431"/>
            <a:ext cx="3423483" cy="380006"/>
          </a:xfrm>
          <a:prstGeom prst="rect">
            <a:avLst/>
          </a:prstGeom>
          <a:noFill/>
          <a:ln/>
        </p:spPr>
        <p:txBody>
          <a:bodyPr wrap="square" lIns="0" tIns="0" rIns="0" bIns="0" rtlCol="0" anchor="t">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Only one dataset (KMNIST).</a:t>
            </a:r>
            <a:endParaRPr lang="en-US" sz="2100" dirty="0"/>
          </a:p>
        </p:txBody>
      </p:sp>
      <p:sp>
        <p:nvSpPr>
          <p:cNvPr id="8" name="Text 6"/>
          <p:cNvSpPr/>
          <p:nvPr/>
        </p:nvSpPr>
        <p:spPr>
          <a:xfrm>
            <a:off x="1466767" y="4195804"/>
            <a:ext cx="284301" cy="721912"/>
          </a:xfrm>
          <a:prstGeom prst="rect">
            <a:avLst/>
          </a:prstGeom>
          <a:noFill/>
          <a:ln/>
        </p:spPr>
        <p:txBody>
          <a:bodyPr wrap="square" lIns="25400" tIns="25400" rIns="25400" bIns="25400" rtlCol="0" anchor="t">
            <a:normAutofit/>
          </a:bodyPr>
          <a:lstStyle/>
          <a:p>
            <a:pPr marL="0" indent="0" algn="l">
              <a:buNone/>
            </a:pPr>
            <a:r>
              <a:rPr lang="en-US" sz="2100" dirty="0">
                <a:solidFill>
                  <a:srgbClr val="9A9183"/>
                </a:solidFill>
                <a:latin typeface="Arial" pitchFamily="34" charset="0"/>
                <a:ea typeface="Arial" pitchFamily="34" charset="-122"/>
                <a:cs typeface="Arial" pitchFamily="34" charset="-120"/>
              </a:rPr>
              <a:t>—</a:t>
            </a:r>
            <a:endParaRPr lang="en-US" sz="2100" dirty="0"/>
          </a:p>
        </p:txBody>
      </p:sp>
      <p:sp>
        <p:nvSpPr>
          <p:cNvPr id="9" name="Text 7"/>
          <p:cNvSpPr/>
          <p:nvPr/>
        </p:nvSpPr>
        <p:spPr>
          <a:xfrm>
            <a:off x="1846318" y="4195804"/>
            <a:ext cx="6553283" cy="721912"/>
          </a:xfrm>
          <a:prstGeom prst="rect">
            <a:avLst/>
          </a:prstGeom>
          <a:noFill/>
          <a:ln/>
        </p:spPr>
        <p:txBody>
          <a:bodyPr wrap="square" lIns="0" tIns="0" rIns="0" bIns="0" rtlCol="0" anchor="t">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Simple feedforward net, no convolution — accuracy is capped.</a:t>
            </a:r>
            <a:endParaRPr lang="en-US" sz="2100" dirty="0"/>
          </a:p>
        </p:txBody>
      </p:sp>
      <p:sp>
        <p:nvSpPr>
          <p:cNvPr id="10" name="Text 8"/>
          <p:cNvSpPr/>
          <p:nvPr/>
        </p:nvSpPr>
        <p:spPr>
          <a:xfrm>
            <a:off x="1466767" y="5089084"/>
            <a:ext cx="284301" cy="380006"/>
          </a:xfrm>
          <a:prstGeom prst="rect">
            <a:avLst/>
          </a:prstGeom>
          <a:noFill/>
          <a:ln/>
        </p:spPr>
        <p:txBody>
          <a:bodyPr wrap="square" lIns="25400" tIns="25400" rIns="25400" bIns="25400" rtlCol="0" anchor="t">
            <a:normAutofit/>
          </a:bodyPr>
          <a:lstStyle/>
          <a:p>
            <a:pPr marL="0" indent="0" algn="l">
              <a:buNone/>
            </a:pPr>
            <a:r>
              <a:rPr lang="en-US" sz="2100" dirty="0">
                <a:solidFill>
                  <a:srgbClr val="9A9183"/>
                </a:solidFill>
                <a:latin typeface="Arial" pitchFamily="34" charset="0"/>
                <a:ea typeface="Arial" pitchFamily="34" charset="-122"/>
                <a:cs typeface="Arial" pitchFamily="34" charset="-120"/>
              </a:rPr>
              <a:t>—</a:t>
            </a:r>
            <a:endParaRPr lang="en-US" sz="2100" dirty="0"/>
          </a:p>
        </p:txBody>
      </p:sp>
      <p:sp>
        <p:nvSpPr>
          <p:cNvPr id="11" name="Text 9"/>
          <p:cNvSpPr/>
          <p:nvPr/>
        </p:nvSpPr>
        <p:spPr>
          <a:xfrm>
            <a:off x="1846318" y="5089084"/>
            <a:ext cx="5804168" cy="380006"/>
          </a:xfrm>
          <a:prstGeom prst="rect">
            <a:avLst/>
          </a:prstGeom>
          <a:noFill/>
          <a:ln/>
        </p:spPr>
        <p:txBody>
          <a:bodyPr wrap="square" lIns="0" tIns="0" rIns="0" bIns="0" rtlCol="0" anchor="t">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Small search: four configurations per optimizer.</a:t>
            </a:r>
            <a:endParaRPr lang="en-US" sz="2100" dirty="0"/>
          </a:p>
        </p:txBody>
      </p:sp>
      <p:sp>
        <p:nvSpPr>
          <p:cNvPr id="12" name="Text 10"/>
          <p:cNvSpPr/>
          <p:nvPr/>
        </p:nvSpPr>
        <p:spPr>
          <a:xfrm>
            <a:off x="1466767" y="5640457"/>
            <a:ext cx="284301" cy="380006"/>
          </a:xfrm>
          <a:prstGeom prst="rect">
            <a:avLst/>
          </a:prstGeom>
          <a:noFill/>
          <a:ln/>
        </p:spPr>
        <p:txBody>
          <a:bodyPr wrap="square" lIns="25400" tIns="25400" rIns="25400" bIns="25400" rtlCol="0" anchor="t">
            <a:normAutofit/>
          </a:bodyPr>
          <a:lstStyle/>
          <a:p>
            <a:pPr marL="0" indent="0" algn="l">
              <a:buNone/>
            </a:pPr>
            <a:r>
              <a:rPr lang="en-US" sz="2100" dirty="0">
                <a:solidFill>
                  <a:srgbClr val="9A9183"/>
                </a:solidFill>
                <a:latin typeface="Arial" pitchFamily="34" charset="0"/>
                <a:ea typeface="Arial" pitchFamily="34" charset="-122"/>
                <a:cs typeface="Arial" pitchFamily="34" charset="-120"/>
              </a:rPr>
              <a:t>—</a:t>
            </a:r>
            <a:endParaRPr lang="en-US" sz="2100" dirty="0"/>
          </a:p>
        </p:txBody>
      </p:sp>
      <p:sp>
        <p:nvSpPr>
          <p:cNvPr id="13" name="Text 11"/>
          <p:cNvSpPr/>
          <p:nvPr/>
        </p:nvSpPr>
        <p:spPr>
          <a:xfrm>
            <a:off x="1846318" y="5640457"/>
            <a:ext cx="5893232" cy="380006"/>
          </a:xfrm>
          <a:prstGeom prst="rect">
            <a:avLst/>
          </a:prstGeom>
          <a:noFill/>
          <a:ln/>
        </p:spPr>
        <p:txBody>
          <a:bodyPr wrap="square" lIns="0" tIns="0" rIns="0" bIns="0" rtlCol="0" anchor="t">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Single random seed; no learning-rate scheduler.</a:t>
            </a:r>
            <a:endParaRPr lang="en-US" sz="2100" dirty="0"/>
          </a:p>
        </p:txBody>
      </p:sp>
      <p:sp>
        <p:nvSpPr>
          <p:cNvPr id="14" name="Shape 12"/>
          <p:cNvSpPr/>
          <p:nvPr/>
        </p:nvSpPr>
        <p:spPr>
          <a:xfrm>
            <a:off x="9334459" y="2465774"/>
            <a:ext cx="7924842" cy="7097409"/>
          </a:xfrm>
          <a:prstGeom prst="roundRect">
            <a:avLst>
              <a:gd name="adj" fmla="val 1342"/>
            </a:avLst>
          </a:prstGeom>
          <a:solidFill>
            <a:srgbClr val="201D18"/>
          </a:solidFill>
          <a:ln/>
        </p:spPr>
        <p:txBody>
          <a:bodyPr/>
          <a:lstStyle/>
          <a:p>
            <a:endParaRPr lang="en-CA"/>
          </a:p>
        </p:txBody>
      </p:sp>
      <p:sp>
        <p:nvSpPr>
          <p:cNvPr id="15" name="Text 13"/>
          <p:cNvSpPr/>
          <p:nvPr/>
        </p:nvSpPr>
        <p:spPr>
          <a:xfrm>
            <a:off x="9772527" y="2884833"/>
            <a:ext cx="7753578" cy="531081"/>
          </a:xfrm>
          <a:prstGeom prst="rect">
            <a:avLst/>
          </a:prstGeom>
          <a:noFill/>
          <a:ln/>
        </p:spPr>
        <p:txBody>
          <a:bodyPr wrap="square" lIns="25400" tIns="25400" rIns="25400" bIns="25400" rtlCol="0" anchor="t">
            <a:normAutofit/>
          </a:bodyPr>
          <a:lstStyle/>
          <a:p>
            <a:pPr marL="0" indent="0" algn="l">
              <a:buNone/>
            </a:pPr>
            <a:r>
              <a:rPr lang="en-US" sz="2550" b="1" dirty="0">
                <a:solidFill>
                  <a:srgbClr val="FFFFFF"/>
                </a:solidFill>
                <a:latin typeface="Georgia" pitchFamily="34" charset="0"/>
                <a:ea typeface="Georgia" pitchFamily="34" charset="-122"/>
                <a:cs typeface="Georgia" pitchFamily="34" charset="-120"/>
              </a:rPr>
              <a:t>Future work</a:t>
            </a:r>
            <a:endParaRPr lang="en-US" sz="2550" dirty="0"/>
          </a:p>
        </p:txBody>
      </p:sp>
      <p:sp>
        <p:nvSpPr>
          <p:cNvPr id="16" name="Text 14"/>
          <p:cNvSpPr/>
          <p:nvPr/>
        </p:nvSpPr>
        <p:spPr>
          <a:xfrm>
            <a:off x="9772527" y="3644431"/>
            <a:ext cx="299085" cy="387957"/>
          </a:xfrm>
          <a:prstGeom prst="rect">
            <a:avLst/>
          </a:prstGeom>
          <a:noFill/>
          <a:ln/>
        </p:spPr>
        <p:txBody>
          <a:bodyPr wrap="square" lIns="25400" tIns="25400" rIns="25400" bIns="25400" rtlCol="0" anchor="t">
            <a:normAutofit/>
          </a:bodyPr>
          <a:lstStyle/>
          <a:p>
            <a:pPr marL="0" indent="0" algn="l">
              <a:buNone/>
            </a:pPr>
            <a:r>
              <a:rPr lang="en-US" sz="2100" dirty="0">
                <a:solidFill>
                  <a:srgbClr val="BD3B25"/>
                </a:solidFill>
                <a:latin typeface="Arial" pitchFamily="34" charset="0"/>
                <a:ea typeface="Arial" pitchFamily="34" charset="-122"/>
                <a:cs typeface="Arial" pitchFamily="34" charset="-120"/>
              </a:rPr>
              <a:t>▸</a:t>
            </a:r>
            <a:endParaRPr lang="en-US" sz="2100" dirty="0"/>
          </a:p>
        </p:txBody>
      </p:sp>
      <p:sp>
        <p:nvSpPr>
          <p:cNvPr id="17" name="Text 15"/>
          <p:cNvSpPr/>
          <p:nvPr/>
        </p:nvSpPr>
        <p:spPr>
          <a:xfrm>
            <a:off x="10166861" y="3644431"/>
            <a:ext cx="3515492" cy="380006"/>
          </a:xfrm>
          <a:prstGeom prst="rect">
            <a:avLst/>
          </a:prstGeom>
          <a:noFill/>
          <a:ln/>
        </p:spPr>
        <p:txBody>
          <a:bodyPr wrap="square" lIns="0" tIns="0" rIns="0" bIns="0" rtlCol="0" anchor="t">
            <a:normAutofit/>
          </a:bodyPr>
          <a:lstStyle/>
          <a:p>
            <a:pPr marL="0" indent="0" algn="l">
              <a:buNone/>
            </a:pPr>
            <a:r>
              <a:rPr lang="en-US" sz="2100" dirty="0">
                <a:solidFill>
                  <a:srgbClr val="F4F1EA">
                    <a:alpha val="85000"/>
                  </a:srgbClr>
                </a:solidFill>
                <a:latin typeface="Arial" pitchFamily="34" charset="0"/>
                <a:ea typeface="Arial" pitchFamily="34" charset="-122"/>
                <a:cs typeface="Arial" pitchFamily="34" charset="-120"/>
              </a:rPr>
              <a:t>Evaluate on CIFAR-10 / 100.</a:t>
            </a:r>
            <a:endParaRPr lang="en-US" sz="2100" dirty="0"/>
          </a:p>
        </p:txBody>
      </p:sp>
      <p:sp>
        <p:nvSpPr>
          <p:cNvPr id="18" name="Text 16"/>
          <p:cNvSpPr/>
          <p:nvPr/>
        </p:nvSpPr>
        <p:spPr>
          <a:xfrm>
            <a:off x="9772527" y="4203756"/>
            <a:ext cx="299085" cy="387957"/>
          </a:xfrm>
          <a:prstGeom prst="rect">
            <a:avLst/>
          </a:prstGeom>
          <a:noFill/>
          <a:ln/>
        </p:spPr>
        <p:txBody>
          <a:bodyPr wrap="square" lIns="25400" tIns="25400" rIns="25400" bIns="25400" rtlCol="0" anchor="t">
            <a:normAutofit/>
          </a:bodyPr>
          <a:lstStyle/>
          <a:p>
            <a:pPr marL="0" indent="0" algn="l">
              <a:buNone/>
            </a:pPr>
            <a:r>
              <a:rPr lang="en-US" sz="2100" dirty="0">
                <a:solidFill>
                  <a:srgbClr val="BD3B25"/>
                </a:solidFill>
                <a:latin typeface="Arial" pitchFamily="34" charset="0"/>
                <a:ea typeface="Arial" pitchFamily="34" charset="-122"/>
                <a:cs typeface="Arial" pitchFamily="34" charset="-120"/>
              </a:rPr>
              <a:t>▸</a:t>
            </a:r>
            <a:endParaRPr lang="en-US" sz="2100" dirty="0"/>
          </a:p>
        </p:txBody>
      </p:sp>
      <p:sp>
        <p:nvSpPr>
          <p:cNvPr id="19" name="Text 17"/>
          <p:cNvSpPr/>
          <p:nvPr/>
        </p:nvSpPr>
        <p:spPr>
          <a:xfrm>
            <a:off x="10166861" y="4203756"/>
            <a:ext cx="4923504" cy="380006"/>
          </a:xfrm>
          <a:prstGeom prst="rect">
            <a:avLst/>
          </a:prstGeom>
          <a:noFill/>
          <a:ln/>
        </p:spPr>
        <p:txBody>
          <a:bodyPr wrap="square" lIns="0" tIns="0" rIns="0" bIns="0" rtlCol="0" anchor="t">
            <a:normAutofit/>
          </a:bodyPr>
          <a:lstStyle/>
          <a:p>
            <a:pPr marL="0" indent="0" algn="l">
              <a:buNone/>
            </a:pPr>
            <a:r>
              <a:rPr lang="en-US" sz="2100" dirty="0">
                <a:solidFill>
                  <a:srgbClr val="F4F1EA">
                    <a:alpha val="85000"/>
                  </a:srgbClr>
                </a:solidFill>
                <a:latin typeface="Arial" pitchFamily="34" charset="0"/>
                <a:ea typeface="Arial" pitchFamily="34" charset="-122"/>
                <a:cs typeface="Arial" pitchFamily="34" charset="-120"/>
              </a:rPr>
              <a:t>Convolutional and deeper architectures.</a:t>
            </a:r>
            <a:endParaRPr lang="en-US" sz="2100" dirty="0"/>
          </a:p>
        </p:txBody>
      </p:sp>
      <p:sp>
        <p:nvSpPr>
          <p:cNvPr id="20" name="Text 18"/>
          <p:cNvSpPr/>
          <p:nvPr/>
        </p:nvSpPr>
        <p:spPr>
          <a:xfrm>
            <a:off x="9772527" y="4763080"/>
            <a:ext cx="299085" cy="387957"/>
          </a:xfrm>
          <a:prstGeom prst="rect">
            <a:avLst/>
          </a:prstGeom>
          <a:noFill/>
          <a:ln/>
        </p:spPr>
        <p:txBody>
          <a:bodyPr wrap="square" lIns="25400" tIns="25400" rIns="25400" bIns="25400" rtlCol="0" anchor="t">
            <a:normAutofit/>
          </a:bodyPr>
          <a:lstStyle/>
          <a:p>
            <a:pPr marL="0" indent="0" algn="l">
              <a:buNone/>
            </a:pPr>
            <a:r>
              <a:rPr lang="en-US" sz="2100" dirty="0">
                <a:solidFill>
                  <a:srgbClr val="BD3B25"/>
                </a:solidFill>
                <a:latin typeface="Arial" pitchFamily="34" charset="0"/>
                <a:ea typeface="Arial" pitchFamily="34" charset="-122"/>
                <a:cs typeface="Arial" pitchFamily="34" charset="-120"/>
              </a:rPr>
              <a:t>▸</a:t>
            </a:r>
            <a:endParaRPr lang="en-US" sz="2100" dirty="0"/>
          </a:p>
        </p:txBody>
      </p:sp>
      <p:sp>
        <p:nvSpPr>
          <p:cNvPr id="21" name="Text 19"/>
          <p:cNvSpPr/>
          <p:nvPr/>
        </p:nvSpPr>
        <p:spPr>
          <a:xfrm>
            <a:off x="10166861" y="4763080"/>
            <a:ext cx="4900982" cy="380006"/>
          </a:xfrm>
          <a:prstGeom prst="rect">
            <a:avLst/>
          </a:prstGeom>
          <a:noFill/>
          <a:ln/>
        </p:spPr>
        <p:txBody>
          <a:bodyPr wrap="square" lIns="0" tIns="0" rIns="0" bIns="0" rtlCol="0" anchor="t">
            <a:normAutofit/>
          </a:bodyPr>
          <a:lstStyle/>
          <a:p>
            <a:pPr marL="0" indent="0" algn="l">
              <a:buNone/>
            </a:pPr>
            <a:r>
              <a:rPr lang="en-US" sz="2100" dirty="0">
                <a:solidFill>
                  <a:srgbClr val="F4F1EA">
                    <a:alpha val="85000"/>
                  </a:srgbClr>
                </a:solidFill>
                <a:latin typeface="Arial" pitchFamily="34" charset="0"/>
                <a:ea typeface="Arial" pitchFamily="34" charset="-122"/>
                <a:cs typeface="Arial" pitchFamily="34" charset="-120"/>
              </a:rPr>
              <a:t>Wider search + learning-rate schedules.</a:t>
            </a:r>
            <a:endParaRPr lang="en-US" sz="2100" dirty="0"/>
          </a:p>
        </p:txBody>
      </p:sp>
      <p:sp>
        <p:nvSpPr>
          <p:cNvPr id="22" name="Text 20"/>
          <p:cNvSpPr/>
          <p:nvPr/>
        </p:nvSpPr>
        <p:spPr>
          <a:xfrm>
            <a:off x="9772527" y="5322405"/>
            <a:ext cx="299085" cy="387957"/>
          </a:xfrm>
          <a:prstGeom prst="rect">
            <a:avLst/>
          </a:prstGeom>
          <a:noFill/>
          <a:ln/>
        </p:spPr>
        <p:txBody>
          <a:bodyPr wrap="square" lIns="25400" tIns="25400" rIns="25400" bIns="25400" rtlCol="0" anchor="t">
            <a:normAutofit/>
          </a:bodyPr>
          <a:lstStyle/>
          <a:p>
            <a:pPr marL="0" indent="0" algn="l">
              <a:buNone/>
            </a:pPr>
            <a:r>
              <a:rPr lang="en-US" sz="2100" dirty="0">
                <a:solidFill>
                  <a:srgbClr val="BD3B25"/>
                </a:solidFill>
                <a:latin typeface="Arial" pitchFamily="34" charset="0"/>
                <a:ea typeface="Arial" pitchFamily="34" charset="-122"/>
                <a:cs typeface="Arial" pitchFamily="34" charset="-120"/>
              </a:rPr>
              <a:t>▸</a:t>
            </a:r>
            <a:endParaRPr lang="en-US" sz="2100" dirty="0"/>
          </a:p>
        </p:txBody>
      </p:sp>
      <p:sp>
        <p:nvSpPr>
          <p:cNvPr id="23" name="Text 21"/>
          <p:cNvSpPr/>
          <p:nvPr/>
        </p:nvSpPr>
        <p:spPr>
          <a:xfrm>
            <a:off x="10166861" y="5322405"/>
            <a:ext cx="4359301" cy="380006"/>
          </a:xfrm>
          <a:prstGeom prst="rect">
            <a:avLst/>
          </a:prstGeom>
          <a:noFill/>
          <a:ln/>
        </p:spPr>
        <p:txBody>
          <a:bodyPr wrap="square" lIns="0" tIns="0" rIns="0" bIns="0" rtlCol="0" anchor="t">
            <a:normAutofit/>
          </a:bodyPr>
          <a:lstStyle/>
          <a:p>
            <a:pPr marL="0" indent="0" algn="l">
              <a:buNone/>
            </a:pPr>
            <a:r>
              <a:rPr lang="en-US" sz="2100" dirty="0">
                <a:solidFill>
                  <a:srgbClr val="F4F1EA">
                    <a:alpha val="85000"/>
                  </a:srgbClr>
                </a:solidFill>
                <a:latin typeface="Arial" pitchFamily="34" charset="0"/>
                <a:ea typeface="Arial" pitchFamily="34" charset="-122"/>
                <a:cs typeface="Arial" pitchFamily="34" charset="-120"/>
              </a:rPr>
              <a:t>Multiple seeds to quantify variance.</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17853661"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CONCLUSIONS</a:t>
            </a:r>
            <a:endParaRPr lang="en-US" sz="1800" dirty="0"/>
          </a:p>
        </p:txBody>
      </p:sp>
      <p:sp>
        <p:nvSpPr>
          <p:cNvPr id="3" name="Text 1"/>
          <p:cNvSpPr/>
          <p:nvPr/>
        </p:nvSpPr>
        <p:spPr>
          <a:xfrm>
            <a:off x="1028700" y="1341907"/>
            <a:ext cx="1785366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What we learned</a:t>
            </a:r>
            <a:endParaRPr lang="en-US" sz="5550" dirty="0"/>
          </a:p>
        </p:txBody>
      </p:sp>
      <p:sp>
        <p:nvSpPr>
          <p:cNvPr id="4" name="Shape 2"/>
          <p:cNvSpPr/>
          <p:nvPr/>
        </p:nvSpPr>
        <p:spPr>
          <a:xfrm>
            <a:off x="1028700" y="2465774"/>
            <a:ext cx="7990068" cy="7097409"/>
          </a:xfrm>
          <a:prstGeom prst="roundRect">
            <a:avLst>
              <a:gd name="adj" fmla="val 1610"/>
            </a:avLst>
          </a:prstGeom>
          <a:solidFill>
            <a:srgbClr val="BD3B25"/>
          </a:solidFill>
          <a:ln/>
        </p:spPr>
        <p:txBody>
          <a:bodyPr/>
          <a:lstStyle/>
          <a:p>
            <a:endParaRPr lang="en-CA"/>
          </a:p>
        </p:txBody>
      </p:sp>
      <p:sp>
        <p:nvSpPr>
          <p:cNvPr id="5" name="Text 3"/>
          <p:cNvSpPr/>
          <p:nvPr/>
        </p:nvSpPr>
        <p:spPr>
          <a:xfrm>
            <a:off x="1485900" y="4466273"/>
            <a:ext cx="7783234" cy="332298"/>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FFFFFF">
                    <a:alpha val="80000"/>
                  </a:srgbClr>
                </a:solidFill>
                <a:latin typeface="Courier New" pitchFamily="34" charset="0"/>
                <a:ea typeface="Courier New" pitchFamily="34" charset="-122"/>
                <a:cs typeface="Courier New" pitchFamily="34" charset="-120"/>
              </a:rPr>
              <a:t>WINNER ON KMNIST</a:t>
            </a:r>
            <a:endParaRPr lang="en-US" sz="1800" dirty="0"/>
          </a:p>
        </p:txBody>
      </p:sp>
      <p:sp>
        <p:nvSpPr>
          <p:cNvPr id="6" name="Text 4"/>
          <p:cNvSpPr/>
          <p:nvPr/>
        </p:nvSpPr>
        <p:spPr>
          <a:xfrm>
            <a:off x="1485900" y="4893780"/>
            <a:ext cx="7783234" cy="876341"/>
          </a:xfrm>
          <a:prstGeom prst="rect">
            <a:avLst/>
          </a:prstGeom>
          <a:noFill/>
          <a:ln/>
        </p:spPr>
        <p:txBody>
          <a:bodyPr wrap="square" lIns="25400" tIns="25400" rIns="25400" bIns="25400" rtlCol="0" anchor="t">
            <a:normAutofit/>
          </a:bodyPr>
          <a:lstStyle/>
          <a:p>
            <a:pPr marL="0" indent="0" algn="l">
              <a:lnSpc>
                <a:spcPct val="100000"/>
              </a:lnSpc>
              <a:buNone/>
            </a:pPr>
            <a:r>
              <a:rPr lang="en-US" sz="6600" b="1" dirty="0">
                <a:solidFill>
                  <a:srgbClr val="FFFFFF"/>
                </a:solidFill>
                <a:latin typeface="Georgia" pitchFamily="34" charset="0"/>
                <a:ea typeface="Georgia" pitchFamily="34" charset="-122"/>
                <a:cs typeface="Georgia" pitchFamily="34" charset="-120"/>
              </a:rPr>
              <a:t>AdamW</a:t>
            </a:r>
            <a:endParaRPr lang="en-US" sz="6600" dirty="0"/>
          </a:p>
        </p:txBody>
      </p:sp>
      <p:sp>
        <p:nvSpPr>
          <p:cNvPr id="7" name="Text 5"/>
          <p:cNvSpPr/>
          <p:nvPr/>
        </p:nvSpPr>
        <p:spPr>
          <a:xfrm>
            <a:off x="1485900" y="5808180"/>
            <a:ext cx="7783234" cy="817328"/>
          </a:xfrm>
          <a:prstGeom prst="rect">
            <a:avLst/>
          </a:prstGeom>
          <a:noFill/>
          <a:ln/>
        </p:spPr>
        <p:txBody>
          <a:bodyPr wrap="square" lIns="25400" tIns="25400" rIns="25400" bIns="25400" rtlCol="0" anchor="t">
            <a:normAutofit/>
          </a:bodyPr>
          <a:lstStyle/>
          <a:p>
            <a:pPr marL="0" indent="0" algn="l">
              <a:buNone/>
            </a:pPr>
            <a:r>
              <a:rPr lang="en-US" sz="4050" b="1" dirty="0">
                <a:solidFill>
                  <a:srgbClr val="FFFFFF"/>
                </a:solidFill>
                <a:latin typeface="Georgia" pitchFamily="34" charset="0"/>
                <a:ea typeface="Georgia" pitchFamily="34" charset="-122"/>
                <a:cs typeface="Georgia" pitchFamily="34" charset="-120"/>
              </a:rPr>
              <a:t>90.15% </a:t>
            </a:r>
            <a:r>
              <a:rPr lang="en-US" sz="2100" dirty="0">
                <a:solidFill>
                  <a:srgbClr val="FFFFFF">
                    <a:alpha val="85000"/>
                  </a:srgbClr>
                </a:solidFill>
                <a:latin typeface="Georgia" pitchFamily="34" charset="0"/>
                <a:ea typeface="Georgia" pitchFamily="34" charset="-122"/>
                <a:cs typeface="Georgia" pitchFamily="34" charset="-120"/>
              </a:rPr>
              <a:t>test acc</a:t>
            </a:r>
            <a:endParaRPr lang="en-US" sz="4050" dirty="0"/>
          </a:p>
        </p:txBody>
      </p:sp>
      <p:sp>
        <p:nvSpPr>
          <p:cNvPr id="8" name="Text 6"/>
          <p:cNvSpPr/>
          <p:nvPr/>
        </p:nvSpPr>
        <p:spPr>
          <a:xfrm>
            <a:off x="1485900" y="6816008"/>
            <a:ext cx="7287938" cy="784777"/>
          </a:xfrm>
          <a:prstGeom prst="rect">
            <a:avLst/>
          </a:prstGeom>
          <a:noFill/>
          <a:ln/>
        </p:spPr>
        <p:txBody>
          <a:bodyPr wrap="square" lIns="25400" tIns="25400" rIns="25400" bIns="25400" rtlCol="0" anchor="t">
            <a:normAutofit/>
          </a:bodyPr>
          <a:lstStyle/>
          <a:p>
            <a:pPr marL="0" indent="0" algn="l">
              <a:lnSpc>
                <a:spcPct val="140000"/>
              </a:lnSpc>
              <a:buNone/>
            </a:pPr>
            <a:r>
              <a:rPr lang="en-US" sz="2100" dirty="0">
                <a:solidFill>
                  <a:srgbClr val="FFFFFF">
                    <a:alpha val="90000"/>
                  </a:srgbClr>
                </a:solidFill>
                <a:latin typeface="Arial" pitchFamily="34" charset="0"/>
                <a:ea typeface="Arial" pitchFamily="34" charset="-122"/>
                <a:cs typeface="Arial" pitchFamily="34" charset="-120"/>
              </a:rPr>
              <a:t>Best accuracy and the smallest generalization gap, through decoupled weight decay.</a:t>
            </a:r>
            <a:endParaRPr lang="en-US" sz="2100" dirty="0"/>
          </a:p>
        </p:txBody>
      </p:sp>
      <p:sp>
        <p:nvSpPr>
          <p:cNvPr id="9" name="Text 7"/>
          <p:cNvSpPr/>
          <p:nvPr/>
        </p:nvSpPr>
        <p:spPr>
          <a:xfrm>
            <a:off x="9475968" y="4272211"/>
            <a:ext cx="311136" cy="706010"/>
          </a:xfrm>
          <a:prstGeom prst="rect">
            <a:avLst/>
          </a:prstGeom>
          <a:noFill/>
          <a:ln/>
        </p:spPr>
        <p:txBody>
          <a:bodyPr wrap="square" lIns="25400" tIns="25400" rIns="25400" bIns="25400" rtlCol="0" anchor="t">
            <a:normAutofit/>
          </a:bodyPr>
          <a:lstStyle/>
          <a:p>
            <a:pPr marL="0" indent="0" algn="l">
              <a:buNone/>
            </a:pPr>
            <a:r>
              <a:rPr lang="en-US" sz="3450" b="1" dirty="0">
                <a:solidFill>
                  <a:srgbClr val="BD3B25"/>
                </a:solidFill>
                <a:latin typeface="Georgia" pitchFamily="34" charset="0"/>
                <a:ea typeface="Georgia" pitchFamily="34" charset="-122"/>
                <a:cs typeface="Georgia" pitchFamily="34" charset="-120"/>
              </a:rPr>
              <a:t>1</a:t>
            </a:r>
            <a:endParaRPr lang="en-US" sz="3450" dirty="0"/>
          </a:p>
        </p:txBody>
      </p:sp>
      <p:sp>
        <p:nvSpPr>
          <p:cNvPr id="10" name="Text 8"/>
          <p:cNvSpPr/>
          <p:nvPr/>
        </p:nvSpPr>
        <p:spPr>
          <a:xfrm>
            <a:off x="9920371" y="4407383"/>
            <a:ext cx="7559098" cy="886653"/>
          </a:xfrm>
          <a:prstGeom prst="rect">
            <a:avLst/>
          </a:prstGeom>
          <a:noFill/>
          <a:ln/>
        </p:spPr>
        <p:txBody>
          <a:bodyPr wrap="square" lIns="25400" tIns="25400" rIns="25400" bIns="25400" rtlCol="0" anchor="t">
            <a:normAutofit/>
          </a:bodyPr>
          <a:lstStyle/>
          <a:p>
            <a:pPr marL="0" indent="0" algn="l">
              <a:lnSpc>
                <a:spcPct val="135000"/>
              </a:lnSpc>
              <a:buNone/>
            </a:pPr>
            <a:r>
              <a:rPr lang="en-US" sz="2475" dirty="0">
                <a:solidFill>
                  <a:srgbClr val="201D18"/>
                </a:solidFill>
                <a:latin typeface="Arial" pitchFamily="34" charset="0"/>
                <a:ea typeface="Arial" pitchFamily="34" charset="-122"/>
                <a:cs typeface="Arial" pitchFamily="34" charset="-120"/>
              </a:rPr>
              <a:t>All three optimizers trained the fixed network successfully on KMNIST.</a:t>
            </a:r>
            <a:endParaRPr lang="en-US" sz="2475" dirty="0"/>
          </a:p>
        </p:txBody>
      </p:sp>
      <p:sp>
        <p:nvSpPr>
          <p:cNvPr id="11" name="Text 9"/>
          <p:cNvSpPr/>
          <p:nvPr/>
        </p:nvSpPr>
        <p:spPr>
          <a:xfrm>
            <a:off x="9475968" y="5522554"/>
            <a:ext cx="311136" cy="706010"/>
          </a:xfrm>
          <a:prstGeom prst="rect">
            <a:avLst/>
          </a:prstGeom>
          <a:noFill/>
          <a:ln/>
        </p:spPr>
        <p:txBody>
          <a:bodyPr wrap="square" lIns="25400" tIns="25400" rIns="25400" bIns="25400" rtlCol="0" anchor="t">
            <a:normAutofit/>
          </a:bodyPr>
          <a:lstStyle/>
          <a:p>
            <a:pPr marL="0" indent="0" algn="l">
              <a:buNone/>
            </a:pPr>
            <a:r>
              <a:rPr lang="en-US" sz="3450" b="1" dirty="0">
                <a:solidFill>
                  <a:srgbClr val="BD3B25"/>
                </a:solidFill>
                <a:latin typeface="Georgia" pitchFamily="34" charset="0"/>
                <a:ea typeface="Georgia" pitchFamily="34" charset="-122"/>
                <a:cs typeface="Georgia" pitchFamily="34" charset="-120"/>
              </a:rPr>
              <a:t>2</a:t>
            </a:r>
            <a:endParaRPr lang="en-US" sz="3450" dirty="0"/>
          </a:p>
        </p:txBody>
      </p:sp>
      <p:sp>
        <p:nvSpPr>
          <p:cNvPr id="12" name="Text 10"/>
          <p:cNvSpPr/>
          <p:nvPr/>
        </p:nvSpPr>
        <p:spPr>
          <a:xfrm>
            <a:off x="9920371" y="5657726"/>
            <a:ext cx="7559098" cy="886653"/>
          </a:xfrm>
          <a:prstGeom prst="rect">
            <a:avLst/>
          </a:prstGeom>
          <a:noFill/>
          <a:ln/>
        </p:spPr>
        <p:txBody>
          <a:bodyPr wrap="square" lIns="25400" tIns="25400" rIns="25400" bIns="25400" rtlCol="0" anchor="t">
            <a:normAutofit/>
          </a:bodyPr>
          <a:lstStyle/>
          <a:p>
            <a:pPr marL="0" indent="0" algn="l">
              <a:lnSpc>
                <a:spcPct val="135000"/>
              </a:lnSpc>
              <a:buNone/>
            </a:pPr>
            <a:r>
              <a:rPr lang="en-US" sz="2475" dirty="0">
                <a:solidFill>
                  <a:srgbClr val="201D18"/>
                </a:solidFill>
                <a:latin typeface="Arial" pitchFamily="34" charset="0"/>
                <a:ea typeface="Arial" pitchFamily="34" charset="-122"/>
                <a:cs typeface="Arial" pitchFamily="34" charset="-120"/>
              </a:rPr>
              <a:t>RMSprop converged fastest; Adam was the most robust baseline.</a:t>
            </a:r>
            <a:endParaRPr lang="en-US" sz="2475" dirty="0"/>
          </a:p>
        </p:txBody>
      </p:sp>
      <p:sp>
        <p:nvSpPr>
          <p:cNvPr id="13" name="Text 11"/>
          <p:cNvSpPr/>
          <p:nvPr/>
        </p:nvSpPr>
        <p:spPr>
          <a:xfrm>
            <a:off x="9475968" y="6772896"/>
            <a:ext cx="311136" cy="706010"/>
          </a:xfrm>
          <a:prstGeom prst="rect">
            <a:avLst/>
          </a:prstGeom>
          <a:noFill/>
          <a:ln/>
        </p:spPr>
        <p:txBody>
          <a:bodyPr wrap="square" lIns="25400" tIns="25400" rIns="25400" bIns="25400" rtlCol="0" anchor="t">
            <a:normAutofit/>
          </a:bodyPr>
          <a:lstStyle/>
          <a:p>
            <a:pPr marL="0" indent="0" algn="l">
              <a:buNone/>
            </a:pPr>
            <a:r>
              <a:rPr lang="en-US" sz="3450" b="1" dirty="0">
                <a:solidFill>
                  <a:srgbClr val="BD3B25"/>
                </a:solidFill>
                <a:latin typeface="Georgia" pitchFamily="34" charset="0"/>
                <a:ea typeface="Georgia" pitchFamily="34" charset="-122"/>
                <a:cs typeface="Georgia" pitchFamily="34" charset="-120"/>
              </a:rPr>
              <a:t>3</a:t>
            </a:r>
            <a:endParaRPr lang="en-US" sz="3450" dirty="0"/>
          </a:p>
        </p:txBody>
      </p:sp>
      <p:sp>
        <p:nvSpPr>
          <p:cNvPr id="14" name="Text 12"/>
          <p:cNvSpPr/>
          <p:nvPr/>
        </p:nvSpPr>
        <p:spPr>
          <a:xfrm>
            <a:off x="9920371" y="6908069"/>
            <a:ext cx="7559098" cy="886653"/>
          </a:xfrm>
          <a:prstGeom prst="rect">
            <a:avLst/>
          </a:prstGeom>
          <a:noFill/>
          <a:ln/>
        </p:spPr>
        <p:txBody>
          <a:bodyPr wrap="square" lIns="25400" tIns="25400" rIns="25400" bIns="25400" rtlCol="0" anchor="t">
            <a:normAutofit/>
          </a:bodyPr>
          <a:lstStyle/>
          <a:p>
            <a:pPr marL="0" indent="0" algn="l">
              <a:lnSpc>
                <a:spcPct val="135000"/>
              </a:lnSpc>
              <a:buNone/>
            </a:pPr>
            <a:r>
              <a:rPr lang="en-US" sz="2475" dirty="0">
                <a:solidFill>
                  <a:srgbClr val="201D18"/>
                </a:solidFill>
                <a:latin typeface="Arial" pitchFamily="34" charset="0"/>
                <a:ea typeface="Arial" pitchFamily="34" charset="-122"/>
                <a:cs typeface="Arial" pitchFamily="34" charset="-120"/>
              </a:rPr>
              <a:t>Learning rate, chosen by cross-validation, mattered more than any default.</a:t>
            </a:r>
            <a:endParaRPr lang="en-US" sz="24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028700" y="800100"/>
            <a:ext cx="17853661"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TEAM &amp; REFERENCES</a:t>
            </a:r>
            <a:endParaRPr lang="en-US" sz="1800" dirty="0"/>
          </a:p>
        </p:txBody>
      </p:sp>
      <p:sp>
        <p:nvSpPr>
          <p:cNvPr id="3" name="Text 1"/>
          <p:cNvSpPr/>
          <p:nvPr/>
        </p:nvSpPr>
        <p:spPr>
          <a:xfrm>
            <a:off x="1028700" y="1341907"/>
            <a:ext cx="17853661" cy="742909"/>
          </a:xfrm>
          <a:prstGeom prst="rect">
            <a:avLst/>
          </a:prstGeom>
          <a:noFill/>
          <a:ln/>
        </p:spPr>
        <p:txBody>
          <a:bodyPr wrap="square" lIns="25400" tIns="25400" rIns="25400" bIns="25400" rtlCol="0" anchor="t">
            <a:normAutofit/>
          </a:bodyPr>
          <a:lstStyle/>
          <a:p>
            <a:pPr marL="0" indent="0" algn="l">
              <a:lnSpc>
                <a:spcPct val="100000"/>
              </a:lnSpc>
              <a:buNone/>
            </a:pPr>
            <a:r>
              <a:rPr lang="en-US" sz="5550" b="1" kern="0" spc="-55" dirty="0">
                <a:solidFill>
                  <a:srgbClr val="201D18"/>
                </a:solidFill>
                <a:latin typeface="Georgia" pitchFamily="34" charset="0"/>
                <a:ea typeface="Georgia" pitchFamily="34" charset="-122"/>
                <a:cs typeface="Georgia" pitchFamily="34" charset="-120"/>
              </a:rPr>
              <a:t>Who did what</a:t>
            </a:r>
            <a:endParaRPr lang="en-US" sz="5550" dirty="0"/>
          </a:p>
        </p:txBody>
      </p:sp>
      <p:sp>
        <p:nvSpPr>
          <p:cNvPr id="4" name="Shape 2"/>
          <p:cNvSpPr/>
          <p:nvPr/>
        </p:nvSpPr>
        <p:spPr>
          <a:xfrm>
            <a:off x="1028700" y="3352842"/>
            <a:ext cx="7630271" cy="9525"/>
          </a:xfrm>
          <a:prstGeom prst="rect">
            <a:avLst/>
          </a:prstGeom>
          <a:solidFill>
            <a:srgbClr val="201D18">
              <a:alpha val="16000"/>
            </a:srgbClr>
          </a:solidFill>
          <a:ln/>
        </p:spPr>
        <p:txBody>
          <a:bodyPr/>
          <a:lstStyle/>
          <a:p>
            <a:endParaRPr lang="en-CA"/>
          </a:p>
        </p:txBody>
      </p:sp>
      <p:sp>
        <p:nvSpPr>
          <p:cNvPr id="5" name="Text 3"/>
          <p:cNvSpPr/>
          <p:nvPr/>
        </p:nvSpPr>
        <p:spPr>
          <a:xfrm>
            <a:off x="1028700" y="2446765"/>
            <a:ext cx="1781130" cy="475422"/>
          </a:xfrm>
          <a:prstGeom prst="rect">
            <a:avLst/>
          </a:prstGeom>
          <a:noFill/>
          <a:ln/>
        </p:spPr>
        <p:txBody>
          <a:bodyPr wrap="square" lIns="25400" tIns="25400" rIns="25400" bIns="25400" rtlCol="0" anchor="t">
            <a:normAutofit/>
          </a:bodyPr>
          <a:lstStyle/>
          <a:p>
            <a:pPr marL="0" indent="0" algn="l">
              <a:buNone/>
            </a:pPr>
            <a:r>
              <a:rPr lang="en-US" sz="2250" b="1" dirty="0">
                <a:solidFill>
                  <a:srgbClr val="201D18"/>
                </a:solidFill>
                <a:latin typeface="Georgia" pitchFamily="34" charset="0"/>
                <a:ea typeface="Georgia" pitchFamily="34" charset="-122"/>
                <a:cs typeface="Georgia" pitchFamily="34" charset="-120"/>
              </a:rPr>
              <a:t>Ruchi</a:t>
            </a:r>
            <a:endParaRPr lang="en-US" sz="2250" dirty="0"/>
          </a:p>
        </p:txBody>
      </p:sp>
      <p:sp>
        <p:nvSpPr>
          <p:cNvPr id="6" name="Text 4"/>
          <p:cNvSpPr/>
          <p:nvPr/>
        </p:nvSpPr>
        <p:spPr>
          <a:xfrm>
            <a:off x="2838367" y="2478571"/>
            <a:ext cx="5995222" cy="721912"/>
          </a:xfrm>
          <a:prstGeom prst="rect">
            <a:avLst/>
          </a:prstGeom>
          <a:noFill/>
          <a:ln/>
        </p:spPr>
        <p:txBody>
          <a:bodyPr wrap="square" lIns="25400" tIns="25400" rIns="25400" bIns="25400" rtlCol="0" anchor="t">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Adam experiments — learning-rate and β₁ tuning.</a:t>
            </a:r>
            <a:endParaRPr lang="en-US" sz="2100" dirty="0"/>
          </a:p>
        </p:txBody>
      </p:sp>
      <p:sp>
        <p:nvSpPr>
          <p:cNvPr id="7" name="Shape 5"/>
          <p:cNvSpPr/>
          <p:nvPr/>
        </p:nvSpPr>
        <p:spPr>
          <a:xfrm>
            <a:off x="1028700" y="4476336"/>
            <a:ext cx="7630271" cy="9525"/>
          </a:xfrm>
          <a:prstGeom prst="rect">
            <a:avLst/>
          </a:prstGeom>
          <a:solidFill>
            <a:srgbClr val="201D18">
              <a:alpha val="16000"/>
            </a:srgbClr>
          </a:solidFill>
          <a:ln/>
        </p:spPr>
        <p:txBody>
          <a:bodyPr/>
          <a:lstStyle/>
          <a:p>
            <a:endParaRPr lang="en-CA"/>
          </a:p>
        </p:txBody>
      </p:sp>
      <p:sp>
        <p:nvSpPr>
          <p:cNvPr id="8" name="Text 6"/>
          <p:cNvSpPr/>
          <p:nvPr/>
        </p:nvSpPr>
        <p:spPr>
          <a:xfrm>
            <a:off x="1028700" y="3570260"/>
            <a:ext cx="1781130" cy="475422"/>
          </a:xfrm>
          <a:prstGeom prst="rect">
            <a:avLst/>
          </a:prstGeom>
          <a:noFill/>
          <a:ln/>
        </p:spPr>
        <p:txBody>
          <a:bodyPr wrap="square" lIns="25400" tIns="25400" rIns="25400" bIns="25400" rtlCol="0" anchor="t">
            <a:normAutofit/>
          </a:bodyPr>
          <a:lstStyle/>
          <a:p>
            <a:pPr marL="0" indent="0" algn="l">
              <a:buNone/>
            </a:pPr>
            <a:r>
              <a:rPr lang="en-US" sz="2250" b="1" dirty="0">
                <a:solidFill>
                  <a:srgbClr val="201D18"/>
                </a:solidFill>
                <a:latin typeface="Georgia" pitchFamily="34" charset="0"/>
                <a:ea typeface="Georgia" pitchFamily="34" charset="-122"/>
                <a:cs typeface="Georgia" pitchFamily="34" charset="-120"/>
              </a:rPr>
              <a:t>Dilkhush</a:t>
            </a:r>
            <a:endParaRPr lang="en-US" sz="2250" dirty="0"/>
          </a:p>
        </p:txBody>
      </p:sp>
      <p:sp>
        <p:nvSpPr>
          <p:cNvPr id="9" name="Text 7"/>
          <p:cNvSpPr/>
          <p:nvPr/>
        </p:nvSpPr>
        <p:spPr>
          <a:xfrm>
            <a:off x="2838367" y="3602065"/>
            <a:ext cx="5995222" cy="721912"/>
          </a:xfrm>
          <a:prstGeom prst="rect">
            <a:avLst/>
          </a:prstGeom>
          <a:noFill/>
          <a:ln/>
        </p:spPr>
        <p:txBody>
          <a:bodyPr wrap="square" lIns="25400" tIns="25400" rIns="25400" bIns="25400" rtlCol="0" anchor="t">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AdamW experiments — weight-decay and generalization analysis.</a:t>
            </a:r>
            <a:endParaRPr lang="en-US" sz="2100" dirty="0"/>
          </a:p>
        </p:txBody>
      </p:sp>
      <p:sp>
        <p:nvSpPr>
          <p:cNvPr id="10" name="Shape 8"/>
          <p:cNvSpPr/>
          <p:nvPr/>
        </p:nvSpPr>
        <p:spPr>
          <a:xfrm>
            <a:off x="1028700" y="5321535"/>
            <a:ext cx="7630271" cy="9525"/>
          </a:xfrm>
          <a:prstGeom prst="rect">
            <a:avLst/>
          </a:prstGeom>
          <a:solidFill>
            <a:srgbClr val="201D18">
              <a:alpha val="16000"/>
            </a:srgbClr>
          </a:solidFill>
          <a:ln/>
        </p:spPr>
        <p:txBody>
          <a:bodyPr/>
          <a:lstStyle/>
          <a:p>
            <a:endParaRPr lang="en-CA"/>
          </a:p>
        </p:txBody>
      </p:sp>
      <p:sp>
        <p:nvSpPr>
          <p:cNvPr id="11" name="Text 9"/>
          <p:cNvSpPr/>
          <p:nvPr/>
        </p:nvSpPr>
        <p:spPr>
          <a:xfrm>
            <a:off x="1028700" y="4693755"/>
            <a:ext cx="1781130" cy="475422"/>
          </a:xfrm>
          <a:prstGeom prst="rect">
            <a:avLst/>
          </a:prstGeom>
          <a:noFill/>
          <a:ln/>
        </p:spPr>
        <p:txBody>
          <a:bodyPr wrap="square" lIns="25400" tIns="25400" rIns="25400" bIns="25400" rtlCol="0" anchor="t">
            <a:normAutofit/>
          </a:bodyPr>
          <a:lstStyle/>
          <a:p>
            <a:pPr marL="0" indent="0" algn="l">
              <a:buNone/>
            </a:pPr>
            <a:r>
              <a:rPr lang="en-US" sz="2250" b="1" dirty="0">
                <a:solidFill>
                  <a:srgbClr val="201D18"/>
                </a:solidFill>
                <a:latin typeface="Georgia" pitchFamily="34" charset="0"/>
                <a:ea typeface="Georgia" pitchFamily="34" charset="-122"/>
                <a:cs typeface="Georgia" pitchFamily="34" charset="-120"/>
              </a:rPr>
              <a:t>Krutik</a:t>
            </a:r>
            <a:endParaRPr lang="en-US" sz="2250" dirty="0"/>
          </a:p>
        </p:txBody>
      </p:sp>
      <p:sp>
        <p:nvSpPr>
          <p:cNvPr id="12" name="Text 10"/>
          <p:cNvSpPr/>
          <p:nvPr/>
        </p:nvSpPr>
        <p:spPr>
          <a:xfrm>
            <a:off x="2838367" y="4725560"/>
            <a:ext cx="6213386" cy="380006"/>
          </a:xfrm>
          <a:prstGeom prst="rect">
            <a:avLst/>
          </a:prstGeom>
          <a:noFill/>
          <a:ln/>
        </p:spPr>
        <p:txBody>
          <a:bodyPr wrap="square" lIns="25400" tIns="25400" rIns="25400" bIns="25400" rtlCol="0" anchor="t">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RMSprop experiments — α and stability testing.</a:t>
            </a:r>
            <a:endParaRPr lang="en-US" sz="2100" dirty="0"/>
          </a:p>
        </p:txBody>
      </p:sp>
      <p:sp>
        <p:nvSpPr>
          <p:cNvPr id="13" name="Text 11"/>
          <p:cNvSpPr/>
          <p:nvPr/>
        </p:nvSpPr>
        <p:spPr>
          <a:xfrm>
            <a:off x="1028700" y="5538954"/>
            <a:ext cx="1781130" cy="475422"/>
          </a:xfrm>
          <a:prstGeom prst="rect">
            <a:avLst/>
          </a:prstGeom>
          <a:noFill/>
          <a:ln/>
        </p:spPr>
        <p:txBody>
          <a:bodyPr wrap="square" lIns="25400" tIns="25400" rIns="25400" bIns="25400" rtlCol="0" anchor="t">
            <a:normAutofit/>
          </a:bodyPr>
          <a:lstStyle/>
          <a:p>
            <a:pPr marL="0" indent="0" algn="l">
              <a:buNone/>
            </a:pPr>
            <a:r>
              <a:rPr lang="en-US" sz="2250" b="1" dirty="0">
                <a:latin typeface="Georgia" pitchFamily="34" charset="0"/>
                <a:ea typeface="Georgia" pitchFamily="34" charset="-122"/>
                <a:cs typeface="Georgia" pitchFamily="34" charset="-120"/>
              </a:rPr>
              <a:t>Isha</a:t>
            </a:r>
            <a:endParaRPr lang="en-US" sz="2250" dirty="0"/>
          </a:p>
        </p:txBody>
      </p:sp>
      <p:sp>
        <p:nvSpPr>
          <p:cNvPr id="14" name="Text 12"/>
          <p:cNvSpPr/>
          <p:nvPr/>
        </p:nvSpPr>
        <p:spPr>
          <a:xfrm>
            <a:off x="2838367" y="5570759"/>
            <a:ext cx="5995222" cy="721912"/>
          </a:xfrm>
          <a:prstGeom prst="rect">
            <a:avLst/>
          </a:prstGeom>
          <a:noFill/>
          <a:ln/>
        </p:spPr>
        <p:txBody>
          <a:bodyPr wrap="square" lIns="25400" tIns="25400" rIns="25400" bIns="25400" rtlCol="0" anchor="t">
            <a:normAutofit/>
          </a:bodyPr>
          <a:lstStyle/>
          <a:p>
            <a:pPr marL="0" indent="0" algn="l">
              <a:buNone/>
            </a:pPr>
            <a:r>
              <a:rPr lang="en-US" sz="2100" dirty="0">
                <a:solidFill>
                  <a:srgbClr val="5C564C"/>
                </a:solidFill>
                <a:latin typeface="Arial" pitchFamily="34" charset="0"/>
                <a:ea typeface="Arial" pitchFamily="34" charset="-122"/>
                <a:cs typeface="Arial" pitchFamily="34" charset="-120"/>
              </a:rPr>
              <a:t>Merged the code into a shared pipeline, documentation and comparison.</a:t>
            </a:r>
            <a:endParaRPr lang="en-US" sz="2100" dirty="0"/>
          </a:p>
        </p:txBody>
      </p:sp>
      <p:sp>
        <p:nvSpPr>
          <p:cNvPr id="15" name="Shape 13"/>
          <p:cNvSpPr/>
          <p:nvPr/>
        </p:nvSpPr>
        <p:spPr>
          <a:xfrm>
            <a:off x="9192330" y="2446765"/>
            <a:ext cx="8066972" cy="7116418"/>
          </a:xfrm>
          <a:prstGeom prst="roundRect">
            <a:avLst>
              <a:gd name="adj" fmla="val 1338"/>
            </a:avLst>
          </a:prstGeom>
          <a:solidFill>
            <a:srgbClr val="FFFFFF"/>
          </a:solidFill>
          <a:ln/>
        </p:spPr>
        <p:txBody>
          <a:bodyPr/>
          <a:lstStyle/>
          <a:p>
            <a:endParaRPr lang="en-CA"/>
          </a:p>
        </p:txBody>
      </p:sp>
      <p:sp>
        <p:nvSpPr>
          <p:cNvPr id="16" name="Text 14"/>
          <p:cNvSpPr/>
          <p:nvPr/>
        </p:nvSpPr>
        <p:spPr>
          <a:xfrm>
            <a:off x="9592380" y="2827683"/>
            <a:ext cx="7993559" cy="332298"/>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9A9183"/>
                </a:solidFill>
                <a:latin typeface="Courier New" pitchFamily="34" charset="0"/>
                <a:ea typeface="Courier New" pitchFamily="34" charset="-122"/>
                <a:cs typeface="Courier New" pitchFamily="34" charset="-120"/>
              </a:rPr>
              <a:t>REFERENCES · APA</a:t>
            </a:r>
            <a:endParaRPr lang="en-US" sz="1800" dirty="0"/>
          </a:p>
        </p:txBody>
      </p:sp>
      <p:sp>
        <p:nvSpPr>
          <p:cNvPr id="17" name="Text 15"/>
          <p:cNvSpPr/>
          <p:nvPr/>
        </p:nvSpPr>
        <p:spPr>
          <a:xfrm>
            <a:off x="9592380" y="3350481"/>
            <a:ext cx="7484878" cy="716943"/>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5C564C"/>
                </a:solidFill>
                <a:latin typeface="Arial" pitchFamily="34" charset="0"/>
                <a:ea typeface="Arial" pitchFamily="34" charset="-122"/>
                <a:cs typeface="Arial" pitchFamily="34" charset="-120"/>
              </a:rPr>
              <a:t>Kingma, D. P., &amp; Ba, J. (2015). </a:t>
            </a:r>
            <a:r>
              <a:rPr lang="en-US" sz="1800" i="1" dirty="0">
                <a:solidFill>
                  <a:srgbClr val="5C564C"/>
                </a:solidFill>
                <a:latin typeface="Arial" pitchFamily="34" charset="0"/>
                <a:ea typeface="Arial" pitchFamily="34" charset="-122"/>
                <a:cs typeface="Arial" pitchFamily="34" charset="-120"/>
              </a:rPr>
              <a:t>Adam: A method for stochastic optimization. </a:t>
            </a:r>
            <a:r>
              <a:rPr lang="en-US" sz="1800" dirty="0">
                <a:solidFill>
                  <a:srgbClr val="5C564C"/>
                </a:solidFill>
                <a:latin typeface="Arial" pitchFamily="34" charset="0"/>
                <a:ea typeface="Arial" pitchFamily="34" charset="-122"/>
                <a:cs typeface="Arial" pitchFamily="34" charset="-120"/>
              </a:rPr>
              <a:t>ICLR.</a:t>
            </a:r>
            <a:endParaRPr lang="en-US" sz="1800" dirty="0"/>
          </a:p>
        </p:txBody>
      </p:sp>
      <p:sp>
        <p:nvSpPr>
          <p:cNvPr id="18" name="Text 16"/>
          <p:cNvSpPr/>
          <p:nvPr/>
        </p:nvSpPr>
        <p:spPr>
          <a:xfrm>
            <a:off x="9592380" y="4219782"/>
            <a:ext cx="7484878" cy="716943"/>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5C564C"/>
                </a:solidFill>
                <a:latin typeface="Arial" pitchFamily="34" charset="0"/>
                <a:ea typeface="Arial" pitchFamily="34" charset="-122"/>
                <a:cs typeface="Arial" pitchFamily="34" charset="-120"/>
              </a:rPr>
              <a:t>Loshchilov, I., &amp; Hutter, F. (2019). </a:t>
            </a:r>
            <a:r>
              <a:rPr lang="en-US" sz="1800" i="1" dirty="0">
                <a:solidFill>
                  <a:srgbClr val="5C564C"/>
                </a:solidFill>
                <a:latin typeface="Arial" pitchFamily="34" charset="0"/>
                <a:ea typeface="Arial" pitchFamily="34" charset="-122"/>
                <a:cs typeface="Arial" pitchFamily="34" charset="-120"/>
              </a:rPr>
              <a:t>Decoupled weight decay regularization. </a:t>
            </a:r>
            <a:r>
              <a:rPr lang="en-US" sz="1800" dirty="0">
                <a:solidFill>
                  <a:srgbClr val="5C564C"/>
                </a:solidFill>
                <a:latin typeface="Arial" pitchFamily="34" charset="0"/>
                <a:ea typeface="Arial" pitchFamily="34" charset="-122"/>
                <a:cs typeface="Arial" pitchFamily="34" charset="-120"/>
              </a:rPr>
              <a:t>ICLR.</a:t>
            </a:r>
            <a:endParaRPr lang="en-US" sz="1800" dirty="0"/>
          </a:p>
        </p:txBody>
      </p:sp>
      <p:sp>
        <p:nvSpPr>
          <p:cNvPr id="19" name="Text 17"/>
          <p:cNvSpPr/>
          <p:nvPr/>
        </p:nvSpPr>
        <p:spPr>
          <a:xfrm>
            <a:off x="9592380" y="5089084"/>
            <a:ext cx="7993559" cy="377521"/>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5C564C"/>
                </a:solidFill>
                <a:latin typeface="Arial" pitchFamily="34" charset="0"/>
                <a:ea typeface="Arial" pitchFamily="34" charset="-122"/>
                <a:cs typeface="Arial" pitchFamily="34" charset="-120"/>
              </a:rPr>
              <a:t>Tieleman, T., &amp; Hinton, G. (2012). </a:t>
            </a:r>
            <a:r>
              <a:rPr lang="en-US" sz="1800" i="1" dirty="0">
                <a:solidFill>
                  <a:srgbClr val="5C564C"/>
                </a:solidFill>
                <a:latin typeface="Arial" pitchFamily="34" charset="0"/>
                <a:ea typeface="Arial" pitchFamily="34" charset="-122"/>
                <a:cs typeface="Arial" pitchFamily="34" charset="-120"/>
              </a:rPr>
              <a:t>Lecture 6.5 — RMSprop. </a:t>
            </a:r>
            <a:r>
              <a:rPr lang="en-US" sz="1800" dirty="0">
                <a:solidFill>
                  <a:srgbClr val="5C564C"/>
                </a:solidFill>
                <a:latin typeface="Arial" pitchFamily="34" charset="0"/>
                <a:ea typeface="Arial" pitchFamily="34" charset="-122"/>
                <a:cs typeface="Arial" pitchFamily="34" charset="-120"/>
              </a:rPr>
              <a:t>Coursera.</a:t>
            </a:r>
            <a:endParaRPr lang="en-US" sz="1800" dirty="0"/>
          </a:p>
        </p:txBody>
      </p:sp>
      <p:sp>
        <p:nvSpPr>
          <p:cNvPr id="20" name="Text 18"/>
          <p:cNvSpPr/>
          <p:nvPr/>
        </p:nvSpPr>
        <p:spPr>
          <a:xfrm>
            <a:off x="9592380" y="5618963"/>
            <a:ext cx="7484878" cy="716943"/>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5C564C"/>
                </a:solidFill>
                <a:latin typeface="Arial" pitchFamily="34" charset="0"/>
                <a:ea typeface="Arial" pitchFamily="34" charset="-122"/>
                <a:cs typeface="Arial" pitchFamily="34" charset="-120"/>
              </a:rPr>
              <a:t>Clanuwat, T., et al. (2018). </a:t>
            </a:r>
            <a:r>
              <a:rPr lang="en-US" sz="1800" i="1" dirty="0">
                <a:solidFill>
                  <a:srgbClr val="5C564C"/>
                </a:solidFill>
                <a:latin typeface="Arial" pitchFamily="34" charset="0"/>
                <a:ea typeface="Arial" pitchFamily="34" charset="-122"/>
                <a:cs typeface="Arial" pitchFamily="34" charset="-120"/>
              </a:rPr>
              <a:t>Deep learning for classical Japanese literature. </a:t>
            </a:r>
            <a:r>
              <a:rPr lang="en-US" sz="1800" dirty="0">
                <a:solidFill>
                  <a:srgbClr val="5C564C"/>
                </a:solidFill>
                <a:latin typeface="Arial" pitchFamily="34" charset="0"/>
                <a:ea typeface="Arial" pitchFamily="34" charset="-122"/>
                <a:cs typeface="Arial" pitchFamily="34" charset="-120"/>
              </a:rPr>
              <a:t>NeurIPS Workshop.</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16824961" y="0"/>
            <a:ext cx="796290" cy="10325101"/>
          </a:xfrm>
          <a:prstGeom prst="rect">
            <a:avLst/>
          </a:prstGeom>
          <a:noFill/>
          <a:ln/>
        </p:spPr>
        <p:txBody>
          <a:bodyPr vert="eaVert" wrap="square" lIns="25400" tIns="25400" rIns="25400" bIns="25400" rtlCol="0" anchor="ctr">
            <a:normAutofit/>
          </a:bodyPr>
          <a:lstStyle/>
          <a:p>
            <a:pPr marL="0" indent="0" algn="l">
              <a:lnSpc>
                <a:spcPct val="108000"/>
              </a:lnSpc>
              <a:buNone/>
            </a:pPr>
            <a:r>
              <a:rPr lang="en-US" sz="5250" kern="0" spc="210" dirty="0">
                <a:solidFill>
                  <a:srgbClr val="201D18">
                    <a:alpha val="5000"/>
                  </a:srgbClr>
                </a:solidFill>
                <a:latin typeface="Georgia" pitchFamily="34" charset="0"/>
                <a:ea typeface="Georgia" pitchFamily="34" charset="-122"/>
                <a:cs typeface="Georgia" pitchFamily="34" charset="-120"/>
              </a:rPr>
              <a:t>おきすつなはまやれを</a:t>
            </a:r>
            <a:endParaRPr lang="en-US" sz="5250" dirty="0"/>
          </a:p>
        </p:txBody>
      </p:sp>
      <p:sp>
        <p:nvSpPr>
          <p:cNvPr id="3" name="Text 1"/>
          <p:cNvSpPr/>
          <p:nvPr/>
        </p:nvSpPr>
        <p:spPr>
          <a:xfrm>
            <a:off x="1028700" y="800100"/>
            <a:ext cx="6839713" cy="332298"/>
          </a:xfrm>
          <a:prstGeom prst="rect">
            <a:avLst/>
          </a:prstGeom>
          <a:noFill/>
          <a:ln/>
        </p:spPr>
        <p:txBody>
          <a:bodyPr wrap="square" lIns="25400" tIns="25400" rIns="25400" bIns="25400" rtlCol="0" anchor="t">
            <a:normAutofit/>
          </a:bodyPr>
          <a:lstStyle/>
          <a:p>
            <a:pPr marL="0" indent="0" algn="l">
              <a:buNone/>
            </a:pPr>
            <a:r>
              <a:rPr lang="en-US" sz="1800" kern="0" spc="360" dirty="0">
                <a:solidFill>
                  <a:srgbClr val="BD3B25"/>
                </a:solidFill>
                <a:latin typeface="Courier New" pitchFamily="34" charset="0"/>
                <a:ea typeface="Courier New" pitchFamily="34" charset="-122"/>
                <a:cs typeface="Courier New" pitchFamily="34" charset="-120"/>
              </a:rPr>
              <a:t>AIGC 5500 · ADVANCED DEEP LEARNING</a:t>
            </a:r>
            <a:endParaRPr lang="en-US" sz="1800" dirty="0"/>
          </a:p>
        </p:txBody>
      </p:sp>
      <p:sp>
        <p:nvSpPr>
          <p:cNvPr id="4" name="Shape 2"/>
          <p:cNvSpPr/>
          <p:nvPr/>
        </p:nvSpPr>
        <p:spPr>
          <a:xfrm>
            <a:off x="16230601" y="800100"/>
            <a:ext cx="1028700" cy="1028700"/>
          </a:xfrm>
          <a:prstGeom prst="roundRect">
            <a:avLst>
              <a:gd name="adj" fmla="val 4630"/>
            </a:avLst>
          </a:prstGeom>
          <a:solidFill>
            <a:srgbClr val="BD3B25"/>
          </a:solidFill>
          <a:ln/>
        </p:spPr>
        <p:txBody>
          <a:bodyPr/>
          <a:lstStyle/>
          <a:p>
            <a:endParaRPr lang="en-CA"/>
          </a:p>
        </p:txBody>
      </p:sp>
      <p:sp>
        <p:nvSpPr>
          <p:cNvPr id="5" name="Text 3"/>
          <p:cNvSpPr/>
          <p:nvPr/>
        </p:nvSpPr>
        <p:spPr>
          <a:xfrm>
            <a:off x="16192501" y="800100"/>
            <a:ext cx="1104900" cy="1066800"/>
          </a:xfrm>
          <a:prstGeom prst="rect">
            <a:avLst/>
          </a:prstGeom>
          <a:noFill/>
          <a:ln/>
        </p:spPr>
        <p:txBody>
          <a:bodyPr vert="eaVert" wrap="square" lIns="25400" tIns="25400" rIns="25400" bIns="25400" rtlCol="0" anchor="ctr">
            <a:normAutofit/>
          </a:bodyPr>
          <a:lstStyle/>
          <a:p>
            <a:pPr marL="0" indent="0" algn="ctr">
              <a:buNone/>
            </a:pPr>
            <a:r>
              <a:rPr lang="en-US" sz="2475" b="1" kern="0" spc="297" dirty="0">
                <a:solidFill>
                  <a:srgbClr val="F4F1EA"/>
                </a:solidFill>
                <a:latin typeface="Georgia" pitchFamily="34" charset="0"/>
                <a:ea typeface="Georgia" pitchFamily="34" charset="-122"/>
                <a:cs typeface="Georgia" pitchFamily="34" charset="-120"/>
              </a:rPr>
              <a:t>最適化</a:t>
            </a:r>
            <a:endParaRPr lang="en-US" sz="2475" dirty="0"/>
          </a:p>
        </p:txBody>
      </p:sp>
      <p:sp>
        <p:nvSpPr>
          <p:cNvPr id="6" name="Text 4"/>
          <p:cNvSpPr/>
          <p:nvPr/>
        </p:nvSpPr>
        <p:spPr>
          <a:xfrm>
            <a:off x="1028700" y="4251836"/>
            <a:ext cx="13096830" cy="1158240"/>
          </a:xfrm>
          <a:prstGeom prst="rect">
            <a:avLst/>
          </a:prstGeom>
          <a:noFill/>
          <a:ln/>
        </p:spPr>
        <p:txBody>
          <a:bodyPr wrap="square" lIns="25400" tIns="25400" rIns="25400" bIns="25400" rtlCol="0" anchor="t">
            <a:normAutofit/>
          </a:bodyPr>
          <a:lstStyle/>
          <a:p>
            <a:pPr marL="0" indent="0" algn="l">
              <a:lnSpc>
                <a:spcPct val="98000"/>
              </a:lnSpc>
              <a:buNone/>
            </a:pPr>
            <a:r>
              <a:rPr lang="en-US" sz="9000" b="1" kern="0" spc="-180" dirty="0">
                <a:solidFill>
                  <a:srgbClr val="201D18"/>
                </a:solidFill>
                <a:latin typeface="Georgia" pitchFamily="34" charset="0"/>
                <a:ea typeface="Georgia" pitchFamily="34" charset="-122"/>
                <a:cs typeface="Georgia" pitchFamily="34" charset="-120"/>
              </a:rPr>
              <a:t>Thank you</a:t>
            </a:r>
            <a:endParaRPr lang="en-US" sz="9000" dirty="0"/>
          </a:p>
        </p:txBody>
      </p:sp>
      <p:sp>
        <p:nvSpPr>
          <p:cNvPr id="7" name="Shape 5"/>
          <p:cNvSpPr/>
          <p:nvPr/>
        </p:nvSpPr>
        <p:spPr>
          <a:xfrm>
            <a:off x="1028700" y="5695743"/>
            <a:ext cx="914400" cy="47584"/>
          </a:xfrm>
          <a:prstGeom prst="rect">
            <a:avLst/>
          </a:prstGeom>
          <a:solidFill>
            <a:srgbClr val="BD3B25"/>
          </a:solidFill>
          <a:ln/>
        </p:spPr>
        <p:txBody>
          <a:bodyPr/>
          <a:lstStyle/>
          <a:p>
            <a:endParaRPr lang="en-CA"/>
          </a:p>
        </p:txBody>
      </p:sp>
      <p:sp>
        <p:nvSpPr>
          <p:cNvPr id="8" name="Text 6"/>
          <p:cNvSpPr/>
          <p:nvPr/>
        </p:nvSpPr>
        <p:spPr>
          <a:xfrm>
            <a:off x="1028700" y="6009944"/>
            <a:ext cx="13096830" cy="618545"/>
          </a:xfrm>
          <a:prstGeom prst="rect">
            <a:avLst/>
          </a:prstGeom>
          <a:noFill/>
          <a:ln/>
        </p:spPr>
        <p:txBody>
          <a:bodyPr wrap="square" lIns="25400" tIns="25400" rIns="25400" bIns="25400" rtlCol="0" anchor="t">
            <a:normAutofit/>
          </a:bodyPr>
          <a:lstStyle/>
          <a:p>
            <a:pPr marL="0" indent="0" algn="l">
              <a:buNone/>
            </a:pPr>
            <a:r>
              <a:rPr lang="en-US" sz="3000" dirty="0">
                <a:solidFill>
                  <a:srgbClr val="5C564C"/>
                </a:solidFill>
                <a:latin typeface="Georgia" pitchFamily="34" charset="0"/>
                <a:ea typeface="Georgia" pitchFamily="34" charset="-122"/>
                <a:cs typeface="Georgia" pitchFamily="34" charset="-120"/>
              </a:rPr>
              <a:t>Questions?</a:t>
            </a:r>
            <a:endParaRPr lang="en-US" sz="3000" dirty="0"/>
          </a:p>
        </p:txBody>
      </p:sp>
      <p:sp>
        <p:nvSpPr>
          <p:cNvPr id="9" name="Shape 7"/>
          <p:cNvSpPr/>
          <p:nvPr/>
        </p:nvSpPr>
        <p:spPr>
          <a:xfrm>
            <a:off x="1028700" y="9013425"/>
            <a:ext cx="16230601" cy="9525"/>
          </a:xfrm>
          <a:prstGeom prst="rect">
            <a:avLst/>
          </a:prstGeom>
          <a:solidFill>
            <a:srgbClr val="201D18">
              <a:alpha val="16000"/>
            </a:srgbClr>
          </a:solidFill>
          <a:ln/>
        </p:spPr>
        <p:txBody>
          <a:bodyPr/>
          <a:lstStyle/>
          <a:p>
            <a:endParaRPr lang="en-CA"/>
          </a:p>
        </p:txBody>
      </p:sp>
      <p:sp>
        <p:nvSpPr>
          <p:cNvPr id="10" name="Text 8"/>
          <p:cNvSpPr/>
          <p:nvPr/>
        </p:nvSpPr>
        <p:spPr>
          <a:xfrm>
            <a:off x="1028700" y="9268985"/>
            <a:ext cx="1504523" cy="332298"/>
          </a:xfrm>
          <a:prstGeom prst="rect">
            <a:avLst/>
          </a:prstGeom>
          <a:noFill/>
          <a:ln/>
        </p:spPr>
        <p:txBody>
          <a:bodyPr wrap="square" lIns="25400" tIns="25400" rIns="25400" bIns="25400" rtlCol="0" anchor="t">
            <a:normAutofit/>
          </a:bodyPr>
          <a:lstStyle/>
          <a:p>
            <a:pPr marL="0" indent="0" algn="l">
              <a:buNone/>
            </a:pPr>
            <a:r>
              <a:rPr lang="en-US" sz="1800" b="1" dirty="0">
                <a:solidFill>
                  <a:srgbClr val="201D18"/>
                </a:solidFill>
                <a:latin typeface="Arial" pitchFamily="34" charset="0"/>
                <a:ea typeface="Arial" pitchFamily="34" charset="-122"/>
                <a:cs typeface="Arial" pitchFamily="34" charset="-120"/>
              </a:rPr>
              <a:t>Ruchi </a:t>
            </a:r>
            <a:r>
              <a:rPr lang="en-US" sz="1800" dirty="0">
                <a:solidFill>
                  <a:srgbClr val="5C564C"/>
                </a:solidFill>
                <a:latin typeface="Arial" pitchFamily="34" charset="0"/>
                <a:ea typeface="Arial" pitchFamily="34" charset="-122"/>
                <a:cs typeface="Arial" pitchFamily="34" charset="-120"/>
              </a:rPr>
              <a:t>· Adam</a:t>
            </a:r>
            <a:endParaRPr lang="en-US" sz="1800" dirty="0"/>
          </a:p>
        </p:txBody>
      </p:sp>
      <p:sp>
        <p:nvSpPr>
          <p:cNvPr id="11" name="Text 9"/>
          <p:cNvSpPr/>
          <p:nvPr/>
        </p:nvSpPr>
        <p:spPr>
          <a:xfrm>
            <a:off x="2777366" y="9268985"/>
            <a:ext cx="2045026" cy="332298"/>
          </a:xfrm>
          <a:prstGeom prst="rect">
            <a:avLst/>
          </a:prstGeom>
          <a:noFill/>
          <a:ln/>
        </p:spPr>
        <p:txBody>
          <a:bodyPr wrap="square" lIns="25400" tIns="25400" rIns="25400" bIns="25400" rtlCol="0" anchor="t">
            <a:normAutofit/>
          </a:bodyPr>
          <a:lstStyle/>
          <a:p>
            <a:pPr marL="0" indent="0" algn="l">
              <a:buNone/>
            </a:pPr>
            <a:r>
              <a:rPr lang="en-US" sz="1800" b="1" dirty="0">
                <a:solidFill>
                  <a:srgbClr val="201D18"/>
                </a:solidFill>
                <a:latin typeface="Arial" pitchFamily="34" charset="0"/>
                <a:ea typeface="Arial" pitchFamily="34" charset="-122"/>
                <a:cs typeface="Arial" pitchFamily="34" charset="-120"/>
              </a:rPr>
              <a:t>Dilkhush </a:t>
            </a:r>
            <a:r>
              <a:rPr lang="en-US" sz="1800" dirty="0">
                <a:solidFill>
                  <a:srgbClr val="5C564C"/>
                </a:solidFill>
                <a:latin typeface="Arial" pitchFamily="34" charset="0"/>
                <a:ea typeface="Arial" pitchFamily="34" charset="-122"/>
                <a:cs typeface="Arial" pitchFamily="34" charset="-120"/>
              </a:rPr>
              <a:t>· AdamW</a:t>
            </a:r>
            <a:endParaRPr lang="en-US" sz="1800" dirty="0"/>
          </a:p>
        </p:txBody>
      </p:sp>
      <p:sp>
        <p:nvSpPr>
          <p:cNvPr id="12" name="Text 10"/>
          <p:cNvSpPr/>
          <p:nvPr/>
        </p:nvSpPr>
        <p:spPr>
          <a:xfrm>
            <a:off x="5017398" y="9268985"/>
            <a:ext cx="1878297" cy="332298"/>
          </a:xfrm>
          <a:prstGeom prst="rect">
            <a:avLst/>
          </a:prstGeom>
          <a:noFill/>
          <a:ln/>
        </p:spPr>
        <p:txBody>
          <a:bodyPr wrap="square" lIns="25400" tIns="25400" rIns="25400" bIns="25400" rtlCol="0" anchor="t">
            <a:normAutofit/>
          </a:bodyPr>
          <a:lstStyle/>
          <a:p>
            <a:pPr marL="0" indent="0" algn="l">
              <a:buNone/>
            </a:pPr>
            <a:r>
              <a:rPr lang="en-US" sz="1800" b="1" dirty="0" err="1">
                <a:solidFill>
                  <a:srgbClr val="201D18"/>
                </a:solidFill>
                <a:latin typeface="Arial" pitchFamily="34" charset="0"/>
                <a:ea typeface="Arial" pitchFamily="34" charset="-122"/>
                <a:cs typeface="Arial" pitchFamily="34" charset="-120"/>
              </a:rPr>
              <a:t>Krutik</a:t>
            </a:r>
            <a:r>
              <a:rPr lang="en-US" sz="1800" b="1" dirty="0">
                <a:solidFill>
                  <a:srgbClr val="201D18"/>
                </a:solidFill>
                <a:latin typeface="Arial" pitchFamily="34" charset="0"/>
                <a:ea typeface="Arial" pitchFamily="34" charset="-122"/>
                <a:cs typeface="Arial" pitchFamily="34" charset="-120"/>
              </a:rPr>
              <a:t> </a:t>
            </a:r>
            <a:r>
              <a:rPr lang="en-US" sz="1800" dirty="0">
                <a:solidFill>
                  <a:srgbClr val="5C564C"/>
                </a:solidFill>
                <a:latin typeface="Arial" pitchFamily="34" charset="0"/>
                <a:ea typeface="Arial" pitchFamily="34" charset="-122"/>
                <a:cs typeface="Arial" pitchFamily="34" charset="-120"/>
              </a:rPr>
              <a:t>·RMSprop</a:t>
            </a:r>
            <a:endParaRPr lang="en-US" sz="1800" dirty="0"/>
          </a:p>
        </p:txBody>
      </p:sp>
      <p:sp>
        <p:nvSpPr>
          <p:cNvPr id="13" name="Text 11"/>
          <p:cNvSpPr/>
          <p:nvPr/>
        </p:nvSpPr>
        <p:spPr>
          <a:xfrm>
            <a:off x="7105858" y="9268985"/>
            <a:ext cx="1183171" cy="332298"/>
          </a:xfrm>
          <a:prstGeom prst="rect">
            <a:avLst/>
          </a:prstGeom>
          <a:noFill/>
          <a:ln/>
        </p:spPr>
        <p:txBody>
          <a:bodyPr wrap="square" lIns="25400" tIns="25400" rIns="25400" bIns="25400" rtlCol="0" anchor="t">
            <a:normAutofit/>
          </a:bodyPr>
          <a:lstStyle/>
          <a:p>
            <a:pPr marL="0" indent="0" algn="l">
              <a:buNone/>
            </a:pPr>
            <a:r>
              <a:rPr lang="en-US" sz="1800" b="1" dirty="0">
                <a:solidFill>
                  <a:srgbClr val="201D18"/>
                </a:solidFill>
                <a:latin typeface="Arial" pitchFamily="34" charset="0"/>
                <a:ea typeface="Arial" pitchFamily="34" charset="-122"/>
                <a:cs typeface="Arial" pitchFamily="34" charset="-120"/>
              </a:rPr>
              <a:t>Isha </a:t>
            </a:r>
            <a:r>
              <a:rPr lang="en-US" sz="1800" dirty="0">
                <a:solidFill>
                  <a:srgbClr val="5C564C"/>
                </a:solidFill>
                <a:latin typeface="Arial" pitchFamily="34" charset="0"/>
                <a:ea typeface="Arial" pitchFamily="34" charset="-122"/>
                <a:cs typeface="Arial" pitchFamily="34" charset="-120"/>
              </a:rPr>
              <a:t>·Lead</a:t>
            </a:r>
            <a:endParaRPr lang="en-US" sz="1800" dirty="0"/>
          </a:p>
        </p:txBody>
      </p:sp>
      <p:sp>
        <p:nvSpPr>
          <p:cNvPr id="14" name="Text 12"/>
          <p:cNvSpPr/>
          <p:nvPr/>
        </p:nvSpPr>
        <p:spPr>
          <a:xfrm>
            <a:off x="12582145" y="9268985"/>
            <a:ext cx="4677156" cy="332298"/>
          </a:xfrm>
          <a:prstGeom prst="rect">
            <a:avLst/>
          </a:prstGeom>
          <a:noFill/>
          <a:ln/>
        </p:spPr>
        <p:txBody>
          <a:bodyPr wrap="square" lIns="25400" tIns="25400" rIns="25400" bIns="25400" rtlCol="0" anchor="t">
            <a:normAutofit/>
          </a:bodyPr>
          <a:lstStyle/>
          <a:p>
            <a:pPr marL="0" indent="0" algn="r">
              <a:buNone/>
            </a:pPr>
            <a:r>
              <a:rPr lang="en-US" sz="1800" dirty="0">
                <a:solidFill>
                  <a:srgbClr val="9A9183"/>
                </a:solidFill>
                <a:latin typeface="Courier New" pitchFamily="34" charset="0"/>
                <a:ea typeface="Courier New" pitchFamily="34" charset="-122"/>
                <a:cs typeface="Courier New" pitchFamily="34" charset="-120"/>
              </a:rPr>
              <a:t>seed 42 · 20 epochs · 5-fold CV</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2321</Words>
  <Application>Microsoft Office PowerPoint</Application>
  <PresentationFormat>Custom</PresentationFormat>
  <Paragraphs>333</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Isha Shah</cp:lastModifiedBy>
  <cp:revision>2</cp:revision>
  <dcterms:created xsi:type="dcterms:W3CDTF">2026-06-22T15:50:57Z</dcterms:created>
  <dcterms:modified xsi:type="dcterms:W3CDTF">2026-06-23T02:47:21Z</dcterms:modified>
</cp:coreProperties>
</file>